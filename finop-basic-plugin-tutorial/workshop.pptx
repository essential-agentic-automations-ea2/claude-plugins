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AU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A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A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AU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A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A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AU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A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A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A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A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A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897AEAF-3E4A-434B-AFE1-C32D771F9A68}" type="slidenum">
              <a:rPr b="0" lang="en-AU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A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ABE4EB3-7C68-4BD8-B2E6-36A50C04B5A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571A869-3545-4859-A81C-31D250D880D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0EBA07A-0979-4347-8EF8-0CB94FECE1C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655600B-A6D1-4BE7-A6F8-1AEE556E2B4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35D94FD-4073-44FA-A4F7-1DBA065845C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773885A-4416-48D3-9000-23A2FF3CAC1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DF368BE-1BE9-475B-B1FE-CBA72F2E3A8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DD4B8D7-98D0-445A-A4EE-CA086B30D2E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E59DB1D-5C4E-4049-8EC6-EBB662D3894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32BB6EE-F3AB-4A6A-B4F4-015F573D173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A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AU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A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AU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A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AU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A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AU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A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A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A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A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A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hyperlink" Target="https://agentic-automations.ai/contact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6583680" y="-1097280"/>
            <a:ext cx="4113720" cy="411372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7132320" y="2743200"/>
            <a:ext cx="2559240" cy="2559240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457200" y="1097280"/>
            <a:ext cx="685692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</a:rPr>
              <a:t>Building Claude Plugins</a:t>
            </a:r>
            <a:endParaRPr b="0" lang="en-AU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457200" y="1920240"/>
            <a:ext cx="685692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rgbClr val="cadcfc"/>
                </a:solidFill>
                <a:latin typeface="Calibri"/>
                <a:ea typeface="Calibri"/>
              </a:rPr>
              <a:t>for Financial Services</a:t>
            </a:r>
            <a:endParaRPr b="0" lang="en-AU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457200" y="2788920"/>
            <a:ext cx="2925000" cy="35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457200" y="2926080"/>
            <a:ext cx="6399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cadcfc"/>
                </a:solidFill>
                <a:latin typeface="Calibri"/>
                <a:ea typeface="Calibri"/>
              </a:rPr>
              <a:t>Level 1  •  No Code Required</a:t>
            </a:r>
            <a:endParaRPr b="0" lang="en-A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457200" y="3383280"/>
            <a:ext cx="68569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4748b"/>
                </a:solidFill>
                <a:latin typeface="Calibri"/>
                <a:ea typeface="Calibri"/>
              </a:rPr>
              <a:t>Natural Language  |  Skills  |  Commands  |  Sub-Agents</a:t>
            </a:r>
            <a:endParaRPr b="0" lang="en-A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35"/>
          <p:cNvSpPr/>
          <p:nvPr/>
        </p:nvSpPr>
        <p:spPr>
          <a:xfrm>
            <a:off x="457200" y="3383280"/>
            <a:ext cx="68569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4748b"/>
                </a:solidFill>
                <a:latin typeface="Calibri"/>
                <a:ea typeface="Calibri"/>
              </a:rPr>
              <a:t>Natural Language  |  Skills  |  Commands  |  Sub-Agents</a:t>
            </a:r>
            <a:endParaRPr b="0" lang="en-A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36"/>
          <p:cNvSpPr/>
          <p:nvPr/>
        </p:nvSpPr>
        <p:spPr>
          <a:xfrm>
            <a:off x="360000" y="4140000"/>
            <a:ext cx="68569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00" spc="-1" strike="noStrike">
                <a:solidFill>
                  <a:srgbClr val="64748b"/>
                </a:solidFill>
                <a:latin typeface="Calibri"/>
                <a:ea typeface="Calibri"/>
              </a:rPr>
              <a:t>Produced by: Essential Agentic Automations - https://agentic-automations.ai/</a:t>
            </a:r>
            <a:endParaRPr b="0" lang="en-AU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"/>
          <p:cNvSpPr/>
          <p:nvPr/>
        </p:nvSpPr>
        <p:spPr>
          <a:xfrm>
            <a:off x="365760" y="228600"/>
            <a:ext cx="1644840" cy="291600"/>
          </a:xfrm>
          <a:prstGeom prst="roundRect">
            <a:avLst>
              <a:gd name="adj" fmla="val 15625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2"/>
          <p:cNvSpPr/>
          <p:nvPr/>
        </p:nvSpPr>
        <p:spPr>
          <a:xfrm>
            <a:off x="365760" y="228600"/>
            <a:ext cx="16448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FOUNDATIONS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3"/>
          <p:cNvSpPr/>
          <p:nvPr/>
        </p:nvSpPr>
        <p:spPr>
          <a:xfrm>
            <a:off x="365760" y="594360"/>
            <a:ext cx="84114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e2761"/>
                </a:solidFill>
                <a:latin typeface="Calibri"/>
                <a:ea typeface="Calibri"/>
              </a:rPr>
              <a:t>What is a Claude Plugin?</a:t>
            </a:r>
            <a:endParaRPr b="0" lang="en-A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4"/>
          <p:cNvSpPr/>
          <p:nvPr/>
        </p:nvSpPr>
        <p:spPr>
          <a:xfrm>
            <a:off x="365760" y="1325880"/>
            <a:ext cx="2696400" cy="329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5"/>
          <p:cNvSpPr/>
          <p:nvPr/>
        </p:nvSpPr>
        <p:spPr>
          <a:xfrm>
            <a:off x="365760" y="1325880"/>
            <a:ext cx="2696400" cy="639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6"/>
          <p:cNvSpPr/>
          <p:nvPr/>
        </p:nvSpPr>
        <p:spPr>
          <a:xfrm>
            <a:off x="365760" y="1325880"/>
            <a:ext cx="2696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🧠  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Skills</a:t>
            </a:r>
            <a:endParaRPr b="0" lang="en-A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7"/>
          <p:cNvSpPr/>
          <p:nvPr/>
        </p:nvSpPr>
        <p:spPr>
          <a:xfrm>
            <a:off x="502920" y="2057400"/>
            <a:ext cx="2422080" cy="23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Domain knowledge that fires automatically when relevant. Written in plain Markdown.</a:t>
            </a:r>
            <a:endParaRPr b="0" lang="en-A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8"/>
          <p:cNvSpPr/>
          <p:nvPr/>
        </p:nvSpPr>
        <p:spPr>
          <a:xfrm>
            <a:off x="3246120" y="1325880"/>
            <a:ext cx="2696400" cy="329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9"/>
          <p:cNvSpPr/>
          <p:nvPr/>
        </p:nvSpPr>
        <p:spPr>
          <a:xfrm>
            <a:off x="3246120" y="1325880"/>
            <a:ext cx="2696400" cy="639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10"/>
          <p:cNvSpPr/>
          <p:nvPr/>
        </p:nvSpPr>
        <p:spPr>
          <a:xfrm>
            <a:off x="3246120" y="1325880"/>
            <a:ext cx="2696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⌨️  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Commands</a:t>
            </a:r>
            <a:endParaRPr b="0" lang="en-A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11"/>
          <p:cNvSpPr/>
          <p:nvPr/>
        </p:nvSpPr>
        <p:spPr>
          <a:xfrm>
            <a:off x="3383280" y="2057400"/>
            <a:ext cx="2422080" cy="23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Slash commands you trigger manually. /prep-meeting, /draft-report, /review-draft.</a:t>
            </a:r>
            <a:endParaRPr b="0" lang="en-A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12"/>
          <p:cNvSpPr/>
          <p:nvPr/>
        </p:nvSpPr>
        <p:spPr>
          <a:xfrm>
            <a:off x="6126480" y="1325880"/>
            <a:ext cx="2696400" cy="329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13"/>
          <p:cNvSpPr/>
          <p:nvPr/>
        </p:nvSpPr>
        <p:spPr>
          <a:xfrm>
            <a:off x="6126480" y="1325880"/>
            <a:ext cx="2696400" cy="639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14"/>
          <p:cNvSpPr/>
          <p:nvPr/>
        </p:nvSpPr>
        <p:spPr>
          <a:xfrm>
            <a:off x="6126480" y="1325880"/>
            <a:ext cx="2696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🤖  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Sub-Agents</a:t>
            </a:r>
            <a:endParaRPr b="0" lang="en-A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15"/>
          <p:cNvSpPr/>
          <p:nvPr/>
        </p:nvSpPr>
        <p:spPr>
          <a:xfrm>
            <a:off x="6263640" y="2057400"/>
            <a:ext cx="2422080" cy="23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Specialist Claude instances you delegate specific tasks to — like a dedicated compliance reviewer.</a:t>
            </a:r>
            <a:endParaRPr b="0" lang="en-A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16"/>
          <p:cNvSpPr/>
          <p:nvPr/>
        </p:nvSpPr>
        <p:spPr>
          <a:xfrm>
            <a:off x="8595360" y="466344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</a:rPr>
              <a:t>2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1"/>
          <p:cNvSpPr/>
          <p:nvPr/>
        </p:nvSpPr>
        <p:spPr>
          <a:xfrm>
            <a:off x="365760" y="228600"/>
            <a:ext cx="1644840" cy="291600"/>
          </a:xfrm>
          <a:prstGeom prst="roundRect">
            <a:avLst>
              <a:gd name="adj" fmla="val 15625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2"/>
          <p:cNvSpPr/>
          <p:nvPr/>
        </p:nvSpPr>
        <p:spPr>
          <a:xfrm>
            <a:off x="365760" y="228600"/>
            <a:ext cx="16448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STRUCTURE</a:t>
            </a:r>
            <a:endParaRPr b="0" lang="en-AU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3"/>
          <p:cNvSpPr/>
          <p:nvPr/>
        </p:nvSpPr>
        <p:spPr>
          <a:xfrm>
            <a:off x="365760" y="594360"/>
            <a:ext cx="8411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Plugin Folder Structure</a:t>
            </a:r>
            <a:endParaRPr b="0" lang="en-AU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4"/>
          <p:cNvSpPr/>
          <p:nvPr/>
        </p:nvSpPr>
        <p:spPr>
          <a:xfrm>
            <a:off x="365760" y="1234440"/>
            <a:ext cx="4388040" cy="3473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2809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5"/>
          <p:cNvSpPr/>
          <p:nvPr/>
        </p:nvSpPr>
        <p:spPr>
          <a:xfrm>
            <a:off x="548640" y="1371600"/>
            <a:ext cx="4022280" cy="31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adcfc"/>
                </a:solidFill>
                <a:latin typeface="Consolas"/>
                <a:ea typeface="Consolas"/>
              </a:rPr>
              <a:t>my-plugin/</a:t>
            </a:r>
            <a:endParaRPr b="0" lang="en-AU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a896"/>
                </a:solidFill>
                <a:latin typeface="Consolas"/>
                <a:ea typeface="Consolas"/>
              </a:rPr>
              <a:t>├── </a:t>
            </a:r>
            <a:r>
              <a:rPr b="0" lang="en-US" sz="1200" spc="-1" strike="noStrike">
                <a:solidFill>
                  <a:srgbClr val="00a896"/>
                </a:solidFill>
                <a:latin typeface="Consolas"/>
                <a:ea typeface="Consolas"/>
              </a:rPr>
              <a:t>.claude-plugin/</a:t>
            </a:r>
            <a:endParaRPr b="0" lang="en-AU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│   └── 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plugin.json</a:t>
            </a:r>
            <a:endParaRPr b="0" lang="en-AU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a896"/>
                </a:solidFill>
                <a:latin typeface="Consolas"/>
                <a:ea typeface="Consolas"/>
              </a:rPr>
              <a:t>├── </a:t>
            </a:r>
            <a:r>
              <a:rPr b="0" lang="en-US" sz="1200" spc="-1" strike="noStrike">
                <a:solidFill>
                  <a:srgbClr val="00a896"/>
                </a:solidFill>
                <a:latin typeface="Consolas"/>
                <a:ea typeface="Consolas"/>
              </a:rPr>
              <a:t>skills/</a:t>
            </a:r>
            <a:endParaRPr b="0" lang="en-AU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│   └── 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my-skill.md</a:t>
            </a:r>
            <a:endParaRPr b="0" lang="en-AU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a896"/>
                </a:solidFill>
                <a:latin typeface="Consolas"/>
                <a:ea typeface="Consolas"/>
              </a:rPr>
              <a:t>├── </a:t>
            </a:r>
            <a:r>
              <a:rPr b="0" lang="en-US" sz="1200" spc="-1" strike="noStrike">
                <a:solidFill>
                  <a:srgbClr val="00a896"/>
                </a:solidFill>
                <a:latin typeface="Consolas"/>
                <a:ea typeface="Consolas"/>
              </a:rPr>
              <a:t>commands/</a:t>
            </a:r>
            <a:endParaRPr b="0" lang="en-AU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│   └── 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my-command.md</a:t>
            </a:r>
            <a:endParaRPr b="0" lang="en-AU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59e0b"/>
                </a:solidFill>
                <a:latin typeface="Consolas"/>
                <a:ea typeface="Consolas"/>
              </a:rPr>
              <a:t>└── </a:t>
            </a:r>
            <a:r>
              <a:rPr b="0" lang="en-US" sz="1200" spc="-1" strike="noStrike">
                <a:solidFill>
                  <a:srgbClr val="f59e0b"/>
                </a:solidFill>
                <a:latin typeface="Consolas"/>
                <a:ea typeface="Consolas"/>
              </a:rPr>
              <a:t>agents/</a:t>
            </a:r>
            <a:endParaRPr b="0" lang="en-AU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59e0b"/>
                </a:solidFill>
                <a:latin typeface="Consolas"/>
                <a:ea typeface="Consolas"/>
              </a:rPr>
              <a:t>    └── </a:t>
            </a:r>
            <a:r>
              <a:rPr b="0" lang="en-US" sz="1200" spc="-1" strike="noStrike">
                <a:solidFill>
                  <a:srgbClr val="f59e0b"/>
                </a:solidFill>
                <a:latin typeface="Consolas"/>
                <a:ea typeface="Consolas"/>
              </a:rPr>
              <a:t>my-agent.md</a:t>
            </a:r>
            <a:endParaRPr b="0" lang="en-A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6"/>
          <p:cNvSpPr/>
          <p:nvPr/>
        </p:nvSpPr>
        <p:spPr>
          <a:xfrm>
            <a:off x="4983480" y="1673280"/>
            <a:ext cx="3747960" cy="32796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7"/>
          <p:cNvSpPr/>
          <p:nvPr/>
        </p:nvSpPr>
        <p:spPr>
          <a:xfrm>
            <a:off x="5029200" y="1673280"/>
            <a:ext cx="36565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←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Plugin identity card</a:t>
            </a:r>
            <a:endParaRPr b="0" lang="en-A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8"/>
          <p:cNvSpPr/>
          <p:nvPr/>
        </p:nvSpPr>
        <p:spPr>
          <a:xfrm>
            <a:off x="4983480" y="2221920"/>
            <a:ext cx="3747960" cy="32796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9"/>
          <p:cNvSpPr/>
          <p:nvPr/>
        </p:nvSpPr>
        <p:spPr>
          <a:xfrm>
            <a:off x="5029200" y="2221920"/>
            <a:ext cx="36565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←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Auto-fires when relevant</a:t>
            </a:r>
            <a:endParaRPr b="0" lang="en-A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10"/>
          <p:cNvSpPr/>
          <p:nvPr/>
        </p:nvSpPr>
        <p:spPr>
          <a:xfrm>
            <a:off x="4983480" y="2770560"/>
            <a:ext cx="3747960" cy="32796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11"/>
          <p:cNvSpPr/>
          <p:nvPr/>
        </p:nvSpPr>
        <p:spPr>
          <a:xfrm>
            <a:off x="5029200" y="2770560"/>
            <a:ext cx="36565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←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Triggered with /command</a:t>
            </a:r>
            <a:endParaRPr b="0" lang="en-A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12"/>
          <p:cNvSpPr/>
          <p:nvPr/>
        </p:nvSpPr>
        <p:spPr>
          <a:xfrm>
            <a:off x="4983480" y="3319200"/>
            <a:ext cx="3747960" cy="327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3"/>
          <p:cNvSpPr/>
          <p:nvPr/>
        </p:nvSpPr>
        <p:spPr>
          <a:xfrm>
            <a:off x="5029200" y="3319200"/>
            <a:ext cx="36565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e2761"/>
                </a:solidFill>
                <a:latin typeface="Calibri"/>
                <a:ea typeface="Calibri"/>
              </a:rPr>
              <a:t>← </a:t>
            </a:r>
            <a:r>
              <a:rPr b="1" lang="en-US" sz="1200" spc="-1" strike="noStrike">
                <a:solidFill>
                  <a:srgbClr val="1e2761"/>
                </a:solidFill>
                <a:latin typeface="Calibri"/>
                <a:ea typeface="Calibri"/>
              </a:rPr>
              <a:t>Sub-agents — specialist helpers ✨</a:t>
            </a:r>
            <a:endParaRPr b="0" lang="en-A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14"/>
          <p:cNvSpPr/>
          <p:nvPr/>
        </p:nvSpPr>
        <p:spPr>
          <a:xfrm>
            <a:off x="8595360" y="466344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cadcfc"/>
                </a:solidFill>
                <a:latin typeface="Calibri"/>
              </a:rPr>
              <a:t>3</a:t>
            </a:r>
            <a:endParaRPr b="0" lang="en-AU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Shape 1"/>
          <p:cNvSpPr/>
          <p:nvPr/>
        </p:nvSpPr>
        <p:spPr>
          <a:xfrm>
            <a:off x="365760" y="228600"/>
            <a:ext cx="1644840" cy="291600"/>
          </a:xfrm>
          <a:prstGeom prst="roundRect">
            <a:avLst>
              <a:gd name="adj" fmla="val 15625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2"/>
          <p:cNvSpPr/>
          <p:nvPr/>
        </p:nvSpPr>
        <p:spPr>
          <a:xfrm>
            <a:off x="365760" y="228600"/>
            <a:ext cx="16448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SETUP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3"/>
          <p:cNvSpPr/>
          <p:nvPr/>
        </p:nvSpPr>
        <p:spPr>
          <a:xfrm>
            <a:off x="365760" y="594360"/>
            <a:ext cx="8411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e2761"/>
                </a:solidFill>
                <a:latin typeface="Calibri"/>
                <a:ea typeface="Calibri"/>
              </a:rPr>
              <a:t>Getting Set Up — All Platforms</a:t>
            </a:r>
            <a:endParaRPr b="0" lang="en-AU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5"/>
          <p:cNvSpPr/>
          <p:nvPr/>
        </p:nvSpPr>
        <p:spPr>
          <a:xfrm>
            <a:off x="320040" y="1234440"/>
            <a:ext cx="2787840" cy="56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6"/>
          <p:cNvSpPr/>
          <p:nvPr/>
        </p:nvSpPr>
        <p:spPr>
          <a:xfrm>
            <a:off x="320040" y="1234440"/>
            <a:ext cx="278784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🍎  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macOS</a:t>
            </a:r>
            <a:endParaRPr b="0" lang="en-A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7"/>
          <p:cNvSpPr/>
          <p:nvPr/>
        </p:nvSpPr>
        <p:spPr>
          <a:xfrm>
            <a:off x="411480" y="1901880"/>
            <a:ext cx="260496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→ 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Install Claude Desktop</a:t>
            </a:r>
            <a:endParaRPr b="0" lang="en-A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8"/>
          <p:cNvSpPr/>
          <p:nvPr/>
        </p:nvSpPr>
        <p:spPr>
          <a:xfrm>
            <a:off x="411480" y="2414160"/>
            <a:ext cx="260496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→ 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Enable Cowork in sidebar</a:t>
            </a:r>
            <a:endParaRPr b="0" lang="en-A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13"/>
          <p:cNvSpPr/>
          <p:nvPr/>
        </p:nvSpPr>
        <p:spPr>
          <a:xfrm>
            <a:off x="3273480" y="1234440"/>
            <a:ext cx="2787840" cy="292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14"/>
          <p:cNvSpPr/>
          <p:nvPr/>
        </p:nvSpPr>
        <p:spPr>
          <a:xfrm>
            <a:off x="3273480" y="1234440"/>
            <a:ext cx="2787840" cy="56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15"/>
          <p:cNvSpPr/>
          <p:nvPr/>
        </p:nvSpPr>
        <p:spPr>
          <a:xfrm>
            <a:off x="3273480" y="1234440"/>
            <a:ext cx="278784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🪟  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Windows</a:t>
            </a:r>
            <a:endParaRPr b="0" lang="en-A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16"/>
          <p:cNvSpPr/>
          <p:nvPr/>
        </p:nvSpPr>
        <p:spPr>
          <a:xfrm>
            <a:off x="3364920" y="1901880"/>
            <a:ext cx="260496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→ 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Install Claude Desktop (latest)</a:t>
            </a:r>
            <a:endParaRPr b="0" lang="en-A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17"/>
          <p:cNvSpPr/>
          <p:nvPr/>
        </p:nvSpPr>
        <p:spPr>
          <a:xfrm>
            <a:off x="3364920" y="2414160"/>
            <a:ext cx="260496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→ 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Cowork tab → Plugins</a:t>
            </a:r>
            <a:endParaRPr b="0" lang="en-A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22"/>
          <p:cNvSpPr/>
          <p:nvPr/>
        </p:nvSpPr>
        <p:spPr>
          <a:xfrm>
            <a:off x="6217920" y="1234440"/>
            <a:ext cx="2787840" cy="292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23"/>
          <p:cNvSpPr/>
          <p:nvPr/>
        </p:nvSpPr>
        <p:spPr>
          <a:xfrm>
            <a:off x="6217920" y="1234440"/>
            <a:ext cx="2787840" cy="56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24"/>
          <p:cNvSpPr/>
          <p:nvPr/>
        </p:nvSpPr>
        <p:spPr>
          <a:xfrm>
            <a:off x="6217920" y="1234440"/>
            <a:ext cx="278784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🐧  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Linux *</a:t>
            </a:r>
            <a:endParaRPr b="0" lang="en-A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25"/>
          <p:cNvSpPr/>
          <p:nvPr/>
        </p:nvSpPr>
        <p:spPr>
          <a:xfrm>
            <a:off x="6309360" y="1901880"/>
            <a:ext cx="2604960" cy="401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26"/>
          <p:cNvSpPr/>
          <p:nvPr/>
        </p:nvSpPr>
        <p:spPr>
          <a:xfrm>
            <a:off x="6382440" y="1901880"/>
            <a:ext cx="24678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0a896"/>
                </a:solidFill>
                <a:latin typeface="Consolas"/>
                <a:ea typeface="Consolas"/>
              </a:rPr>
              <a:t>npm install -g @anthropic-ai/claude-code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27"/>
          <p:cNvSpPr/>
          <p:nvPr/>
        </p:nvSpPr>
        <p:spPr>
          <a:xfrm>
            <a:off x="6309360" y="2414160"/>
            <a:ext cx="2604960" cy="401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28"/>
          <p:cNvSpPr/>
          <p:nvPr/>
        </p:nvSpPr>
        <p:spPr>
          <a:xfrm>
            <a:off x="6382440" y="2414160"/>
            <a:ext cx="24678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0a896"/>
                </a:solidFill>
                <a:latin typeface="Consolas"/>
                <a:ea typeface="Consolas"/>
              </a:rPr>
              <a:t>claude --version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29"/>
          <p:cNvSpPr/>
          <p:nvPr/>
        </p:nvSpPr>
        <p:spPr>
          <a:xfrm>
            <a:off x="6309360" y="3703320"/>
            <a:ext cx="26049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ef4444"/>
                </a:solidFill>
                <a:latin typeface="Calibri"/>
                <a:ea typeface="Calibri"/>
              </a:rPr>
              <a:t>* Claude Code only — see note below</a:t>
            </a:r>
            <a:endParaRPr b="0" lang="en-AU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30"/>
          <p:cNvSpPr/>
          <p:nvPr/>
        </p:nvSpPr>
        <p:spPr>
          <a:xfrm>
            <a:off x="320040" y="4251960"/>
            <a:ext cx="8457120" cy="639000"/>
          </a:xfrm>
          <a:prstGeom prst="rect">
            <a:avLst/>
          </a:prstGeom>
          <a:solidFill>
            <a:srgbClr val="fef9ee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31"/>
          <p:cNvSpPr/>
          <p:nvPr/>
        </p:nvSpPr>
        <p:spPr>
          <a:xfrm>
            <a:off x="457200" y="4251960"/>
            <a:ext cx="82285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7c5e10"/>
                </a:solidFill>
                <a:latin typeface="Calibri"/>
                <a:ea typeface="Calibri"/>
              </a:rPr>
              <a:t>* Linux: Cowork desktop app is not available on Linux. Claude Code uses the same plugin format and is fully compatible — use it throughout this workshop instead.</a:t>
            </a:r>
            <a:endParaRPr b="0" lang="en-AU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32"/>
          <p:cNvSpPr/>
          <p:nvPr/>
        </p:nvSpPr>
        <p:spPr>
          <a:xfrm>
            <a:off x="8595360" y="466344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</a:rPr>
              <a:t>4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Shape 1"/>
          <p:cNvSpPr/>
          <p:nvPr/>
        </p:nvSpPr>
        <p:spPr>
          <a:xfrm>
            <a:off x="365760" y="228600"/>
            <a:ext cx="1644840" cy="291600"/>
          </a:xfrm>
          <a:prstGeom prst="roundRect">
            <a:avLst>
              <a:gd name="adj" fmla="val 15625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2"/>
          <p:cNvSpPr/>
          <p:nvPr/>
        </p:nvSpPr>
        <p:spPr>
          <a:xfrm>
            <a:off x="365760" y="228600"/>
            <a:ext cx="16448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LEVEL 1</a:t>
            </a:r>
            <a:endParaRPr b="0" lang="en-AU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6858000" y="731520"/>
            <a:ext cx="2102040" cy="21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0" spc="-1" strike="noStrike">
                <a:solidFill>
                  <a:srgbClr val="028090">
                    <a:alpha val="30000"/>
                  </a:srgbClr>
                </a:solidFill>
                <a:latin typeface="Calibri"/>
              </a:rPr>
              <a:t>L1</a:t>
            </a:r>
            <a:endParaRPr b="0" lang="en-AU" sz="1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4"/>
          <p:cNvSpPr/>
          <p:nvPr/>
        </p:nvSpPr>
        <p:spPr>
          <a:xfrm>
            <a:off x="365760" y="594360"/>
            <a:ext cx="68569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Level 1 — Natural Language</a:t>
            </a:r>
            <a:endParaRPr b="0" lang="en-AU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5"/>
          <p:cNvSpPr/>
          <p:nvPr/>
        </p:nvSpPr>
        <p:spPr>
          <a:xfrm>
            <a:off x="365760" y="1097280"/>
            <a:ext cx="68569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cadcfc"/>
                </a:solidFill>
                <a:latin typeface="Calibri"/>
                <a:ea typeface="Calibri"/>
              </a:rPr>
              <a:t>No software development background required</a:t>
            </a:r>
            <a:endParaRPr b="0" lang="en-A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Shape 6"/>
          <p:cNvSpPr/>
          <p:nvPr/>
        </p:nvSpPr>
        <p:spPr>
          <a:xfrm>
            <a:off x="365760" y="1508760"/>
            <a:ext cx="419400" cy="419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7"/>
          <p:cNvSpPr/>
          <p:nvPr/>
        </p:nvSpPr>
        <p:spPr>
          <a:xfrm>
            <a:off x="365760" y="1508760"/>
            <a:ext cx="41940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A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8"/>
          <p:cNvSpPr/>
          <p:nvPr/>
        </p:nvSpPr>
        <p:spPr>
          <a:xfrm>
            <a:off x="932760" y="1508760"/>
            <a:ext cx="18277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Explore</a:t>
            </a:r>
            <a:endParaRPr b="0" lang="en-A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9"/>
          <p:cNvSpPr/>
          <p:nvPr/>
        </p:nvSpPr>
        <p:spPr>
          <a:xfrm>
            <a:off x="932760" y="1755720"/>
            <a:ext cx="5942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adcfc"/>
                </a:solidFill>
                <a:latin typeface="Calibri"/>
                <a:ea typeface="Calibri"/>
              </a:rPr>
              <a:t>Read and understand the sample FinOps Basic plugin structure</a:t>
            </a:r>
            <a:endParaRPr b="0" lang="en-AU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Shape 10"/>
          <p:cNvSpPr/>
          <p:nvPr/>
        </p:nvSpPr>
        <p:spPr>
          <a:xfrm>
            <a:off x="365760" y="2167200"/>
            <a:ext cx="419400" cy="419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11"/>
          <p:cNvSpPr/>
          <p:nvPr/>
        </p:nvSpPr>
        <p:spPr>
          <a:xfrm>
            <a:off x="365760" y="2167200"/>
            <a:ext cx="41940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A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12"/>
          <p:cNvSpPr/>
          <p:nvPr/>
        </p:nvSpPr>
        <p:spPr>
          <a:xfrm>
            <a:off x="932760" y="2167200"/>
            <a:ext cx="18277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Test</a:t>
            </a:r>
            <a:endParaRPr b="0" lang="en-A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13"/>
          <p:cNvSpPr/>
          <p:nvPr/>
        </p:nvSpPr>
        <p:spPr>
          <a:xfrm>
            <a:off x="932760" y="2414160"/>
            <a:ext cx="5942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adcfc"/>
                </a:solidFill>
                <a:latin typeface="Calibri"/>
                <a:ea typeface="Calibri"/>
              </a:rPr>
              <a:t>Load the plugin in Claude Code or Cowork, test all commands</a:t>
            </a:r>
            <a:endParaRPr b="0" lang="en-AU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Shape 14"/>
          <p:cNvSpPr/>
          <p:nvPr/>
        </p:nvSpPr>
        <p:spPr>
          <a:xfrm>
            <a:off x="365760" y="2825640"/>
            <a:ext cx="419400" cy="419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15"/>
          <p:cNvSpPr/>
          <p:nvPr/>
        </p:nvSpPr>
        <p:spPr>
          <a:xfrm>
            <a:off x="365760" y="2825640"/>
            <a:ext cx="41940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A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16"/>
          <p:cNvSpPr/>
          <p:nvPr/>
        </p:nvSpPr>
        <p:spPr>
          <a:xfrm>
            <a:off x="932760" y="2825640"/>
            <a:ext cx="18277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Customise</a:t>
            </a:r>
            <a:endParaRPr b="0" lang="en-A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17"/>
          <p:cNvSpPr/>
          <p:nvPr/>
        </p:nvSpPr>
        <p:spPr>
          <a:xfrm>
            <a:off x="932760" y="3072240"/>
            <a:ext cx="5942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adcfc"/>
                </a:solidFill>
                <a:latin typeface="Calibri"/>
                <a:ea typeface="Calibri"/>
              </a:rPr>
              <a:t>Add your own skill or command using plain Markdown</a:t>
            </a:r>
            <a:endParaRPr b="0" lang="en-AU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Shape 18"/>
          <p:cNvSpPr/>
          <p:nvPr/>
        </p:nvSpPr>
        <p:spPr>
          <a:xfrm>
            <a:off x="365760" y="3483720"/>
            <a:ext cx="419400" cy="419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19"/>
          <p:cNvSpPr/>
          <p:nvPr/>
        </p:nvSpPr>
        <p:spPr>
          <a:xfrm>
            <a:off x="365760" y="3483720"/>
            <a:ext cx="41940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A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20"/>
          <p:cNvSpPr/>
          <p:nvPr/>
        </p:nvSpPr>
        <p:spPr>
          <a:xfrm>
            <a:off x="932760" y="3483720"/>
            <a:ext cx="18277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Sub-Agents</a:t>
            </a:r>
            <a:endParaRPr b="0" lang="en-A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21"/>
          <p:cNvSpPr/>
          <p:nvPr/>
        </p:nvSpPr>
        <p:spPr>
          <a:xfrm>
            <a:off x="932760" y="3730680"/>
            <a:ext cx="5942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adcfc"/>
                </a:solidFill>
                <a:latin typeface="Calibri"/>
                <a:ea typeface="Calibri"/>
              </a:rPr>
              <a:t>Use the compliance-reviewer agent and build your own</a:t>
            </a:r>
            <a:endParaRPr b="0" lang="en-AU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22"/>
          <p:cNvSpPr/>
          <p:nvPr/>
        </p:nvSpPr>
        <p:spPr>
          <a:xfrm>
            <a:off x="365760" y="4142160"/>
            <a:ext cx="419400" cy="419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23"/>
          <p:cNvSpPr/>
          <p:nvPr/>
        </p:nvSpPr>
        <p:spPr>
          <a:xfrm>
            <a:off x="365760" y="4142160"/>
            <a:ext cx="41940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A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24"/>
          <p:cNvSpPr/>
          <p:nvPr/>
        </p:nvSpPr>
        <p:spPr>
          <a:xfrm>
            <a:off x="932760" y="4142160"/>
            <a:ext cx="18277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Share</a:t>
            </a:r>
            <a:endParaRPr b="0" lang="en-AU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25"/>
          <p:cNvSpPr/>
          <p:nvPr/>
        </p:nvSpPr>
        <p:spPr>
          <a:xfrm>
            <a:off x="932760" y="4389120"/>
            <a:ext cx="5942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adcfc"/>
                </a:solidFill>
                <a:latin typeface="Calibri"/>
                <a:ea typeface="Calibri"/>
              </a:rPr>
              <a:t>Package as ZIP, upload to colleagues in Cowork</a:t>
            </a:r>
            <a:endParaRPr b="0" lang="en-AU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26"/>
          <p:cNvSpPr/>
          <p:nvPr/>
        </p:nvSpPr>
        <p:spPr>
          <a:xfrm>
            <a:off x="365760" y="4754880"/>
            <a:ext cx="2742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a896"/>
                </a:solidFill>
                <a:latin typeface="Calibri"/>
              </a:rPr>
              <a:t>⏱  </a:t>
            </a:r>
            <a:r>
              <a:rPr b="0" lang="en-US" sz="1100" spc="-1" strike="noStrike">
                <a:solidFill>
                  <a:srgbClr val="00a896"/>
                </a:solidFill>
                <a:latin typeface="Calibri"/>
              </a:rPr>
              <a:t>60–90 minutes</a:t>
            </a:r>
            <a:endParaRPr b="0" lang="en-AU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27"/>
          <p:cNvSpPr/>
          <p:nvPr/>
        </p:nvSpPr>
        <p:spPr>
          <a:xfrm>
            <a:off x="8595360" y="466344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cadcfc"/>
                </a:solidFill>
                <a:latin typeface="Calibri"/>
              </a:rPr>
              <a:t>5</a:t>
            </a:r>
            <a:endParaRPr b="0" lang="en-AU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Shape 1"/>
          <p:cNvSpPr/>
          <p:nvPr/>
        </p:nvSpPr>
        <p:spPr>
          <a:xfrm>
            <a:off x="365760" y="228600"/>
            <a:ext cx="1644840" cy="291600"/>
          </a:xfrm>
          <a:prstGeom prst="roundRect">
            <a:avLst>
              <a:gd name="adj" fmla="val 15625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2"/>
          <p:cNvSpPr/>
          <p:nvPr/>
        </p:nvSpPr>
        <p:spPr>
          <a:xfrm>
            <a:off x="365760" y="228600"/>
            <a:ext cx="16448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LEVEL 1 — SKILLS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3"/>
          <p:cNvSpPr/>
          <p:nvPr/>
        </p:nvSpPr>
        <p:spPr>
          <a:xfrm>
            <a:off x="365760" y="594360"/>
            <a:ext cx="8411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e2761"/>
                </a:solidFill>
                <a:latin typeface="Calibri"/>
                <a:ea typeface="Calibri"/>
              </a:rPr>
              <a:t>Writing a Skill File</a:t>
            </a:r>
            <a:endParaRPr b="0" lang="en-A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4"/>
          <p:cNvSpPr/>
          <p:nvPr/>
        </p:nvSpPr>
        <p:spPr>
          <a:xfrm>
            <a:off x="365760" y="1234440"/>
            <a:ext cx="4388040" cy="3473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2809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5"/>
          <p:cNvSpPr/>
          <p:nvPr/>
        </p:nvSpPr>
        <p:spPr>
          <a:xfrm>
            <a:off x="548640" y="1371600"/>
            <a:ext cx="4022280" cy="31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Consolas"/>
                <a:ea typeface="Consolas"/>
              </a:rPr>
              <a:t>---</a:t>
            </a:r>
            <a:endParaRPr b="0" lang="en-A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a896"/>
                </a:solidFill>
                <a:latin typeface="Consolas"/>
                <a:ea typeface="Consolas"/>
              </a:rPr>
              <a:t>name: </a:t>
            </a:r>
            <a:r>
              <a:rPr b="0" lang="en-US" sz="1100" spc="-1" strike="noStrike">
                <a:solidFill>
                  <a:srgbClr val="f59e0b"/>
                </a:solidFill>
                <a:latin typeface="Consolas"/>
                <a:ea typeface="Consolas"/>
              </a:rPr>
              <a:t>compliance-language</a:t>
            </a:r>
            <a:endParaRPr b="0" lang="en-A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a896"/>
                </a:solidFill>
                <a:latin typeface="Consolas"/>
                <a:ea typeface="Consolas"/>
              </a:rPr>
              <a:t>description: &gt;</a:t>
            </a:r>
            <a:endParaRPr b="0" lang="en-A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Apply to all client comms.</a:t>
            </a:r>
            <a:endParaRPr b="0" lang="en-A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Use when drafting emails.</a:t>
            </a:r>
            <a:endParaRPr b="0" lang="en-A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Consolas"/>
                <a:ea typeface="Consolas"/>
              </a:rPr>
              <a:t>---</a:t>
            </a:r>
            <a:endParaRPr b="0" lang="en-A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A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cadcfc"/>
                </a:solidFill>
                <a:latin typeface="Consolas"/>
                <a:ea typeface="Consolas"/>
              </a:rPr>
              <a:t># Compliance Rules</a:t>
            </a:r>
            <a:endParaRPr b="0" lang="en-A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a896"/>
                </a:solidFill>
                <a:latin typeface="Consolas"/>
                <a:ea typeface="Consolas"/>
              </a:rPr>
              <a:t>## Never Write</a:t>
            </a:r>
            <a:endParaRPr b="0" lang="en-A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"Guaranteed returns"</a:t>
            </a:r>
            <a:endParaRPr b="0" lang="en-A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"Will definitely..."</a:t>
            </a:r>
            <a:endParaRPr b="0" lang="en-A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A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a896"/>
                </a:solidFill>
                <a:latin typeface="Consolas"/>
                <a:ea typeface="Consolas"/>
              </a:rPr>
              <a:t>## Always Add</a:t>
            </a:r>
            <a:endParaRPr b="0" lang="en-AU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Disclaimers on performance</a:t>
            </a:r>
            <a:endParaRPr b="0" lang="en-A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6"/>
          <p:cNvSpPr/>
          <p:nvPr/>
        </p:nvSpPr>
        <p:spPr>
          <a:xfrm>
            <a:off x="4937760" y="1234440"/>
            <a:ext cx="3839400" cy="105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7"/>
          <p:cNvSpPr/>
          <p:nvPr/>
        </p:nvSpPr>
        <p:spPr>
          <a:xfrm>
            <a:off x="5074920" y="1325880"/>
            <a:ext cx="35650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</a:rPr>
              <a:t>📝  </a:t>
            </a:r>
            <a:r>
              <a:rPr b="1" lang="en-US" sz="1300" spc="-1" strike="noStrike">
                <a:solidFill>
                  <a:srgbClr val="1e2761"/>
                </a:solidFill>
                <a:latin typeface="Calibri"/>
              </a:rPr>
              <a:t>YAML Frontmatter</a:t>
            </a:r>
            <a:endParaRPr b="0" lang="en-A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8"/>
          <p:cNvSpPr/>
          <p:nvPr/>
        </p:nvSpPr>
        <p:spPr>
          <a:xfrm>
            <a:off x="5074920" y="1618560"/>
            <a:ext cx="35650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The --- block at top. The description tells Claude WHEN to auto-apply this skill.</a:t>
            </a:r>
            <a:endParaRPr b="0" lang="en-A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9"/>
          <p:cNvSpPr/>
          <p:nvPr/>
        </p:nvSpPr>
        <p:spPr>
          <a:xfrm>
            <a:off x="4937760" y="2404800"/>
            <a:ext cx="3839400" cy="105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10"/>
          <p:cNvSpPr/>
          <p:nvPr/>
        </p:nvSpPr>
        <p:spPr>
          <a:xfrm>
            <a:off x="5074920" y="2496240"/>
            <a:ext cx="35650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</a:rPr>
              <a:t>🎯  </a:t>
            </a:r>
            <a:r>
              <a:rPr b="1" lang="en-US" sz="1300" spc="-1" strike="noStrike">
                <a:solidFill>
                  <a:srgbClr val="1e2761"/>
                </a:solidFill>
                <a:latin typeface="Calibri"/>
              </a:rPr>
              <a:t>Be Specific</a:t>
            </a:r>
            <a:endParaRPr b="0" lang="en-A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1"/>
          <p:cNvSpPr/>
          <p:nvPr/>
        </p:nvSpPr>
        <p:spPr>
          <a:xfrm>
            <a:off x="5074920" y="2788920"/>
            <a:ext cx="35650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The more specific the description, the more reliably Claude applies the skill.</a:t>
            </a:r>
            <a:endParaRPr b="0" lang="en-A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12"/>
          <p:cNvSpPr/>
          <p:nvPr/>
        </p:nvSpPr>
        <p:spPr>
          <a:xfrm>
            <a:off x="4937760" y="3575160"/>
            <a:ext cx="3839400" cy="105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13"/>
          <p:cNvSpPr/>
          <p:nvPr/>
        </p:nvSpPr>
        <p:spPr>
          <a:xfrm>
            <a:off x="5074920" y="3666600"/>
            <a:ext cx="35650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</a:rPr>
              <a:t>📋  </a:t>
            </a:r>
            <a:r>
              <a:rPr b="1" lang="en-US" sz="1300" spc="-1" strike="noStrike">
                <a:solidFill>
                  <a:srgbClr val="1e2761"/>
                </a:solidFill>
                <a:latin typeface="Calibri"/>
              </a:rPr>
              <a:t>Plain Markdown</a:t>
            </a:r>
            <a:endParaRPr b="0" lang="en-A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14"/>
          <p:cNvSpPr/>
          <p:nvPr/>
        </p:nvSpPr>
        <p:spPr>
          <a:xfrm>
            <a:off x="5074920" y="3959280"/>
            <a:ext cx="35650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The rest is just Markdown — headers, bullets, numbered lists, all valid.</a:t>
            </a:r>
            <a:endParaRPr b="0" lang="en-A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15"/>
          <p:cNvSpPr/>
          <p:nvPr/>
        </p:nvSpPr>
        <p:spPr>
          <a:xfrm>
            <a:off x="8595360" y="466344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</a:rPr>
              <a:t>6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Shape 1"/>
          <p:cNvSpPr/>
          <p:nvPr/>
        </p:nvSpPr>
        <p:spPr>
          <a:xfrm>
            <a:off x="365760" y="228600"/>
            <a:ext cx="1644840" cy="291600"/>
          </a:xfrm>
          <a:prstGeom prst="roundRect">
            <a:avLst>
              <a:gd name="adj" fmla="val 15625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2"/>
          <p:cNvSpPr/>
          <p:nvPr/>
        </p:nvSpPr>
        <p:spPr>
          <a:xfrm>
            <a:off x="365760" y="228600"/>
            <a:ext cx="16448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LEVEL 1 — SUB-AGENTS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3"/>
          <p:cNvSpPr/>
          <p:nvPr/>
        </p:nvSpPr>
        <p:spPr>
          <a:xfrm>
            <a:off x="365760" y="594360"/>
            <a:ext cx="8411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e2761"/>
                </a:solidFill>
                <a:latin typeface="Calibri"/>
                <a:ea typeface="Calibri"/>
              </a:rPr>
              <a:t>Sub-Agents: Your Specialist Team</a:t>
            </a:r>
            <a:endParaRPr b="0" lang="en-A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4"/>
          <p:cNvSpPr/>
          <p:nvPr/>
        </p:nvSpPr>
        <p:spPr>
          <a:xfrm>
            <a:off x="365760" y="1234440"/>
            <a:ext cx="3930840" cy="3519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5"/>
          <p:cNvSpPr/>
          <p:nvPr/>
        </p:nvSpPr>
        <p:spPr>
          <a:xfrm>
            <a:off x="365760" y="1234440"/>
            <a:ext cx="3930840" cy="47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365760" y="1234440"/>
            <a:ext cx="393084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What is a Sub-Agent?</a:t>
            </a:r>
            <a:endParaRPr b="0" lang="en-A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7"/>
          <p:cNvSpPr/>
          <p:nvPr/>
        </p:nvSpPr>
        <p:spPr>
          <a:xfrm>
            <a:off x="502920" y="1810440"/>
            <a:ext cx="364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🎭</a:t>
            </a:r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8"/>
          <p:cNvSpPr/>
          <p:nvPr/>
        </p:nvSpPr>
        <p:spPr>
          <a:xfrm>
            <a:off x="960120" y="1810440"/>
            <a:ext cx="31536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A separate Claude instance with its own focused role</a:t>
            </a:r>
            <a:endParaRPr b="0" lang="en-A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9"/>
          <p:cNvSpPr/>
          <p:nvPr/>
        </p:nvSpPr>
        <p:spPr>
          <a:xfrm>
            <a:off x="502920" y="2377440"/>
            <a:ext cx="364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📁</a:t>
            </a:r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10"/>
          <p:cNvSpPr/>
          <p:nvPr/>
        </p:nvSpPr>
        <p:spPr>
          <a:xfrm>
            <a:off x="960120" y="2377440"/>
            <a:ext cx="31536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Lives in the agents/ folder as a .md file</a:t>
            </a:r>
            <a:endParaRPr b="0" lang="en-A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11"/>
          <p:cNvSpPr/>
          <p:nvPr/>
        </p:nvSpPr>
        <p:spPr>
          <a:xfrm>
            <a:off x="502920" y="2944440"/>
            <a:ext cx="364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🔒</a:t>
            </a:r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12"/>
          <p:cNvSpPr/>
          <p:nvPr/>
        </p:nvSpPr>
        <p:spPr>
          <a:xfrm>
            <a:off x="960120" y="2944440"/>
            <a:ext cx="31536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Stays in its lane — scoped to one job only</a:t>
            </a:r>
            <a:endParaRPr b="0" lang="en-A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13"/>
          <p:cNvSpPr/>
          <p:nvPr/>
        </p:nvSpPr>
        <p:spPr>
          <a:xfrm>
            <a:off x="502920" y="3511440"/>
            <a:ext cx="364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📤</a:t>
            </a:r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14"/>
          <p:cNvSpPr/>
          <p:nvPr/>
        </p:nvSpPr>
        <p:spPr>
          <a:xfrm>
            <a:off x="960120" y="3511440"/>
            <a:ext cx="31536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Returns structured output the main agent uses</a:t>
            </a:r>
            <a:endParaRPr b="0" lang="en-A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15"/>
          <p:cNvSpPr/>
          <p:nvPr/>
        </p:nvSpPr>
        <p:spPr>
          <a:xfrm>
            <a:off x="502920" y="4078080"/>
            <a:ext cx="364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⚡</a:t>
            </a:r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16"/>
          <p:cNvSpPr/>
          <p:nvPr/>
        </p:nvSpPr>
        <p:spPr>
          <a:xfrm>
            <a:off x="960120" y="4078080"/>
            <a:ext cx="31536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Invoked by a command or skill when needed</a:t>
            </a:r>
            <a:endParaRPr b="0" lang="en-A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17"/>
          <p:cNvSpPr/>
          <p:nvPr/>
        </p:nvSpPr>
        <p:spPr>
          <a:xfrm>
            <a:off x="4480560" y="1234440"/>
            <a:ext cx="4296600" cy="3519360"/>
          </a:xfrm>
          <a:prstGeom prst="rect">
            <a:avLst/>
          </a:prstGeom>
          <a:solidFill>
            <a:srgbClr val="0f172a"/>
          </a:solidFill>
          <a:ln w="19050">
            <a:solidFill>
              <a:srgbClr val="f59e0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18"/>
          <p:cNvSpPr/>
          <p:nvPr/>
        </p:nvSpPr>
        <p:spPr>
          <a:xfrm>
            <a:off x="4480560" y="1234440"/>
            <a:ext cx="4296600" cy="47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19"/>
          <p:cNvSpPr/>
          <p:nvPr/>
        </p:nvSpPr>
        <p:spPr>
          <a:xfrm>
            <a:off x="4480560" y="1234440"/>
            <a:ext cx="429660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e2761"/>
                </a:solidFill>
                <a:latin typeface="Consolas"/>
                <a:ea typeface="Consolas"/>
              </a:rPr>
              <a:t>agents/compliance-reviewer.md</a:t>
            </a:r>
            <a:endParaRPr b="0" lang="en-A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20"/>
          <p:cNvSpPr/>
          <p:nvPr/>
        </p:nvSpPr>
        <p:spPr>
          <a:xfrm>
            <a:off x="4617720" y="1810440"/>
            <a:ext cx="4022280" cy="27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rgbClr val="64748b"/>
                </a:solidFill>
                <a:latin typeface="Consolas"/>
                <a:ea typeface="Consolas"/>
              </a:rPr>
              <a:t>---</a:t>
            </a:r>
            <a:endParaRPr b="0" lang="en-AU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rgbClr val="00a896"/>
                </a:solidFill>
                <a:latin typeface="Consolas"/>
                <a:ea typeface="Consolas"/>
              </a:rPr>
              <a:t>name: </a:t>
            </a:r>
            <a:r>
              <a:rPr b="0" lang="en-US" sz="1050" spc="-1" strike="noStrike">
                <a:solidFill>
                  <a:srgbClr val="f59e0b"/>
                </a:solidFill>
                <a:latin typeface="Consolas"/>
                <a:ea typeface="Consolas"/>
              </a:rPr>
              <a:t>compliance-reviewer</a:t>
            </a:r>
            <a:endParaRPr b="0" lang="en-AU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rgbClr val="00a896"/>
                </a:solidFill>
                <a:latin typeface="Consolas"/>
                <a:ea typeface="Consolas"/>
              </a:rPr>
              <a:t>model: </a:t>
            </a:r>
            <a:r>
              <a:rPr b="0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claude-sonnet-4-...</a:t>
            </a:r>
            <a:endParaRPr b="0" lang="en-AU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rgbClr val="64748b"/>
                </a:solidFill>
                <a:latin typeface="Consolas"/>
                <a:ea typeface="Consolas"/>
              </a:rPr>
              <a:t>---</a:t>
            </a:r>
            <a:endParaRPr b="0" lang="en-AU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AU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rgbClr val="cadcfc"/>
                </a:solidFill>
                <a:latin typeface="Consolas"/>
                <a:ea typeface="Consolas"/>
              </a:rPr>
              <a:t>You are a compliance reviewer.</a:t>
            </a:r>
            <a:endParaRPr b="0" lang="en-AU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Check: forward-looking language,</a:t>
            </a:r>
            <a:endParaRPr b="0" lang="en-AU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performance disclaimers, AFSL refs.</a:t>
            </a:r>
            <a:endParaRPr b="0" lang="en-AU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AU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rgbClr val="00a896"/>
                </a:solidFill>
                <a:latin typeface="Consolas"/>
                <a:ea typeface="Consolas"/>
              </a:rPr>
              <a:t>Return a structured report:</a:t>
            </a:r>
            <a:endParaRPr b="0" lang="en-AU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Status: ✅ PASS / ⚠️ CHANGES / ❌ FAIL</a:t>
            </a:r>
            <a:endParaRPr b="0" lang="en-AU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Issues table with fix suggestions</a:t>
            </a:r>
            <a:endParaRPr b="0" lang="en-AU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21"/>
          <p:cNvSpPr/>
          <p:nvPr/>
        </p:nvSpPr>
        <p:spPr>
          <a:xfrm>
            <a:off x="365760" y="4754880"/>
            <a:ext cx="84114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28090"/>
                </a:solidFill>
                <a:latin typeface="Calibri"/>
                <a:ea typeface="Calibri"/>
              </a:rPr>
              <a:t>💡  </a:t>
            </a:r>
            <a:r>
              <a:rPr b="0" i="1" lang="en-US" sz="1100" spc="-1" strike="noStrike">
                <a:solidFill>
                  <a:srgbClr val="028090"/>
                </a:solidFill>
                <a:latin typeface="Calibri"/>
                <a:ea typeface="Calibri"/>
              </a:rPr>
              <a:t>/review-draft invokes this agent — try it in Module 1.6</a:t>
            </a:r>
            <a:endParaRPr b="0" lang="en-A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22"/>
          <p:cNvSpPr/>
          <p:nvPr/>
        </p:nvSpPr>
        <p:spPr>
          <a:xfrm>
            <a:off x="8595360" y="466344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</a:rPr>
              <a:t>7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Shape 1"/>
          <p:cNvSpPr/>
          <p:nvPr/>
        </p:nvSpPr>
        <p:spPr>
          <a:xfrm>
            <a:off x="365760" y="228600"/>
            <a:ext cx="1644840" cy="291600"/>
          </a:xfrm>
          <a:prstGeom prst="roundRect">
            <a:avLst>
              <a:gd name="adj" fmla="val 15625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2"/>
          <p:cNvSpPr/>
          <p:nvPr/>
        </p:nvSpPr>
        <p:spPr>
          <a:xfrm>
            <a:off x="365760" y="228600"/>
            <a:ext cx="16448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WORKSHOP OUTPUT</a:t>
            </a:r>
            <a:endParaRPr b="0" lang="en-AU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3"/>
          <p:cNvSpPr/>
          <p:nvPr/>
        </p:nvSpPr>
        <p:spPr>
          <a:xfrm>
            <a:off x="365760" y="594360"/>
            <a:ext cx="82285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What You'll Build</a:t>
            </a:r>
            <a:endParaRPr b="0" lang="en-AU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Shape 4"/>
          <p:cNvSpPr/>
          <p:nvPr/>
        </p:nvSpPr>
        <p:spPr>
          <a:xfrm>
            <a:off x="1371600" y="1447920"/>
            <a:ext cx="6399720" cy="3519360"/>
          </a:xfrm>
          <a:prstGeom prst="rect">
            <a:avLst/>
          </a:prstGeom>
          <a:solidFill>
            <a:srgbClr val="0f172a"/>
          </a:solidFill>
          <a:ln w="25400">
            <a:solidFill>
              <a:srgbClr val="02809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Shape 5"/>
          <p:cNvSpPr/>
          <p:nvPr/>
        </p:nvSpPr>
        <p:spPr>
          <a:xfrm>
            <a:off x="1371600" y="1234440"/>
            <a:ext cx="6399720" cy="501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6"/>
          <p:cNvSpPr/>
          <p:nvPr/>
        </p:nvSpPr>
        <p:spPr>
          <a:xfrm>
            <a:off x="1371600" y="1234440"/>
            <a:ext cx="63997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finops-basic  (Level 1 Plugin)</a:t>
            </a:r>
            <a:endParaRPr b="0" lang="en-A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7"/>
          <p:cNvSpPr/>
          <p:nvPr/>
        </p:nvSpPr>
        <p:spPr>
          <a:xfrm>
            <a:off x="1554480" y="1874520"/>
            <a:ext cx="603396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📄 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compliance-language.md skill — auto-applied to all output</a:t>
            </a:r>
            <a:endParaRPr b="0" lang="en-A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8"/>
          <p:cNvSpPr/>
          <p:nvPr/>
        </p:nvSpPr>
        <p:spPr>
          <a:xfrm>
            <a:off x="1554480" y="2313360"/>
            <a:ext cx="603396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📄 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client-meeting-prep.md skill — meeting workflow</a:t>
            </a:r>
            <a:endParaRPr b="0" lang="en-A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9"/>
          <p:cNvSpPr/>
          <p:nvPr/>
        </p:nvSpPr>
        <p:spPr>
          <a:xfrm>
            <a:off x="1554480" y="2752200"/>
            <a:ext cx="603396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⌨️ 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/prep-meeting command — full briefing pack</a:t>
            </a:r>
            <a:endParaRPr b="0" lang="en-A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10"/>
          <p:cNvSpPr/>
          <p:nvPr/>
        </p:nvSpPr>
        <p:spPr>
          <a:xfrm>
            <a:off x="1554480" y="3191400"/>
            <a:ext cx="603396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⌨️ 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/draft-report command — polished client report</a:t>
            </a:r>
            <a:endParaRPr b="0" lang="en-A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11"/>
          <p:cNvSpPr/>
          <p:nvPr/>
        </p:nvSpPr>
        <p:spPr>
          <a:xfrm>
            <a:off x="1554480" y="3630240"/>
            <a:ext cx="603396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59e0b"/>
                </a:solidFill>
                <a:latin typeface="Calibri"/>
                <a:ea typeface="Calibri"/>
              </a:rPr>
              <a:t>🤖  </a:t>
            </a:r>
            <a:r>
              <a:rPr b="1" lang="en-US" sz="1200" spc="-1" strike="noStrike">
                <a:solidFill>
                  <a:srgbClr val="f59e0b"/>
                </a:solidFill>
                <a:latin typeface="Calibri"/>
                <a:ea typeface="Calibri"/>
              </a:rPr>
              <a:t>compliance-reviewer agent — independent draft auditor</a:t>
            </a:r>
            <a:endParaRPr b="0" lang="en-A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12"/>
          <p:cNvSpPr/>
          <p:nvPr/>
        </p:nvSpPr>
        <p:spPr>
          <a:xfrm>
            <a:off x="1554480" y="4069080"/>
            <a:ext cx="603396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⌨️ 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/review-draft command — invokes the agent</a:t>
            </a:r>
            <a:endParaRPr b="0" lang="en-A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13"/>
          <p:cNvSpPr/>
          <p:nvPr/>
        </p:nvSpPr>
        <p:spPr>
          <a:xfrm>
            <a:off x="1554480" y="4507920"/>
            <a:ext cx="603396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✏️ 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Your own custom skill, command, or agent</a:t>
            </a:r>
            <a:endParaRPr b="0" lang="en-A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14"/>
          <p:cNvSpPr/>
          <p:nvPr/>
        </p:nvSpPr>
        <p:spPr>
          <a:xfrm>
            <a:off x="8595360" y="466344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cadcfc"/>
                </a:solidFill>
                <a:latin typeface="Calibri"/>
              </a:rPr>
              <a:t>8</a:t>
            </a:r>
            <a:endParaRPr b="0" lang="en-AU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Shape 1"/>
          <p:cNvSpPr/>
          <p:nvPr/>
        </p:nvSpPr>
        <p:spPr>
          <a:xfrm>
            <a:off x="365760" y="228600"/>
            <a:ext cx="1644840" cy="291600"/>
          </a:xfrm>
          <a:prstGeom prst="roundRect">
            <a:avLst>
              <a:gd name="adj" fmla="val 15625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2"/>
          <p:cNvSpPr/>
          <p:nvPr/>
        </p:nvSpPr>
        <p:spPr>
          <a:xfrm>
            <a:off x="365760" y="228600"/>
            <a:ext cx="16448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TESTING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3"/>
          <p:cNvSpPr/>
          <p:nvPr/>
        </p:nvSpPr>
        <p:spPr>
          <a:xfrm>
            <a:off x="365760" y="594360"/>
            <a:ext cx="8411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e2761"/>
                </a:solidFill>
                <a:latin typeface="Calibri"/>
                <a:ea typeface="Calibri"/>
              </a:rPr>
              <a:t>Testing Your Plugin</a:t>
            </a:r>
            <a:endParaRPr b="0" lang="en-AU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4"/>
          <p:cNvSpPr/>
          <p:nvPr/>
        </p:nvSpPr>
        <p:spPr>
          <a:xfrm>
            <a:off x="365760" y="1234440"/>
            <a:ext cx="8411400" cy="65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7"/>
          <p:cNvSpPr/>
          <p:nvPr/>
        </p:nvSpPr>
        <p:spPr>
          <a:xfrm>
            <a:off x="5257800" y="1234440"/>
            <a:ext cx="338220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c3e50"/>
                </a:solidFill>
                <a:latin typeface="Calibri"/>
                <a:ea typeface="Calibri"/>
              </a:rPr>
              <a:t>Load without installing (Linux)</a:t>
            </a:r>
            <a:endParaRPr b="0" lang="en-AU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8"/>
          <p:cNvSpPr/>
          <p:nvPr/>
        </p:nvSpPr>
        <p:spPr>
          <a:xfrm>
            <a:off x="365760" y="1984320"/>
            <a:ext cx="8411400" cy="657360"/>
          </a:xfrm>
          <a:prstGeom prst="rect">
            <a:avLst/>
          </a:prstGeom>
          <a:solidFill>
            <a:srgbClr val="f4f7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9"/>
          <p:cNvSpPr/>
          <p:nvPr/>
        </p:nvSpPr>
        <p:spPr>
          <a:xfrm>
            <a:off x="4680000" y="1984320"/>
            <a:ext cx="3779280" cy="657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10"/>
          <p:cNvSpPr/>
          <p:nvPr/>
        </p:nvSpPr>
        <p:spPr>
          <a:xfrm>
            <a:off x="4922280" y="1984320"/>
            <a:ext cx="317700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0a896"/>
                </a:solidFill>
                <a:latin typeface="Consolas"/>
                <a:ea typeface="Consolas"/>
              </a:rPr>
              <a:t>claude plugin install ./level1-finops-basic</a:t>
            </a:r>
            <a:endParaRPr b="0" lang="en-AU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17"/>
          <p:cNvSpPr/>
          <p:nvPr/>
        </p:nvSpPr>
        <p:spPr>
          <a:xfrm>
            <a:off x="285480" y="1980000"/>
            <a:ext cx="3493800" cy="657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18"/>
          <p:cNvSpPr/>
          <p:nvPr/>
        </p:nvSpPr>
        <p:spPr>
          <a:xfrm>
            <a:off x="422640" y="1980000"/>
            <a:ext cx="457092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0a896"/>
                </a:solidFill>
                <a:latin typeface="Consolas"/>
                <a:ea typeface="Consolas"/>
              </a:rPr>
              <a:t># Cowork: Plugins → Upload Plugin (zip first)</a:t>
            </a:r>
            <a:endParaRPr b="0" lang="en-AU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19"/>
          <p:cNvSpPr/>
          <p:nvPr/>
        </p:nvSpPr>
        <p:spPr>
          <a:xfrm>
            <a:off x="397080" y="1234440"/>
            <a:ext cx="338220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c3e50"/>
                </a:solidFill>
                <a:latin typeface="Calibri"/>
                <a:ea typeface="Calibri"/>
              </a:rPr>
              <a:t>macOS / Windows via Cowork</a:t>
            </a:r>
            <a:endParaRPr b="0" lang="en-AU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21"/>
          <p:cNvSpPr/>
          <p:nvPr/>
        </p:nvSpPr>
        <p:spPr>
          <a:xfrm>
            <a:off x="288000" y="3301920"/>
            <a:ext cx="3491280" cy="657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22"/>
          <p:cNvSpPr/>
          <p:nvPr/>
        </p:nvSpPr>
        <p:spPr>
          <a:xfrm>
            <a:off x="4860000" y="3420000"/>
            <a:ext cx="313236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0a896"/>
                </a:solidFill>
                <a:latin typeface="Consolas"/>
                <a:ea typeface="Consolas"/>
              </a:rPr>
              <a:t># In Claude Cowork: /review-draft [paste draft text]</a:t>
            </a:r>
            <a:endParaRPr b="0" lang="en-AU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23"/>
          <p:cNvSpPr/>
          <p:nvPr/>
        </p:nvSpPr>
        <p:spPr>
          <a:xfrm>
            <a:off x="396000" y="2645640"/>
            <a:ext cx="338220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c3e50"/>
                </a:solidFill>
                <a:latin typeface="Calibri"/>
                <a:ea typeface="Calibri"/>
              </a:rPr>
              <a:t>Test compliance-reviewer agent</a:t>
            </a:r>
            <a:endParaRPr b="0" lang="en-AU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24"/>
          <p:cNvSpPr/>
          <p:nvPr/>
        </p:nvSpPr>
        <p:spPr>
          <a:xfrm>
            <a:off x="365760" y="4709160"/>
            <a:ext cx="84114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28090"/>
                </a:solidFill>
                <a:latin typeface="Calibri"/>
                <a:ea typeface="Calibri"/>
              </a:rPr>
              <a:t>💡  </a:t>
            </a:r>
            <a:r>
              <a:rPr b="0" i="1" lang="en-US" sz="1100" spc="-1" strike="noStrike">
                <a:solidFill>
                  <a:srgbClr val="028090"/>
                </a:solidFill>
                <a:latin typeface="Calibri"/>
                <a:ea typeface="Calibri"/>
              </a:rPr>
              <a:t>Restart Claude Code after every skill, command, or agent file change to reload the plugin</a:t>
            </a:r>
            <a:endParaRPr b="0" lang="en-A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25"/>
          <p:cNvSpPr/>
          <p:nvPr/>
        </p:nvSpPr>
        <p:spPr>
          <a:xfrm>
            <a:off x="8595360" y="466344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</a:rPr>
              <a:t>9</a:t>
            </a:r>
            <a:endParaRPr b="0" lang="en-A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16"/>
          <p:cNvSpPr/>
          <p:nvPr/>
        </p:nvSpPr>
        <p:spPr>
          <a:xfrm>
            <a:off x="4608000" y="3356280"/>
            <a:ext cx="3851280" cy="657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1"/>
          <p:cNvSpPr/>
          <p:nvPr/>
        </p:nvSpPr>
        <p:spPr>
          <a:xfrm>
            <a:off x="4716000" y="2700000"/>
            <a:ext cx="338220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c3e50"/>
                </a:solidFill>
                <a:latin typeface="Calibri"/>
                <a:ea typeface="Calibri"/>
              </a:rPr>
              <a:t>Test compliance-reviewer agent</a:t>
            </a:r>
            <a:endParaRPr b="0" lang="en-AU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19"/>
          <p:cNvSpPr/>
          <p:nvPr/>
        </p:nvSpPr>
        <p:spPr>
          <a:xfrm>
            <a:off x="288000" y="3305520"/>
            <a:ext cx="3491280" cy="657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30"/>
          <p:cNvSpPr/>
          <p:nvPr/>
        </p:nvSpPr>
        <p:spPr>
          <a:xfrm>
            <a:off x="396000" y="2649240"/>
            <a:ext cx="338220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c3e50"/>
                </a:solidFill>
                <a:latin typeface="Calibri"/>
                <a:ea typeface="Calibri"/>
              </a:rPr>
              <a:t>Test compliance-reviewer agent</a:t>
            </a:r>
            <a:endParaRPr b="0" lang="en-AU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33"/>
          <p:cNvSpPr/>
          <p:nvPr/>
        </p:nvSpPr>
        <p:spPr>
          <a:xfrm>
            <a:off x="4860000" y="3420000"/>
            <a:ext cx="26992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0a896"/>
                </a:solidFill>
                <a:latin typeface="Consolas"/>
                <a:ea typeface="Consolas"/>
              </a:rPr>
              <a:t># In Claude Code: /review-draft [paste draft text]</a:t>
            </a:r>
            <a:endParaRPr b="0" lang="en-AU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34"/>
          <p:cNvSpPr/>
          <p:nvPr/>
        </p:nvSpPr>
        <p:spPr>
          <a:xfrm>
            <a:off x="504000" y="3240000"/>
            <a:ext cx="27352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0a896"/>
                </a:solidFill>
                <a:latin typeface="Consolas"/>
                <a:ea typeface="Consolas"/>
              </a:rPr>
              <a:t># In Claude Cowork: /review-draft [paste draft text]</a:t>
            </a:r>
            <a:endParaRPr b="0" lang="en-AU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Shape 1"/>
          <p:cNvSpPr/>
          <p:nvPr/>
        </p:nvSpPr>
        <p:spPr>
          <a:xfrm>
            <a:off x="-914400" y="-914400"/>
            <a:ext cx="4570920" cy="4570920"/>
          </a:xfrm>
          <a:prstGeom prst="ellipse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2"/>
          <p:cNvSpPr/>
          <p:nvPr/>
        </p:nvSpPr>
        <p:spPr>
          <a:xfrm>
            <a:off x="365760" y="731520"/>
            <a:ext cx="82285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You're Done with Level 1!</a:t>
            </a:r>
            <a:endParaRPr b="0" lang="en-A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Shape 3"/>
          <p:cNvSpPr/>
          <p:nvPr/>
        </p:nvSpPr>
        <p:spPr>
          <a:xfrm>
            <a:off x="365760" y="1554480"/>
            <a:ext cx="4113720" cy="1370520"/>
          </a:xfrm>
          <a:prstGeom prst="rect">
            <a:avLst/>
          </a:prstGeom>
          <a:solidFill>
            <a:srgbClr val="0f172a"/>
          </a:solidFill>
          <a:ln w="25400">
            <a:solidFill>
              <a:srgbClr val="f59e0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 4"/>
          <p:cNvSpPr/>
          <p:nvPr/>
        </p:nvSpPr>
        <p:spPr>
          <a:xfrm>
            <a:off x="502920" y="1645920"/>
            <a:ext cx="639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59e0b"/>
                </a:solidFill>
                <a:latin typeface="Calibri"/>
              </a:rPr>
              <a:t>→</a:t>
            </a:r>
            <a:endParaRPr b="0" lang="en-AU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5"/>
          <p:cNvSpPr/>
          <p:nvPr/>
        </p:nvSpPr>
        <p:spPr>
          <a:xfrm>
            <a:off x="1188720" y="1645920"/>
            <a:ext cx="3107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59e0b"/>
                </a:solidFill>
                <a:latin typeface="Calibri"/>
              </a:rPr>
              <a:t>Continue to Level 2</a:t>
            </a:r>
            <a:endParaRPr b="0" lang="en-A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6"/>
          <p:cNvSpPr/>
          <p:nvPr/>
        </p:nvSpPr>
        <p:spPr>
          <a:xfrm>
            <a:off x="502920" y="2148840"/>
            <a:ext cx="3839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adcfc"/>
                </a:solidFill>
                <a:latin typeface="Calibri"/>
                <a:ea typeface="Calibri"/>
              </a:rPr>
              <a:t>Add MCP tools, live market data, bash automation, and parallel sub-agent orchestration</a:t>
            </a:r>
            <a:endParaRPr b="0" lang="en-A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Shape 7"/>
          <p:cNvSpPr/>
          <p:nvPr/>
        </p:nvSpPr>
        <p:spPr>
          <a:xfrm>
            <a:off x="4754880" y="1554480"/>
            <a:ext cx="4113720" cy="1370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2809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8"/>
          <p:cNvSpPr/>
          <p:nvPr/>
        </p:nvSpPr>
        <p:spPr>
          <a:xfrm>
            <a:off x="4892040" y="1645920"/>
            <a:ext cx="639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28090"/>
                </a:solidFill>
                <a:latin typeface="Calibri"/>
              </a:rPr>
              <a:t>📤</a:t>
            </a:r>
            <a:endParaRPr b="0" lang="en-AU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9"/>
          <p:cNvSpPr/>
          <p:nvPr/>
        </p:nvSpPr>
        <p:spPr>
          <a:xfrm>
            <a:off x="5577840" y="1645920"/>
            <a:ext cx="3107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Share Your Plugin</a:t>
            </a:r>
            <a:endParaRPr b="0" lang="en-A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10"/>
          <p:cNvSpPr/>
          <p:nvPr/>
        </p:nvSpPr>
        <p:spPr>
          <a:xfrm>
            <a:off x="4892040" y="2148840"/>
            <a:ext cx="3839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adcfc"/>
                </a:solidFill>
                <a:latin typeface="Calibri"/>
                <a:ea typeface="Calibri"/>
              </a:rPr>
              <a:t>ZIP and share with colleagues — macOS/Windows via Cowork, Linux via --plugin-dir</a:t>
            </a:r>
            <a:endParaRPr b="0" lang="en-A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Shape 11"/>
          <p:cNvSpPr/>
          <p:nvPr/>
        </p:nvSpPr>
        <p:spPr>
          <a:xfrm>
            <a:off x="365760" y="3108960"/>
            <a:ext cx="4113720" cy="1370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2809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12"/>
          <p:cNvSpPr/>
          <p:nvPr/>
        </p:nvSpPr>
        <p:spPr>
          <a:xfrm>
            <a:off x="502920" y="3200400"/>
            <a:ext cx="639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28090"/>
                </a:solidFill>
                <a:latin typeface="Calibri"/>
              </a:rPr>
              <a:t>🌐</a:t>
            </a:r>
            <a:endParaRPr b="0" lang="en-AU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13"/>
          <p:cNvSpPr/>
          <p:nvPr/>
        </p:nvSpPr>
        <p:spPr>
          <a:xfrm>
            <a:off x="1188720" y="3200400"/>
            <a:ext cx="3107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Browse Examples</a:t>
            </a:r>
            <a:endParaRPr b="0" lang="en-A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14"/>
          <p:cNvSpPr/>
          <p:nvPr/>
        </p:nvSpPr>
        <p:spPr>
          <a:xfrm>
            <a:off x="502920" y="3703320"/>
            <a:ext cx="3839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adcfc"/>
                </a:solidFill>
                <a:latin typeface="Calibri"/>
                <a:ea typeface="Calibri"/>
              </a:rPr>
              <a:t>Explore open-source plugins at github.com/anthropics/knowledge-work-plugins</a:t>
            </a:r>
            <a:endParaRPr b="0" lang="en-A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Shape 15"/>
          <p:cNvSpPr/>
          <p:nvPr/>
        </p:nvSpPr>
        <p:spPr>
          <a:xfrm>
            <a:off x="4754880" y="3108960"/>
            <a:ext cx="4113720" cy="1370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2809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A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16"/>
          <p:cNvSpPr/>
          <p:nvPr/>
        </p:nvSpPr>
        <p:spPr>
          <a:xfrm>
            <a:off x="4892040" y="3200400"/>
            <a:ext cx="639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28090"/>
                </a:solidFill>
                <a:latin typeface="Calibri"/>
              </a:rPr>
              <a:t>🏪</a:t>
            </a:r>
            <a:endParaRPr b="0" lang="en-AU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17"/>
          <p:cNvSpPr/>
          <p:nvPr/>
        </p:nvSpPr>
        <p:spPr>
          <a:xfrm>
            <a:off x="5577840" y="3200400"/>
            <a:ext cx="3107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Reach out to E2A</a:t>
            </a:r>
            <a:endParaRPr b="0" lang="en-A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18"/>
          <p:cNvSpPr/>
          <p:nvPr/>
        </p:nvSpPr>
        <p:spPr>
          <a:xfrm>
            <a:off x="4892040" y="3703320"/>
            <a:ext cx="3839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adcfc"/>
                </a:solidFill>
                <a:latin typeface="Calibri"/>
                <a:ea typeface="Calibri"/>
              </a:rPr>
              <a:t>We are happy to help you to build complex plugins that integrate into your CRM and other SaaS systems - </a:t>
            </a:r>
            <a:r>
              <a:rPr b="0" lang="en-US" sz="1200" spc="-1" strike="noStrike">
                <a:solidFill>
                  <a:srgbClr val="cadcfc"/>
                </a:solidFill>
                <a:latin typeface="Calibri"/>
                <a:ea typeface="Calibri"/>
                <a:hlinkClick r:id="rId1"/>
              </a:rPr>
              <a:t>https://agentic-automations.ai/contact.html</a:t>
            </a:r>
            <a:endParaRPr b="0" lang="en-AU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adcfc"/>
                </a:solidFill>
                <a:latin typeface="Calibri"/>
                <a:ea typeface="Calibri"/>
              </a:rPr>
              <a:t>daghan@agentic-automations.ai</a:t>
            </a:r>
            <a:endParaRPr b="0" lang="en-A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19"/>
          <p:cNvSpPr/>
          <p:nvPr/>
        </p:nvSpPr>
        <p:spPr>
          <a:xfrm>
            <a:off x="8595360" y="466344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cadcfc"/>
                </a:solidFill>
                <a:latin typeface="Calibri"/>
              </a:rPr>
              <a:t>10</a:t>
            </a:r>
            <a:endParaRPr b="0" lang="en-AU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2026-02-21T03:29:43Z</dcterms:created>
  <dc:creator>PptxGenJS</dc:creator>
  <dc:description/>
  <dc:language>en-AU</dc:language>
  <cp:lastModifiedBy/>
  <dcterms:modified xsi:type="dcterms:W3CDTF">2026-02-25T21:01:45Z</dcterms:modified>
  <cp:revision>4</cp:revision>
  <dc:subject>PptxGenJS Presentation</dc:subject>
  <dc:title>Building Claude Plugins for Financial Services — Level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