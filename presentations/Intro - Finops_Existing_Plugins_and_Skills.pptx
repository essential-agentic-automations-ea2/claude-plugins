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" y="1314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3" name="Text 1"/>
          <p:cNvSpPr/>
          <p:nvPr/>
        </p:nvSpPr>
        <p:spPr>
          <a:xfrm>
            <a:off x="1409700" y="1238250"/>
            <a:ext cx="41323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 WORKSHOP · 45 MINUTES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19200" y="2685901"/>
            <a:ext cx="8135105" cy="3046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2600" spc="-32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Plugins &amp; Skills.</a:t>
            </a:r>
            <a:endParaRPr lang="en-US" sz="12600" dirty="0"/>
          </a:p>
        </p:txBody>
      </p:sp>
      <p:sp>
        <p:nvSpPr>
          <p:cNvPr id="5" name="Text 3"/>
          <p:cNvSpPr/>
          <p:nvPr/>
        </p:nvSpPr>
        <p:spPr>
          <a:xfrm>
            <a:off x="1219200" y="6151215"/>
            <a:ext cx="7259955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working tour of the Claude plugin ecosystem — what each capability is, when to reach for it, and four hands-on exercises along the way.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8648700"/>
            <a:ext cx="419100" cy="419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43100" y="8694837"/>
            <a:ext cx="2267694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 </a:t>
            </a:r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</a:t>
            </a:r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0336560" y="0"/>
            <a:ext cx="7951440" cy="10287000"/>
          </a:xfrm>
          <a:prstGeom prst="rect">
            <a:avLst/>
          </a:prstGeom>
          <a:solidFill>
            <a:srgbClr val="0E1116"/>
          </a:solidFill>
          <a:ln/>
        </p:spPr>
      </p:sp>
      <p:sp>
        <p:nvSpPr>
          <p:cNvPr id="9" name="Text 6"/>
          <p:cNvSpPr/>
          <p:nvPr/>
        </p:nvSpPr>
        <p:spPr>
          <a:xfrm>
            <a:off x="11250960" y="1219200"/>
            <a:ext cx="1844427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89" kern="0" dirty="0">
                <a:solidFill>
                  <a:srgbClr val="F4EFE6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02 / 2026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6257240" y="1219200"/>
            <a:ext cx="1116360" cy="453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6000"/>
              </a:lnSpc>
              <a:buNone/>
            </a:pPr>
            <a:r>
              <a:rPr lang="en-US" sz="1050" spc="189" kern="0" dirty="0">
                <a:solidFill>
                  <a:srgbClr val="F4EFE6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PARTS 4 HANDS-ON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250960" y="2538710"/>
            <a:ext cx="6306319" cy="906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450" spc="-116" kern="0" dirty="0">
                <a:solidFill>
                  <a:srgbClr val="F4EFE6">
                    <a:alpha val="3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Skills</a:t>
            </a:r>
            <a:endParaRPr lang="en-US" sz="6450" dirty="0"/>
          </a:p>
        </p:txBody>
      </p:sp>
      <p:sp>
        <p:nvSpPr>
          <p:cNvPr id="12" name="Text 9"/>
          <p:cNvSpPr/>
          <p:nvPr/>
        </p:nvSpPr>
        <p:spPr>
          <a:xfrm>
            <a:off x="11250960" y="3406973"/>
            <a:ext cx="6306319" cy="906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450" spc="-116" kern="0" dirty="0">
                <a:solidFill>
                  <a:srgbClr val="F4EFE6">
                    <a:alpha val="3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Commands</a:t>
            </a:r>
            <a:endParaRPr lang="en-US" sz="6450" dirty="0"/>
          </a:p>
        </p:txBody>
      </p:sp>
      <p:sp>
        <p:nvSpPr>
          <p:cNvPr id="13" name="Text 10"/>
          <p:cNvSpPr/>
          <p:nvPr/>
        </p:nvSpPr>
        <p:spPr>
          <a:xfrm>
            <a:off x="11250960" y="4275237"/>
            <a:ext cx="6306319" cy="906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450" spc="-116" kern="0" dirty="0">
                <a:solidFill>
                  <a:srgbClr val="F4EFE6">
                    <a:alpha val="3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Hooks</a:t>
            </a:r>
            <a:endParaRPr lang="en-US" sz="6450" dirty="0"/>
          </a:p>
        </p:txBody>
      </p:sp>
      <p:sp>
        <p:nvSpPr>
          <p:cNvPr id="14" name="Text 11"/>
          <p:cNvSpPr/>
          <p:nvPr/>
        </p:nvSpPr>
        <p:spPr>
          <a:xfrm>
            <a:off x="11250960" y="5143500"/>
            <a:ext cx="6306319" cy="906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450" spc="-116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Plugins</a:t>
            </a:r>
            <a:pPr algn="l" indent="0" marL="0">
              <a:lnSpc>
                <a:spcPct val="106000"/>
              </a:lnSpc>
              <a:buNone/>
            </a:pPr>
            <a:r>
              <a:rPr lang="en-US" sz="6450" spc="-116" kern="0" dirty="0">
                <a:solidFill>
                  <a:srgbClr val="F4EFE6">
                    <a:alpha val="3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6450" dirty="0"/>
          </a:p>
        </p:txBody>
      </p:sp>
      <p:sp>
        <p:nvSpPr>
          <p:cNvPr id="15" name="Text 12"/>
          <p:cNvSpPr/>
          <p:nvPr/>
        </p:nvSpPr>
        <p:spPr>
          <a:xfrm>
            <a:off x="11250960" y="6011763"/>
            <a:ext cx="6306319" cy="906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450" spc="-116" kern="0" dirty="0">
                <a:solidFill>
                  <a:srgbClr val="F4EFE6">
                    <a:alpha val="3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Agents</a:t>
            </a:r>
            <a:endParaRPr lang="en-US" sz="6450" dirty="0"/>
          </a:p>
        </p:txBody>
      </p:sp>
      <p:sp>
        <p:nvSpPr>
          <p:cNvPr id="16" name="Text 13"/>
          <p:cNvSpPr/>
          <p:nvPr/>
        </p:nvSpPr>
        <p:spPr>
          <a:xfrm>
            <a:off x="11250960" y="6880027"/>
            <a:ext cx="6306319" cy="906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450" spc="-116" kern="0" dirty="0">
                <a:solidFill>
                  <a:srgbClr val="F4EFE6">
                    <a:alpha val="3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MCP</a:t>
            </a:r>
            <a:endParaRPr lang="en-US" sz="6450" dirty="0"/>
          </a:p>
        </p:txBody>
      </p:sp>
      <p:sp>
        <p:nvSpPr>
          <p:cNvPr id="17" name="Text 14"/>
          <p:cNvSpPr/>
          <p:nvPr/>
        </p:nvSpPr>
        <p:spPr>
          <a:xfrm>
            <a:off x="11250960" y="8651974"/>
            <a:ext cx="1740545" cy="453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89" kern="0" dirty="0">
                <a:solidFill>
                  <a:srgbClr val="F4EFE6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SIX CAPABILITIES ONE ROOF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6049179" y="8651974"/>
            <a:ext cx="1324421" cy="453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6000"/>
              </a:lnSpc>
              <a:buNone/>
            </a:pPr>
            <a:r>
              <a:rPr lang="en-US" sz="1050" spc="189" kern="0" dirty="0">
                <a:solidFill>
                  <a:srgbClr val="F4EFE6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BEGINNER → INTERMEDIATE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208225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TODAY'S SESSION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we'll cover.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219200" y="3620244"/>
            <a:ext cx="3762375" cy="5752356"/>
          </a:xfrm>
          <a:prstGeom prst="roundRect">
            <a:avLst>
              <a:gd name="adj" fmla="val 3544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09725" y="3972669"/>
            <a:ext cx="30707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spc="-4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1609725" y="4487019"/>
            <a:ext cx="307076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Foundations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609725" y="4919365"/>
            <a:ext cx="307076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six capabilities · comparison table · the quick decision rule.</a:t>
            </a:r>
            <a:endParaRPr lang="en-US" sz="1425" dirty="0"/>
          </a:p>
        </p:txBody>
      </p:sp>
      <p:sp>
        <p:nvSpPr>
          <p:cNvPr id="13" name="Shape 10"/>
          <p:cNvSpPr/>
          <p:nvPr/>
        </p:nvSpPr>
        <p:spPr>
          <a:xfrm>
            <a:off x="1609725" y="5671840"/>
            <a:ext cx="1075283" cy="341263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52600" y="5738515"/>
            <a:ext cx="865733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10 MIN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248275" y="3620244"/>
            <a:ext cx="3762375" cy="5752356"/>
          </a:xfrm>
          <a:prstGeom prst="roundRect">
            <a:avLst>
              <a:gd name="adj" fmla="val 3544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38800" y="3972669"/>
            <a:ext cx="30707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spc="-4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50" dirty="0"/>
          </a:p>
        </p:txBody>
      </p:sp>
      <p:sp>
        <p:nvSpPr>
          <p:cNvPr id="17" name="Text 14"/>
          <p:cNvSpPr/>
          <p:nvPr/>
        </p:nvSpPr>
        <p:spPr>
          <a:xfrm>
            <a:off x="5638800" y="4487019"/>
            <a:ext cx="307076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your own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5638800" y="4919365"/>
            <a:ext cx="307076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11" spc="-7" kern="0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plugin-dev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</a:t>
            </a:r>
            <a:pPr algn="l" indent="0" marL="0">
              <a:lnSpc>
                <a:spcPct val="150000"/>
              </a:lnSpc>
              <a:buNone/>
            </a:pPr>
            <a:r>
              <a:rPr lang="en-US" sz="1311" spc="-7" kern="0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skill-creator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when to use which.</a:t>
            </a:r>
            <a:endParaRPr lang="en-US" sz="1425" dirty="0"/>
          </a:p>
        </p:txBody>
      </p:sp>
      <p:sp>
        <p:nvSpPr>
          <p:cNvPr id="19" name="Shape 16"/>
          <p:cNvSpPr/>
          <p:nvPr/>
        </p:nvSpPr>
        <p:spPr>
          <a:xfrm>
            <a:off x="5638800" y="5671840"/>
            <a:ext cx="976610" cy="341263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81675" y="5738515"/>
            <a:ext cx="767060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8 MIN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277350" y="3620244"/>
            <a:ext cx="3762375" cy="5752356"/>
          </a:xfrm>
          <a:prstGeom prst="roundRect">
            <a:avLst>
              <a:gd name="adj" fmla="val 3544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67875" y="3972669"/>
            <a:ext cx="30707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spc="-4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50" dirty="0"/>
          </a:p>
        </p:txBody>
      </p:sp>
      <p:sp>
        <p:nvSpPr>
          <p:cNvPr id="23" name="Text 20"/>
          <p:cNvSpPr/>
          <p:nvPr/>
        </p:nvSpPr>
        <p:spPr>
          <a:xfrm>
            <a:off x="9667875" y="4487019"/>
            <a:ext cx="307076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LegalZoom demo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9667875" y="4919365"/>
            <a:ext cx="307076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</a:t>
            </a:r>
            <a:pPr algn="l" indent="0" marL="0">
              <a:lnSpc>
                <a:spcPct val="150000"/>
              </a:lnSpc>
              <a:buNone/>
            </a:pPr>
            <a:r>
              <a:rPr lang="en-US" sz="1311" spc="-7" kern="0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/review-contract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against a 4-page service agreement.</a:t>
            </a:r>
            <a:endParaRPr lang="en-US" sz="1425" dirty="0"/>
          </a:p>
        </p:txBody>
      </p:sp>
      <p:sp>
        <p:nvSpPr>
          <p:cNvPr id="25" name="Shape 22"/>
          <p:cNvSpPr/>
          <p:nvPr/>
        </p:nvSpPr>
        <p:spPr>
          <a:xfrm>
            <a:off x="9667875" y="5671840"/>
            <a:ext cx="1963341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26" name="Text 23"/>
          <p:cNvSpPr/>
          <p:nvPr/>
        </p:nvSpPr>
        <p:spPr>
          <a:xfrm>
            <a:off x="9810750" y="5738515"/>
            <a:ext cx="1753791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 · 12 MIN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13306425" y="3620244"/>
            <a:ext cx="3762375" cy="5752356"/>
          </a:xfrm>
          <a:prstGeom prst="roundRect">
            <a:avLst>
              <a:gd name="adj" fmla="val 3544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696950" y="3972669"/>
            <a:ext cx="30707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spc="-4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850" dirty="0"/>
          </a:p>
        </p:txBody>
      </p:sp>
      <p:sp>
        <p:nvSpPr>
          <p:cNvPr id="29" name="Text 26"/>
          <p:cNvSpPr/>
          <p:nvPr/>
        </p:nvSpPr>
        <p:spPr>
          <a:xfrm>
            <a:off x="13696950" y="4487019"/>
            <a:ext cx="307076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ecosystem</a:t>
            </a:r>
            <a:endParaRPr lang="en-US" sz="2250" dirty="0"/>
          </a:p>
        </p:txBody>
      </p:sp>
      <p:sp>
        <p:nvSpPr>
          <p:cNvPr id="30" name="Text 27"/>
          <p:cNvSpPr/>
          <p:nvPr/>
        </p:nvSpPr>
        <p:spPr>
          <a:xfrm>
            <a:off x="13696950" y="4919365"/>
            <a:ext cx="307076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plugins · developer plugins · pick one and try it.</a:t>
            </a:r>
            <a:endParaRPr lang="en-US" sz="1425" dirty="0"/>
          </a:p>
        </p:txBody>
      </p:sp>
      <p:sp>
        <p:nvSpPr>
          <p:cNvPr id="31" name="Shape 28"/>
          <p:cNvSpPr/>
          <p:nvPr/>
        </p:nvSpPr>
        <p:spPr>
          <a:xfrm>
            <a:off x="13696950" y="5671840"/>
            <a:ext cx="1963341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32" name="Text 29"/>
          <p:cNvSpPr/>
          <p:nvPr/>
        </p:nvSpPr>
        <p:spPr>
          <a:xfrm>
            <a:off x="13839825" y="5738515"/>
            <a:ext cx="1753791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 · 15 MIN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30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219200" y="3112740"/>
            <a:ext cx="5203683" cy="409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9000" spc="-117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9000" dirty="0"/>
          </a:p>
        </p:txBody>
      </p:sp>
      <p:sp>
        <p:nvSpPr>
          <p:cNvPr id="7" name="Shape 4"/>
          <p:cNvSpPr/>
          <p:nvPr/>
        </p:nvSpPr>
        <p:spPr>
          <a:xfrm>
            <a:off x="7185720" y="3915073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7376220" y="3838575"/>
            <a:ext cx="11461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ONE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85720" y="4391769"/>
            <a:ext cx="804481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Foundations.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7185720" y="5610969"/>
            <a:ext cx="8044815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capabilities sit under the same roof. Knowing which is which is half the battle.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30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33059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TOPIC 01 · THE LANDSCAPE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Six things, one roof.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219200" y="3544044"/>
            <a:ext cx="5130701" cy="2799904"/>
          </a:xfrm>
          <a:prstGeom prst="roundRect">
            <a:avLst>
              <a:gd name="adj" fmla="val 4763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09725" y="3896469"/>
            <a:ext cx="44801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609725" y="4334619"/>
            <a:ext cx="448014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Skills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609725" y="4766965"/>
            <a:ext cx="448014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Reusable instruction packs (</a:t>
            </a:r>
            <a:pPr algn="l" indent="0" marL="0">
              <a:lnSpc>
                <a:spcPct val="150000"/>
              </a:lnSpc>
              <a:buNone/>
            </a:pPr>
            <a:r>
              <a:rPr lang="en-US" sz="1311" spc="-7" kern="0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that teach Claude a workflow or domain behaviour.</a:t>
            </a:r>
            <a:endParaRPr lang="en-US" sz="1425" dirty="0"/>
          </a:p>
        </p:txBody>
      </p:sp>
      <p:sp>
        <p:nvSpPr>
          <p:cNvPr id="13" name="Shape 10"/>
          <p:cNvSpPr/>
          <p:nvPr/>
        </p:nvSpPr>
        <p:spPr>
          <a:xfrm>
            <a:off x="6578501" y="3544044"/>
            <a:ext cx="5130850" cy="2799904"/>
          </a:xfrm>
          <a:prstGeom prst="roundRect">
            <a:avLst>
              <a:gd name="adj" fmla="val 4763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69026" y="3896469"/>
            <a:ext cx="44802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969026" y="4334619"/>
            <a:ext cx="448029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Commands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6969026" y="4766965"/>
            <a:ext cx="4480294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Slash-style runnable prompts. One-click repeatability for common actions.</a:t>
            </a:r>
            <a:endParaRPr lang="en-US" sz="1425" dirty="0"/>
          </a:p>
        </p:txBody>
      </p:sp>
      <p:sp>
        <p:nvSpPr>
          <p:cNvPr id="17" name="Shape 14"/>
          <p:cNvSpPr/>
          <p:nvPr/>
        </p:nvSpPr>
        <p:spPr>
          <a:xfrm>
            <a:off x="11937950" y="3544044"/>
            <a:ext cx="5130850" cy="2799904"/>
          </a:xfrm>
          <a:prstGeom prst="roundRect">
            <a:avLst>
              <a:gd name="adj" fmla="val 4763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328475" y="3896469"/>
            <a:ext cx="44802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2328475" y="4334619"/>
            <a:ext cx="448029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Hooks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12328475" y="4766965"/>
            <a:ext cx="4480294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Event-driven automation points — guardrails, auto-validation, policy checks in the flow.</a:t>
            </a:r>
            <a:endParaRPr lang="en-US" sz="1425" dirty="0"/>
          </a:p>
        </p:txBody>
      </p:sp>
      <p:sp>
        <p:nvSpPr>
          <p:cNvPr id="21" name="Shape 18"/>
          <p:cNvSpPr/>
          <p:nvPr/>
        </p:nvSpPr>
        <p:spPr>
          <a:xfrm>
            <a:off x="1219200" y="6572548"/>
            <a:ext cx="5130701" cy="2800052"/>
          </a:xfrm>
          <a:prstGeom prst="roundRect">
            <a:avLst>
              <a:gd name="adj" fmla="val 4762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09725" y="6924973"/>
            <a:ext cx="44801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609725" y="7363123"/>
            <a:ext cx="448014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Plugins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1609725" y="7795468"/>
            <a:ext cx="448014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Bundles of skills, commands, hooks and config — portable across projects and teams.</a:t>
            </a:r>
            <a:endParaRPr lang="en-US" sz="1425" dirty="0"/>
          </a:p>
        </p:txBody>
      </p:sp>
      <p:sp>
        <p:nvSpPr>
          <p:cNvPr id="25" name="Shape 22"/>
          <p:cNvSpPr/>
          <p:nvPr/>
        </p:nvSpPr>
        <p:spPr>
          <a:xfrm>
            <a:off x="6578501" y="6572548"/>
            <a:ext cx="5130850" cy="2800052"/>
          </a:xfrm>
          <a:prstGeom prst="roundRect">
            <a:avLst>
              <a:gd name="adj" fmla="val 4762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69026" y="6924973"/>
            <a:ext cx="44802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6969026" y="7363123"/>
            <a:ext cx="448029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Agents</a:t>
            </a:r>
            <a:endParaRPr lang="en-US" sz="2250" dirty="0"/>
          </a:p>
        </p:txBody>
      </p:sp>
      <p:sp>
        <p:nvSpPr>
          <p:cNvPr id="28" name="Text 25"/>
          <p:cNvSpPr/>
          <p:nvPr/>
        </p:nvSpPr>
        <p:spPr>
          <a:xfrm>
            <a:off x="6969026" y="7795468"/>
            <a:ext cx="4480294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Specialised assistants with scoped instructions and roles — researcher, reviewer, drafter.</a:t>
            </a:r>
            <a:endParaRPr lang="en-US" sz="1425" dirty="0"/>
          </a:p>
        </p:txBody>
      </p:sp>
      <p:sp>
        <p:nvSpPr>
          <p:cNvPr id="29" name="Shape 26"/>
          <p:cNvSpPr/>
          <p:nvPr/>
        </p:nvSpPr>
        <p:spPr>
          <a:xfrm>
            <a:off x="11937950" y="6572548"/>
            <a:ext cx="5130850" cy="2800052"/>
          </a:xfrm>
          <a:prstGeom prst="roundRect">
            <a:avLst>
              <a:gd name="adj" fmla="val 4762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2328475" y="6924973"/>
            <a:ext cx="44802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12328475" y="7363123"/>
            <a:ext cx="448029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Connectors / MCP</a:t>
            </a:r>
            <a:endParaRPr lang="en-US" sz="2250" dirty="0"/>
          </a:p>
        </p:txBody>
      </p:sp>
      <p:sp>
        <p:nvSpPr>
          <p:cNvPr id="32" name="Text 29"/>
          <p:cNvSpPr/>
          <p:nvPr/>
        </p:nvSpPr>
        <p:spPr>
          <a:xfrm>
            <a:off x="12328475" y="7795468"/>
            <a:ext cx="4480294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data &amp; tool connections — GDrive, Gmail, APIs, enterprise systems via MCP servers.</a:t>
            </a:r>
            <a:endParaRPr lang="en-US" sz="1425" dirty="0"/>
          </a:p>
        </p:txBody>
      </p:sp>
      <p:sp>
        <p:nvSpPr>
          <p:cNvPr id="33" name="Text 30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30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14135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MATRIX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58144"/>
            <a:ext cx="16325088" cy="146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six capabilities — where each one is supported.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1219200" y="4345037"/>
            <a:ext cx="2218879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390650" y="4017913"/>
            <a:ext cx="1952179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spc="17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CAPABILITY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3438079" y="4345037"/>
            <a:ext cx="4120753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609529" y="4017913"/>
            <a:ext cx="3901476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spc="17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13" name="Shape 10"/>
          <p:cNvSpPr/>
          <p:nvPr/>
        </p:nvSpPr>
        <p:spPr>
          <a:xfrm>
            <a:off x="7558832" y="4345037"/>
            <a:ext cx="4754761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730282" y="4017913"/>
            <a:ext cx="4554504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spc="17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WHEN TO REACH FOR IT</a:t>
            </a:r>
            <a:endParaRPr lang="en-US" sz="975" dirty="0"/>
          </a:p>
        </p:txBody>
      </p:sp>
      <p:sp>
        <p:nvSpPr>
          <p:cNvPr id="15" name="Shape 12"/>
          <p:cNvSpPr/>
          <p:nvPr/>
        </p:nvSpPr>
        <p:spPr>
          <a:xfrm>
            <a:off x="12313593" y="4345037"/>
            <a:ext cx="237738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2485043" y="4017913"/>
            <a:ext cx="2110680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spc="17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CLAUDE.AI</a:t>
            </a:r>
            <a:endParaRPr lang="en-US" sz="975" dirty="0"/>
          </a:p>
        </p:txBody>
      </p:sp>
      <p:sp>
        <p:nvSpPr>
          <p:cNvPr id="17" name="Shape 14"/>
          <p:cNvSpPr/>
          <p:nvPr/>
        </p:nvSpPr>
        <p:spPr>
          <a:xfrm>
            <a:off x="14690973" y="4345037"/>
            <a:ext cx="2377827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4862423" y="4017913"/>
            <a:ext cx="2111127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spc="17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 / DESKTOP</a:t>
            </a:r>
            <a:endParaRPr lang="en-US" sz="975" dirty="0"/>
          </a:p>
        </p:txBody>
      </p:sp>
      <p:sp>
        <p:nvSpPr>
          <p:cNvPr id="19" name="Shape 16"/>
          <p:cNvSpPr/>
          <p:nvPr/>
        </p:nvSpPr>
        <p:spPr>
          <a:xfrm>
            <a:off x="1219200" y="5243066"/>
            <a:ext cx="2218879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1390650" y="4564112"/>
            <a:ext cx="1952179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Skills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3438079" y="5243066"/>
            <a:ext cx="4120753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3609529" y="4564112"/>
            <a:ext cx="3901476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Reusable instruction packs (SKILL.md) for a workflow or domain.</a:t>
            </a:r>
            <a:endParaRPr lang="en-US" sz="1275" dirty="0"/>
          </a:p>
        </p:txBody>
      </p:sp>
      <p:sp>
        <p:nvSpPr>
          <p:cNvPr id="23" name="Shape 20"/>
          <p:cNvSpPr/>
          <p:nvPr/>
        </p:nvSpPr>
        <p:spPr>
          <a:xfrm>
            <a:off x="7558832" y="5243066"/>
            <a:ext cx="4754761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7730282" y="4564112"/>
            <a:ext cx="4554504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handling of recurring tasks — inbox triage, doc drafting patterns.</a:t>
            </a:r>
            <a:endParaRPr lang="en-US" sz="1275" dirty="0"/>
          </a:p>
        </p:txBody>
      </p:sp>
      <p:sp>
        <p:nvSpPr>
          <p:cNvPr id="25" name="Shape 22"/>
          <p:cNvSpPr/>
          <p:nvPr/>
        </p:nvSpPr>
        <p:spPr>
          <a:xfrm>
            <a:off x="12313593" y="5243066"/>
            <a:ext cx="2377380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2485043" y="4606975"/>
            <a:ext cx="7483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2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LIMITED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14690973" y="5243066"/>
            <a:ext cx="2377827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14862423" y="4606975"/>
            <a:ext cx="113243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26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FIRST-CLASS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219200" y="5975449"/>
            <a:ext cx="2218879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1390650" y="5462141"/>
            <a:ext cx="1952179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Commands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3438079" y="5975449"/>
            <a:ext cx="4120753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3609529" y="5462141"/>
            <a:ext cx="3901476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Slash-style runnable prompts and templates.</a:t>
            </a:r>
            <a:endParaRPr lang="en-US" sz="1275" dirty="0"/>
          </a:p>
        </p:txBody>
      </p:sp>
      <p:sp>
        <p:nvSpPr>
          <p:cNvPr id="33" name="Shape 30"/>
          <p:cNvSpPr/>
          <p:nvPr/>
        </p:nvSpPr>
        <p:spPr>
          <a:xfrm>
            <a:off x="7558832" y="5975449"/>
            <a:ext cx="4754761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7730282" y="5462141"/>
            <a:ext cx="455450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One-click repeatability for the same action you do a lot.</a:t>
            </a:r>
            <a:endParaRPr lang="en-US" sz="1275" dirty="0"/>
          </a:p>
        </p:txBody>
      </p:sp>
      <p:sp>
        <p:nvSpPr>
          <p:cNvPr id="35" name="Shape 32"/>
          <p:cNvSpPr/>
          <p:nvPr/>
        </p:nvSpPr>
        <p:spPr>
          <a:xfrm>
            <a:off x="12313593" y="5975449"/>
            <a:ext cx="2377380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12485043" y="5505004"/>
            <a:ext cx="7483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2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PARTIAL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14690973" y="5975449"/>
            <a:ext cx="2377827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14862423" y="5505004"/>
            <a:ext cx="36433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26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YES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1219200" y="6873478"/>
            <a:ext cx="2218879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1390650" y="6194524"/>
            <a:ext cx="1952179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Hooks</a:t>
            </a:r>
            <a:endParaRPr lang="en-US" sz="1650" dirty="0"/>
          </a:p>
        </p:txBody>
      </p:sp>
      <p:sp>
        <p:nvSpPr>
          <p:cNvPr id="41" name="Shape 38"/>
          <p:cNvSpPr/>
          <p:nvPr/>
        </p:nvSpPr>
        <p:spPr>
          <a:xfrm>
            <a:off x="3438079" y="6873478"/>
            <a:ext cx="4120753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3609529" y="6194524"/>
            <a:ext cx="3901476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Event-driven automation — run logic before / after actions.</a:t>
            </a:r>
            <a:endParaRPr lang="en-US" sz="1275" dirty="0"/>
          </a:p>
        </p:txBody>
      </p:sp>
      <p:sp>
        <p:nvSpPr>
          <p:cNvPr id="43" name="Shape 40"/>
          <p:cNvSpPr/>
          <p:nvPr/>
        </p:nvSpPr>
        <p:spPr>
          <a:xfrm>
            <a:off x="7558832" y="6873478"/>
            <a:ext cx="4754761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7730282" y="6194524"/>
            <a:ext cx="4554504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Guardrails, auto-validation, or policy checks in flow.</a:t>
            </a:r>
            <a:endParaRPr lang="en-US" sz="1275" dirty="0"/>
          </a:p>
        </p:txBody>
      </p:sp>
      <p:sp>
        <p:nvSpPr>
          <p:cNvPr id="45" name="Shape 42"/>
          <p:cNvSpPr/>
          <p:nvPr/>
        </p:nvSpPr>
        <p:spPr>
          <a:xfrm>
            <a:off x="12313593" y="6873478"/>
            <a:ext cx="2377380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12485043" y="6237387"/>
            <a:ext cx="16124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26" kern="0" dirty="0">
                <a:solidFill>
                  <a:srgbClr val="A8A0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DIRECT CONFIG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14690973" y="6873478"/>
            <a:ext cx="2377827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14862423" y="6237387"/>
            <a:ext cx="15164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26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SUPPORTED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1219200" y="7771507"/>
            <a:ext cx="2218879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1390650" y="7092553"/>
            <a:ext cx="1952179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Plugins</a:t>
            </a:r>
            <a:endParaRPr lang="en-US" sz="1650" dirty="0"/>
          </a:p>
        </p:txBody>
      </p:sp>
      <p:sp>
        <p:nvSpPr>
          <p:cNvPr id="51" name="Shape 48"/>
          <p:cNvSpPr/>
          <p:nvPr/>
        </p:nvSpPr>
        <p:spPr>
          <a:xfrm>
            <a:off x="3438079" y="7771507"/>
            <a:ext cx="4120753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3609529" y="7092553"/>
            <a:ext cx="3901476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Bundles of skills, tools and config, packaged together.</a:t>
            </a:r>
            <a:endParaRPr lang="en-US" sz="1275" dirty="0"/>
          </a:p>
        </p:txBody>
      </p:sp>
      <p:sp>
        <p:nvSpPr>
          <p:cNvPr id="53" name="Shape 50"/>
          <p:cNvSpPr/>
          <p:nvPr/>
        </p:nvSpPr>
        <p:spPr>
          <a:xfrm>
            <a:off x="7558832" y="7771507"/>
            <a:ext cx="4754761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7730282" y="7092553"/>
            <a:ext cx="4554504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Portable capabilities across projects and teams.</a:t>
            </a:r>
            <a:endParaRPr lang="en-US" sz="1275" dirty="0"/>
          </a:p>
        </p:txBody>
      </p:sp>
      <p:sp>
        <p:nvSpPr>
          <p:cNvPr id="55" name="Shape 52"/>
          <p:cNvSpPr/>
          <p:nvPr/>
        </p:nvSpPr>
        <p:spPr>
          <a:xfrm>
            <a:off x="12313593" y="7771507"/>
            <a:ext cx="2377380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56" name="Text 53"/>
          <p:cNvSpPr/>
          <p:nvPr/>
        </p:nvSpPr>
        <p:spPr>
          <a:xfrm>
            <a:off x="12485043" y="7135416"/>
            <a:ext cx="7483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2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LIMITED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14690973" y="7771507"/>
            <a:ext cx="2377827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14862423" y="7135416"/>
            <a:ext cx="10364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26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 MODEL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1219200" y="8669536"/>
            <a:ext cx="2218879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60" name="Text 57"/>
          <p:cNvSpPr/>
          <p:nvPr/>
        </p:nvSpPr>
        <p:spPr>
          <a:xfrm>
            <a:off x="1390650" y="7990582"/>
            <a:ext cx="1952179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Agents</a:t>
            </a:r>
            <a:endParaRPr lang="en-US" sz="1650" dirty="0"/>
          </a:p>
        </p:txBody>
      </p:sp>
      <p:sp>
        <p:nvSpPr>
          <p:cNvPr id="61" name="Shape 58"/>
          <p:cNvSpPr/>
          <p:nvPr/>
        </p:nvSpPr>
        <p:spPr>
          <a:xfrm>
            <a:off x="3438079" y="8669536"/>
            <a:ext cx="4120753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62" name="Text 59"/>
          <p:cNvSpPr/>
          <p:nvPr/>
        </p:nvSpPr>
        <p:spPr>
          <a:xfrm>
            <a:off x="3609529" y="7990582"/>
            <a:ext cx="3901476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Specialised assistants with scoped instructions / roles.</a:t>
            </a:r>
            <a:endParaRPr lang="en-US" sz="1275" dirty="0"/>
          </a:p>
        </p:txBody>
      </p:sp>
      <p:sp>
        <p:nvSpPr>
          <p:cNvPr id="63" name="Shape 60"/>
          <p:cNvSpPr/>
          <p:nvPr/>
        </p:nvSpPr>
        <p:spPr>
          <a:xfrm>
            <a:off x="7558832" y="8669536"/>
            <a:ext cx="4754761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64" name="Text 61"/>
          <p:cNvSpPr/>
          <p:nvPr/>
        </p:nvSpPr>
        <p:spPr>
          <a:xfrm>
            <a:off x="7730282" y="7990582"/>
            <a:ext cx="4554504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Decomposing work by role — researcher, reviewer, drafter.</a:t>
            </a:r>
            <a:endParaRPr lang="en-US" sz="1275" dirty="0"/>
          </a:p>
        </p:txBody>
      </p:sp>
      <p:sp>
        <p:nvSpPr>
          <p:cNvPr id="65" name="Shape 62"/>
          <p:cNvSpPr/>
          <p:nvPr/>
        </p:nvSpPr>
        <p:spPr>
          <a:xfrm>
            <a:off x="12313593" y="8669536"/>
            <a:ext cx="2377380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12485043" y="8033445"/>
            <a:ext cx="36433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26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YES</a:t>
            </a:r>
            <a:endParaRPr lang="en-US" sz="1050" dirty="0"/>
          </a:p>
        </p:txBody>
      </p:sp>
      <p:sp>
        <p:nvSpPr>
          <p:cNvPr id="67" name="Shape 64"/>
          <p:cNvSpPr/>
          <p:nvPr/>
        </p:nvSpPr>
        <p:spPr>
          <a:xfrm>
            <a:off x="14690973" y="8669536"/>
            <a:ext cx="2377827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68" name="Text 65"/>
          <p:cNvSpPr/>
          <p:nvPr/>
        </p:nvSpPr>
        <p:spPr>
          <a:xfrm>
            <a:off x="14862423" y="8033445"/>
            <a:ext cx="36433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26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YES</a:t>
            </a:r>
            <a:endParaRPr lang="en-US" sz="1050" dirty="0"/>
          </a:p>
        </p:txBody>
      </p:sp>
      <p:sp>
        <p:nvSpPr>
          <p:cNvPr id="69" name="Text 66"/>
          <p:cNvSpPr/>
          <p:nvPr/>
        </p:nvSpPr>
        <p:spPr>
          <a:xfrm>
            <a:off x="1390650" y="8888611"/>
            <a:ext cx="1952179" cy="512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Connectors / MCP</a:t>
            </a:r>
            <a:endParaRPr lang="en-US" sz="1650" dirty="0"/>
          </a:p>
        </p:txBody>
      </p:sp>
      <p:sp>
        <p:nvSpPr>
          <p:cNvPr id="70" name="Text 67"/>
          <p:cNvSpPr/>
          <p:nvPr/>
        </p:nvSpPr>
        <p:spPr>
          <a:xfrm>
            <a:off x="3609529" y="8888611"/>
            <a:ext cx="3901476" cy="512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data &amp; tool connections via MCP servers / connectors.</a:t>
            </a:r>
            <a:endParaRPr lang="en-US" sz="1275" dirty="0"/>
          </a:p>
        </p:txBody>
      </p:sp>
      <p:sp>
        <p:nvSpPr>
          <p:cNvPr id="71" name="Text 68"/>
          <p:cNvSpPr/>
          <p:nvPr/>
        </p:nvSpPr>
        <p:spPr>
          <a:xfrm>
            <a:off x="7730282" y="8888611"/>
            <a:ext cx="4554504" cy="512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data, actions, or enterprise system access.</a:t>
            </a:r>
            <a:endParaRPr lang="en-US" sz="1275" dirty="0"/>
          </a:p>
        </p:txBody>
      </p:sp>
      <p:sp>
        <p:nvSpPr>
          <p:cNvPr id="72" name="Text 69"/>
          <p:cNvSpPr/>
          <p:nvPr/>
        </p:nvSpPr>
        <p:spPr>
          <a:xfrm>
            <a:off x="12485043" y="8931473"/>
            <a:ext cx="6523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26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HOSTED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14862423" y="8931473"/>
            <a:ext cx="1420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26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 + HOSTED</a:t>
            </a:r>
            <a:endParaRPr lang="en-US" sz="1050" dirty="0"/>
          </a:p>
        </p:txBody>
      </p:sp>
      <p:sp>
        <p:nvSpPr>
          <p:cNvPr id="74" name="Text 71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30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19484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QUICK RULE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Pick by what you need.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219200" y="3467844"/>
            <a:ext cx="158496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219200" y="3886944"/>
            <a:ext cx="6096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125" b="1" spc="180" kern="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2057400" y="3725019"/>
            <a:ext cx="793444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2250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Need external data or tools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0065544" y="3810744"/>
            <a:ext cx="7213354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C95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connectors / MCP.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219200" y="4418409"/>
            <a:ext cx="158496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219200" y="4837509"/>
            <a:ext cx="6096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125" b="1" spc="180" kern="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2057400" y="4675584"/>
            <a:ext cx="793444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2250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Need repeatable workflow behaviour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0065544" y="4761309"/>
            <a:ext cx="7213354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C95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skills.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219200" y="5368975"/>
            <a:ext cx="158496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219200" y="5788075"/>
            <a:ext cx="6096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125" b="1" spc="180" kern="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2057400" y="5626150"/>
            <a:ext cx="793444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2250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Need a fast reusable trigger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10065544" y="5711875"/>
            <a:ext cx="7213354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C95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commands.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1219200" y="6319540"/>
            <a:ext cx="158496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219200" y="6738640"/>
            <a:ext cx="6096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125" b="1" spc="180" kern="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2057400" y="6576715"/>
            <a:ext cx="793444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2250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Need automatic enforcement or QA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10065544" y="6662440"/>
            <a:ext cx="7213354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C95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hooks.</a:t>
            </a:r>
            <a:endParaRPr lang="en-US" sz="1650" dirty="0"/>
          </a:p>
        </p:txBody>
      </p:sp>
      <p:sp>
        <p:nvSpPr>
          <p:cNvPr id="25" name="Shape 22"/>
          <p:cNvSpPr/>
          <p:nvPr/>
        </p:nvSpPr>
        <p:spPr>
          <a:xfrm>
            <a:off x="1219200" y="7270105"/>
            <a:ext cx="158496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219200" y="7689205"/>
            <a:ext cx="6096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125" b="1" spc="180" kern="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2057400" y="7527280"/>
            <a:ext cx="793444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2250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Need packaged distribution</a:t>
            </a:r>
            <a:endParaRPr lang="en-US" sz="2250" dirty="0"/>
          </a:p>
        </p:txBody>
      </p:sp>
      <p:sp>
        <p:nvSpPr>
          <p:cNvPr id="28" name="Text 25"/>
          <p:cNvSpPr/>
          <p:nvPr/>
        </p:nvSpPr>
        <p:spPr>
          <a:xfrm>
            <a:off x="10065544" y="7613005"/>
            <a:ext cx="7213354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C95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plugins.</a:t>
            </a:r>
            <a:endParaRPr lang="en-US" sz="1650" dirty="0"/>
          </a:p>
        </p:txBody>
      </p:sp>
      <p:sp>
        <p:nvSpPr>
          <p:cNvPr id="29" name="Shape 26"/>
          <p:cNvSpPr/>
          <p:nvPr/>
        </p:nvSpPr>
        <p:spPr>
          <a:xfrm>
            <a:off x="1219200" y="8220670"/>
            <a:ext cx="158496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1219200" y="8639770"/>
            <a:ext cx="6096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125" b="1" spc="180" kern="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2057400" y="8477845"/>
            <a:ext cx="793444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2250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Need task specialisation or delegation</a:t>
            </a:r>
            <a:endParaRPr lang="en-US" sz="2250" dirty="0"/>
          </a:p>
        </p:txBody>
      </p:sp>
      <p:sp>
        <p:nvSpPr>
          <p:cNvPr id="32" name="Text 29"/>
          <p:cNvSpPr/>
          <p:nvPr/>
        </p:nvSpPr>
        <p:spPr>
          <a:xfrm>
            <a:off x="10065544" y="8563570"/>
            <a:ext cx="7213354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C95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agents.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219200" y="9171236"/>
            <a:ext cx="158496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30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11461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SURFACES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places, two postures.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1219200" y="3239244"/>
            <a:ext cx="12753975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words mean different things in different surfaces. Most of this workshop is in Code / Desktop because that's where the full plugin model lives.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219200" y="4638229"/>
            <a:ext cx="7734300" cy="4734371"/>
          </a:xfrm>
          <a:prstGeom prst="roundRect">
            <a:avLst>
              <a:gd name="adj" fmla="val 2817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85925" y="5066854"/>
            <a:ext cx="1173956" cy="341263"/>
          </a:xfrm>
          <a:prstGeom prst="roundRect">
            <a:avLst>
              <a:gd name="adj" fmla="val 50000"/>
            </a:avLst>
          </a:prstGeom>
          <a:solidFill>
            <a:srgbClr val="DDE9E2"/>
          </a:solidFill>
          <a:ln/>
        </p:spPr>
      </p:sp>
      <p:sp>
        <p:nvSpPr>
          <p:cNvPr id="12" name="Text 9"/>
          <p:cNvSpPr/>
          <p:nvPr/>
        </p:nvSpPr>
        <p:spPr>
          <a:xfrm>
            <a:off x="1828800" y="5133529"/>
            <a:ext cx="964406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CLAUDE.AI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685925" y="5598616"/>
            <a:ext cx="7004876" cy="4426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700" b="1" spc="-32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Hosted &amp; managed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1685925" y="6136481"/>
            <a:ext cx="700487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spc="-8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and connectors are first-class — the rest is managed for you. You enable a plugin from the directory; you don't author its files.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1685925" y="7003256"/>
            <a:ext cx="877937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16" name="Text 13"/>
          <p:cNvSpPr/>
          <p:nvPr/>
        </p:nvSpPr>
        <p:spPr>
          <a:xfrm>
            <a:off x="1828800" y="7069931"/>
            <a:ext cx="668387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659112" y="7003256"/>
            <a:ext cx="1272629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18" name="Text 15"/>
          <p:cNvSpPr/>
          <p:nvPr/>
        </p:nvSpPr>
        <p:spPr>
          <a:xfrm>
            <a:off x="2801987" y="7069931"/>
            <a:ext cx="1063079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CONNECTORS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026991" y="7003256"/>
            <a:ext cx="1864668" cy="341263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69866" y="7069931"/>
            <a:ext cx="1655118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SKILLS (LIMITED)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86909" y="7003256"/>
            <a:ext cx="1963341" cy="341263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29784" y="7069931"/>
            <a:ext cx="1753791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PLUGINS (LIMITED)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334500" y="4638229"/>
            <a:ext cx="7734300" cy="4734371"/>
          </a:xfrm>
          <a:prstGeom prst="roundRect">
            <a:avLst>
              <a:gd name="adj" fmla="val 2817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801225" y="5066854"/>
            <a:ext cx="2358033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25" name="Text 22"/>
          <p:cNvSpPr/>
          <p:nvPr/>
        </p:nvSpPr>
        <p:spPr>
          <a:xfrm>
            <a:off x="9944100" y="5133529"/>
            <a:ext cx="2148483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DESKTOP / CODE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801225" y="5598616"/>
            <a:ext cx="7004876" cy="4426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700" b="1" spc="-32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Local-first &amp; authorable</a:t>
            </a:r>
            <a:endParaRPr lang="en-US" sz="2700" dirty="0"/>
          </a:p>
        </p:txBody>
      </p:sp>
      <p:sp>
        <p:nvSpPr>
          <p:cNvPr id="27" name="Text 24"/>
          <p:cNvSpPr/>
          <p:nvPr/>
        </p:nvSpPr>
        <p:spPr>
          <a:xfrm>
            <a:off x="9801225" y="6136481"/>
            <a:ext cx="700487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spc="-8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install plugins, author skills, define hooks, run local or hosted MCP servers. Full control of the surface.</a:t>
            </a:r>
            <a:endParaRPr lang="en-US" sz="1575" dirty="0"/>
          </a:p>
        </p:txBody>
      </p:sp>
      <p:sp>
        <p:nvSpPr>
          <p:cNvPr id="28" name="Shape 25"/>
          <p:cNvSpPr/>
          <p:nvPr/>
        </p:nvSpPr>
        <p:spPr>
          <a:xfrm>
            <a:off x="9801225" y="7003256"/>
            <a:ext cx="877937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29" name="Text 26"/>
          <p:cNvSpPr/>
          <p:nvPr/>
        </p:nvSpPr>
        <p:spPr>
          <a:xfrm>
            <a:off x="9944100" y="7069931"/>
            <a:ext cx="668387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0774412" y="7003256"/>
            <a:ext cx="1075283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31" name="Text 28"/>
          <p:cNvSpPr/>
          <p:nvPr/>
        </p:nvSpPr>
        <p:spPr>
          <a:xfrm>
            <a:off x="10917287" y="7069931"/>
            <a:ext cx="865733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11944945" y="7003256"/>
            <a:ext cx="779264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33" name="Text 30"/>
          <p:cNvSpPr/>
          <p:nvPr/>
        </p:nvSpPr>
        <p:spPr>
          <a:xfrm>
            <a:off x="12087820" y="7069931"/>
            <a:ext cx="569714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2819459" y="7003256"/>
            <a:ext cx="976610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35" name="Text 32"/>
          <p:cNvSpPr/>
          <p:nvPr/>
        </p:nvSpPr>
        <p:spPr>
          <a:xfrm>
            <a:off x="12962334" y="7069931"/>
            <a:ext cx="767060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3891320" y="7003256"/>
            <a:ext cx="877937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37" name="Text 34"/>
          <p:cNvSpPr/>
          <p:nvPr/>
        </p:nvSpPr>
        <p:spPr>
          <a:xfrm>
            <a:off x="14034195" y="7069931"/>
            <a:ext cx="668387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14864507" y="7003256"/>
            <a:ext cx="581918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39" name="Text 36"/>
          <p:cNvSpPr/>
          <p:nvPr/>
        </p:nvSpPr>
        <p:spPr>
          <a:xfrm>
            <a:off x="15007382" y="7069931"/>
            <a:ext cx="372368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30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219200" y="3112740"/>
            <a:ext cx="6035297" cy="409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9000" spc="-117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9000" dirty="0"/>
          </a:p>
        </p:txBody>
      </p:sp>
      <p:sp>
        <p:nvSpPr>
          <p:cNvPr id="7" name="Shape 4"/>
          <p:cNvSpPr/>
          <p:nvPr/>
        </p:nvSpPr>
        <p:spPr>
          <a:xfrm>
            <a:off x="7993112" y="3915073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8183612" y="3838575"/>
            <a:ext cx="11461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TWO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993112" y="4391769"/>
            <a:ext cx="804481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your own.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7993112" y="5610969"/>
            <a:ext cx="8044815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plugins exist specifically to help you build plugins. They serve different goals — pick the right one.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30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371904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TOPIC 02 · THE TWO BUILDERS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plugins, two scopes.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219200" y="3467844"/>
            <a:ext cx="7734300" cy="5904756"/>
          </a:xfrm>
          <a:prstGeom prst="roundRect">
            <a:avLst>
              <a:gd name="adj" fmla="val 2258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24025" y="3934569"/>
            <a:ext cx="6724650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11" name="Text 8"/>
          <p:cNvSpPr/>
          <p:nvPr/>
        </p:nvSpPr>
        <p:spPr>
          <a:xfrm>
            <a:off x="1866900" y="4001244"/>
            <a:ext cx="6640640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CLAUDE.COM/PLUGINS/PLUGIN-DEV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724025" y="4485382"/>
            <a:ext cx="6926390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plugin-dev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724025" y="5144393"/>
            <a:ext cx="692639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spc="-8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building </a:t>
            </a:r>
            <a:pPr algn="l" indent="0" marL="0">
              <a:lnSpc>
                <a:spcPct val="150000"/>
              </a:lnSpc>
              <a:buNone/>
            </a:pPr>
            <a:r>
              <a:rPr lang="en-US" sz="1575" b="1" spc="-8" kern="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full-scale plugins. </a:t>
            </a:r>
            <a:pPr algn="l" indent="0" marL="0">
              <a:lnSpc>
                <a:spcPct val="150000"/>
              </a:lnSpc>
              <a:buNone/>
            </a:pPr>
            <a:r>
              <a:rPr lang="en-US" sz="1575" spc="-8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 a folder with </a:t>
            </a:r>
            <a:pPr algn="l" indent="0" marL="0">
              <a:lnSpc>
                <a:spcPct val="150000"/>
              </a:lnSpc>
              <a:buNone/>
            </a:pPr>
            <a:r>
              <a:rPr lang="en-US" sz="1449" spc="-8" kern="0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plugin.json</a:t>
            </a:r>
            <a:pPr algn="l" indent="0" marL="0">
              <a:lnSpc>
                <a:spcPct val="150000"/>
              </a:lnSpc>
              <a:buNone/>
            </a:pPr>
            <a:r>
              <a:rPr lang="en-US" sz="1575" spc="-8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50000"/>
              </a:lnSpc>
              <a:buNone/>
            </a:pPr>
            <a:r>
              <a:rPr lang="en-US" sz="1449" spc="-8" kern="0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 </a:t>
            </a:r>
            <a:pPr algn="l" indent="0" marL="0">
              <a:lnSpc>
                <a:spcPct val="150000"/>
              </a:lnSpc>
              <a:buNone/>
            </a:pPr>
            <a:r>
              <a:rPr lang="en-US" sz="1575" spc="-8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files, scripts, and hooks.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724025" y="6049268"/>
            <a:ext cx="1547366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 COMMAND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3240732" y="6039743"/>
            <a:ext cx="2762250" cy="276225"/>
          </a:xfrm>
          <a:prstGeom prst="roundRect">
            <a:avLst>
              <a:gd name="adj" fmla="val 13793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3335982" y="6068318"/>
            <a:ext cx="26546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/plugin-dev:create-plugin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1724025" y="6735812"/>
            <a:ext cx="6724650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724025" y="6973937"/>
            <a:ext cx="1413570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COMPLEXITY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724025" y="7355681"/>
            <a:ext cx="6926390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— manifests, hooks and code.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9334500" y="3467844"/>
            <a:ext cx="7734300" cy="5904756"/>
          </a:xfrm>
          <a:prstGeom prst="roundRect">
            <a:avLst>
              <a:gd name="adj" fmla="val 2258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839325" y="3934569"/>
            <a:ext cx="6724650" cy="341263"/>
          </a:xfrm>
          <a:prstGeom prst="roundRect">
            <a:avLst>
              <a:gd name="adj" fmla="val 50000"/>
            </a:avLst>
          </a:prstGeom>
          <a:solidFill>
            <a:srgbClr val="DDE9E2"/>
          </a:solidFill>
          <a:ln/>
        </p:spPr>
      </p:sp>
      <p:sp>
        <p:nvSpPr>
          <p:cNvPr id="22" name="Text 19"/>
          <p:cNvSpPr/>
          <p:nvPr/>
        </p:nvSpPr>
        <p:spPr>
          <a:xfrm>
            <a:off x="9982200" y="4001244"/>
            <a:ext cx="6640640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CLAUDE.COM/PLUGINS/SKILL-CREATOR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839325" y="4485382"/>
            <a:ext cx="6926390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skill-creator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9839325" y="5144393"/>
            <a:ext cx="692639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spc="-8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building </a:t>
            </a:r>
            <a:pPr algn="l" indent="0" marL="0">
              <a:lnSpc>
                <a:spcPct val="150000"/>
              </a:lnSpc>
              <a:buNone/>
            </a:pPr>
            <a:r>
              <a:rPr lang="en-US" sz="1575" b="1" spc="-8" kern="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Skills </a:t>
            </a:r>
            <a:pPr algn="l" indent="0" marL="0">
              <a:lnSpc>
                <a:spcPct val="150000"/>
              </a:lnSpc>
              <a:buNone/>
            </a:pPr>
            <a:r>
              <a:rPr lang="en-US" sz="1575" spc="-8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workflows. Output is primarily a high-quality </a:t>
            </a:r>
            <a:pPr algn="l" indent="0" marL="0">
              <a:lnSpc>
                <a:spcPct val="150000"/>
              </a:lnSpc>
              <a:buNone/>
            </a:pPr>
            <a:r>
              <a:rPr lang="en-US" sz="1449" spc="-8" kern="0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 </a:t>
            </a:r>
            <a:pPr algn="l" indent="0" marL="0">
              <a:lnSpc>
                <a:spcPct val="150000"/>
              </a:lnSpc>
              <a:buNone/>
            </a:pPr>
            <a:r>
              <a:rPr lang="en-US" sz="1575" spc="-8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file.</a:t>
            </a:r>
            <a:endParaRPr lang="en-US" sz="1575" dirty="0"/>
          </a:p>
        </p:txBody>
      </p:sp>
      <p:sp>
        <p:nvSpPr>
          <p:cNvPr id="25" name="Text 22"/>
          <p:cNvSpPr/>
          <p:nvPr/>
        </p:nvSpPr>
        <p:spPr>
          <a:xfrm>
            <a:off x="9839325" y="6049268"/>
            <a:ext cx="1547366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 COMMAND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11356032" y="6039743"/>
            <a:ext cx="1630710" cy="276225"/>
          </a:xfrm>
          <a:prstGeom prst="roundRect">
            <a:avLst>
              <a:gd name="adj" fmla="val 13793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1451282" y="6068318"/>
            <a:ext cx="15164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/skill-creator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3077825" y="6087368"/>
            <a:ext cx="2342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75" dirty="0">
                <a:solidFill>
                  <a:srgbClr val="7A7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</a:t>
            </a:r>
            <a:endParaRPr lang="en-US" sz="1275" dirty="0"/>
          </a:p>
        </p:txBody>
      </p:sp>
      <p:sp>
        <p:nvSpPr>
          <p:cNvPr id="29" name="Shape 26"/>
          <p:cNvSpPr/>
          <p:nvPr/>
        </p:nvSpPr>
        <p:spPr>
          <a:xfrm>
            <a:off x="13326963" y="6039743"/>
            <a:ext cx="1527870" cy="276225"/>
          </a:xfrm>
          <a:prstGeom prst="roundRect">
            <a:avLst>
              <a:gd name="adj" fmla="val 13793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13422213" y="6068318"/>
            <a:ext cx="14135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/create-skill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9839325" y="6735812"/>
            <a:ext cx="6724650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9839325" y="6973937"/>
            <a:ext cx="1413570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COMPLEXITY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9839325" y="7355681"/>
            <a:ext cx="6926390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 — focused on prompt engineering.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30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16810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SIDE BY SIDE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58144"/>
            <a:ext cx="16325088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plugin-dev vs skill-creator at a glance.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1219200" y="3708053"/>
            <a:ext cx="316989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390650" y="3380929"/>
            <a:ext cx="2922087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spc="17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4389090" y="3708053"/>
            <a:ext cx="633978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560540" y="3380929"/>
            <a:ext cx="6187074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spc="17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PLUGIN-DEV</a:t>
            </a:r>
            <a:endParaRPr lang="en-US" sz="975" dirty="0"/>
          </a:p>
        </p:txBody>
      </p:sp>
      <p:sp>
        <p:nvSpPr>
          <p:cNvPr id="13" name="Shape 10"/>
          <p:cNvSpPr/>
          <p:nvPr/>
        </p:nvSpPr>
        <p:spPr>
          <a:xfrm>
            <a:off x="10728871" y="3708053"/>
            <a:ext cx="6339929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0900321" y="3380929"/>
            <a:ext cx="6187227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spc="17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SKILL-CREATOR</a:t>
            </a:r>
            <a:endParaRPr lang="en-US" sz="975" dirty="0"/>
          </a:p>
        </p:txBody>
      </p:sp>
      <p:sp>
        <p:nvSpPr>
          <p:cNvPr id="15" name="Shape 12"/>
          <p:cNvSpPr/>
          <p:nvPr/>
        </p:nvSpPr>
        <p:spPr>
          <a:xfrm>
            <a:off x="1219200" y="4440436"/>
            <a:ext cx="3169890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390650" y="3927128"/>
            <a:ext cx="2922087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Primary goal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4389090" y="4440436"/>
            <a:ext cx="6339780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4560540" y="3927128"/>
            <a:ext cx="618707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full-scale Plugins.</a:t>
            </a:r>
            <a:endParaRPr lang="en-US" sz="1425" dirty="0"/>
          </a:p>
        </p:txBody>
      </p:sp>
      <p:sp>
        <p:nvSpPr>
          <p:cNvPr id="19" name="Shape 16"/>
          <p:cNvSpPr/>
          <p:nvPr/>
        </p:nvSpPr>
        <p:spPr>
          <a:xfrm>
            <a:off x="10728871" y="4440436"/>
            <a:ext cx="6339929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10900321" y="3927128"/>
            <a:ext cx="6187227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specific Skills (workflows).</a:t>
            </a:r>
            <a:endParaRPr lang="en-US" sz="1425" dirty="0"/>
          </a:p>
        </p:txBody>
      </p:sp>
      <p:sp>
        <p:nvSpPr>
          <p:cNvPr id="21" name="Shape 18"/>
          <p:cNvSpPr/>
          <p:nvPr/>
        </p:nvSpPr>
        <p:spPr>
          <a:xfrm>
            <a:off x="1219200" y="5172819"/>
            <a:ext cx="3169890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390650" y="4659511"/>
            <a:ext cx="2922087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4389090" y="5172819"/>
            <a:ext cx="6339780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4560540" y="4659511"/>
            <a:ext cx="618707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Folder with </a:t>
            </a:r>
            <a:pPr algn="l" indent="0" marL="0">
              <a:lnSpc>
                <a:spcPct val="145000"/>
              </a:lnSpc>
              <a:buNone/>
            </a:pPr>
            <a:r>
              <a:rPr lang="en-US" sz="1311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plugin.json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45000"/>
              </a:lnSpc>
              <a:buNone/>
            </a:pPr>
            <a:r>
              <a:rPr lang="en-US" sz="1311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scripts, etc.</a:t>
            </a:r>
            <a:endParaRPr lang="en-US" sz="1425" dirty="0"/>
          </a:p>
        </p:txBody>
      </p:sp>
      <p:sp>
        <p:nvSpPr>
          <p:cNvPr id="25" name="Shape 22"/>
          <p:cNvSpPr/>
          <p:nvPr/>
        </p:nvSpPr>
        <p:spPr>
          <a:xfrm>
            <a:off x="10728871" y="5172819"/>
            <a:ext cx="6339929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0900321" y="4659511"/>
            <a:ext cx="6187227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Primarily a high-quality </a:t>
            </a:r>
            <a:pPr algn="l" indent="0" marL="0">
              <a:lnSpc>
                <a:spcPct val="145000"/>
              </a:lnSpc>
              <a:buNone/>
            </a:pPr>
            <a:r>
              <a:rPr lang="en-US" sz="1311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file.</a:t>
            </a:r>
            <a:endParaRPr lang="en-US" sz="1425" dirty="0"/>
          </a:p>
        </p:txBody>
      </p:sp>
      <p:sp>
        <p:nvSpPr>
          <p:cNvPr id="27" name="Shape 24"/>
          <p:cNvSpPr/>
          <p:nvPr/>
        </p:nvSpPr>
        <p:spPr>
          <a:xfrm>
            <a:off x="1219200" y="5905202"/>
            <a:ext cx="3169890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1390650" y="5391894"/>
            <a:ext cx="2922087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Complexity</a:t>
            </a:r>
            <a:endParaRPr lang="en-US" sz="1650" dirty="0"/>
          </a:p>
        </p:txBody>
      </p:sp>
      <p:sp>
        <p:nvSpPr>
          <p:cNvPr id="29" name="Shape 26"/>
          <p:cNvSpPr/>
          <p:nvPr/>
        </p:nvSpPr>
        <p:spPr>
          <a:xfrm>
            <a:off x="4389090" y="5905202"/>
            <a:ext cx="6339780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4560540" y="5391894"/>
            <a:ext cx="618707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— involves manifests, hooks, and code.</a:t>
            </a:r>
            <a:endParaRPr lang="en-US" sz="1425" dirty="0"/>
          </a:p>
        </p:txBody>
      </p:sp>
      <p:sp>
        <p:nvSpPr>
          <p:cNvPr id="31" name="Shape 28"/>
          <p:cNvSpPr/>
          <p:nvPr/>
        </p:nvSpPr>
        <p:spPr>
          <a:xfrm>
            <a:off x="10728871" y="5905202"/>
            <a:ext cx="6339929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10900321" y="5391894"/>
            <a:ext cx="6187227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 — focused on prompt engineering.</a:t>
            </a:r>
            <a:endParaRPr lang="en-US" sz="1425" dirty="0"/>
          </a:p>
        </p:txBody>
      </p:sp>
      <p:sp>
        <p:nvSpPr>
          <p:cNvPr id="33" name="Shape 30"/>
          <p:cNvSpPr/>
          <p:nvPr/>
        </p:nvSpPr>
        <p:spPr>
          <a:xfrm>
            <a:off x="1219200" y="6637586"/>
            <a:ext cx="3169890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1390650" y="6124277"/>
            <a:ext cx="2922087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command</a:t>
            </a:r>
            <a:endParaRPr lang="en-US" sz="1650" dirty="0"/>
          </a:p>
        </p:txBody>
      </p:sp>
      <p:sp>
        <p:nvSpPr>
          <p:cNvPr id="35" name="Shape 32"/>
          <p:cNvSpPr/>
          <p:nvPr/>
        </p:nvSpPr>
        <p:spPr>
          <a:xfrm>
            <a:off x="4389090" y="6637586"/>
            <a:ext cx="6339780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560540" y="6119515"/>
            <a:ext cx="2686348" cy="276225"/>
          </a:xfrm>
          <a:prstGeom prst="roundRect">
            <a:avLst>
              <a:gd name="adj" fmla="val 13793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4655790" y="6148090"/>
            <a:ext cx="257643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11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/plugin-dev:create-plugin</a:t>
            </a:r>
            <a:endParaRPr lang="en-US" sz="1311" dirty="0"/>
          </a:p>
        </p:txBody>
      </p:sp>
      <p:sp>
        <p:nvSpPr>
          <p:cNvPr id="38" name="Shape 35"/>
          <p:cNvSpPr/>
          <p:nvPr/>
        </p:nvSpPr>
        <p:spPr>
          <a:xfrm>
            <a:off x="10728871" y="6637586"/>
            <a:ext cx="6339929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10900321" y="6124277"/>
            <a:ext cx="6187227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1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/skill-creator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</a:t>
            </a:r>
            <a:pPr algn="l" indent="0" marL="0">
              <a:lnSpc>
                <a:spcPct val="145000"/>
              </a:lnSpc>
              <a:buNone/>
            </a:pPr>
            <a:r>
              <a:rPr lang="en-US" sz="1311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/create-skill</a:t>
            </a:r>
            <a:endParaRPr lang="en-US" sz="1425" dirty="0"/>
          </a:p>
        </p:txBody>
      </p:sp>
      <p:sp>
        <p:nvSpPr>
          <p:cNvPr id="40" name="Text 37"/>
          <p:cNvSpPr/>
          <p:nvPr/>
        </p:nvSpPr>
        <p:spPr>
          <a:xfrm>
            <a:off x="1390650" y="6856661"/>
            <a:ext cx="292208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Testing posture</a:t>
            </a:r>
            <a:endParaRPr lang="en-US" sz="1650" dirty="0"/>
          </a:p>
        </p:txBody>
      </p:sp>
      <p:sp>
        <p:nvSpPr>
          <p:cNvPr id="41" name="Text 38"/>
          <p:cNvSpPr/>
          <p:nvPr/>
        </p:nvSpPr>
        <p:spPr>
          <a:xfrm>
            <a:off x="4560540" y="6856661"/>
            <a:ext cx="6187074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Focuses on plugin architecture and validation.</a:t>
            </a:r>
            <a:endParaRPr lang="en-US" sz="1425" dirty="0"/>
          </a:p>
        </p:txBody>
      </p:sp>
      <p:sp>
        <p:nvSpPr>
          <p:cNvPr id="42" name="Text 39"/>
          <p:cNvSpPr/>
          <p:nvPr/>
        </p:nvSpPr>
        <p:spPr>
          <a:xfrm>
            <a:off x="10900321" y="6856661"/>
            <a:ext cx="618722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Focuses on "evals" — comparing AI performance.</a:t>
            </a:r>
            <a:endParaRPr lang="en-US" sz="1425" dirty="0"/>
          </a:p>
        </p:txBody>
      </p:sp>
      <p:sp>
        <p:nvSpPr>
          <p:cNvPr id="43" name="Text 40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30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00200"/>
            <a:ext cx="2197745" cy="360313"/>
          </a:xfrm>
          <a:prstGeom prst="roundRect">
            <a:avLst>
              <a:gd name="adj" fmla="val 50000"/>
            </a:avLst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390650" y="1676400"/>
            <a:ext cx="1931045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189" kern="0" dirty="0">
                <a:solidFill>
                  <a:srgbClr val="FB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 · 5 MIN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588395" y="1742182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9" name="Text 6"/>
          <p:cNvSpPr/>
          <p:nvPr/>
        </p:nvSpPr>
        <p:spPr>
          <a:xfrm>
            <a:off x="3778895" y="1665684"/>
            <a:ext cx="154736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01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19200" y="2189113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Decide what you'd build.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1219200" y="3408313"/>
            <a:ext cx="12753975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 of one repeatable task you do at work — invoice review, weekly status, lead qualification. Decide which builder you'd reach for, and why.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219200" y="4731097"/>
            <a:ext cx="7966329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Walk through these prompts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072515" y="5401568"/>
            <a:ext cx="7957185" cy="1792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the one task?</a:t>
            </a:r>
            <a:endParaRPr lang="en-US" sz="1650" dirty="0"/>
          </a:p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it need external data? (then connectors / MCP first)</a:t>
            </a:r>
            <a:endParaRPr lang="en-US" sz="1650" dirty="0"/>
          </a:p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it a single workflow, or many workflows packaged together?</a:t>
            </a:r>
            <a:endParaRPr lang="en-US" sz="1650" dirty="0"/>
          </a:p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other teammates need it the same way?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9334500" y="4731097"/>
            <a:ext cx="7734300" cy="2025402"/>
          </a:xfrm>
          <a:prstGeom prst="roundRect">
            <a:avLst>
              <a:gd name="adj" fmla="val 7524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25025" y="5105549"/>
            <a:ext cx="1084064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125" b="1" spc="2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DECIDE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9725025" y="5461695"/>
            <a:ext cx="7161848" cy="1018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spc="-1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workflow, you alone, no external data → </a:t>
            </a:r>
            <a:pPr algn="l" indent="0" marL="0">
              <a:lnSpc>
                <a:spcPct val="132000"/>
              </a:lnSpc>
              <a:buNone/>
            </a:pPr>
            <a:r>
              <a:rPr lang="en-US" sz="1950" b="1" spc="-16" kern="0" dirty="0">
                <a:solidFill>
                  <a:srgbClr val="C95A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skill-creator. </a:t>
            </a:r>
            <a:pPr algn="l" indent="0" marL="0">
              <a:lnSpc>
                <a:spcPct val="132000"/>
              </a:lnSpc>
              <a:buNone/>
            </a:pPr>
            <a:r>
              <a:rPr lang="en-US" sz="1950" spc="-1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Multiple skills + hooks + you want to share it → </a:t>
            </a:r>
            <a:pPr algn="l" indent="0" marL="0">
              <a:lnSpc>
                <a:spcPct val="132000"/>
              </a:lnSpc>
              <a:buNone/>
            </a:pPr>
            <a:r>
              <a:rPr lang="en-US" sz="1950" b="1" spc="-16" kern="0" dirty="0">
                <a:solidFill>
                  <a:srgbClr val="C95A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plugin-dev.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9334500" y="6985099"/>
            <a:ext cx="7734300" cy="1535162"/>
          </a:xfrm>
          <a:prstGeom prst="roundRect">
            <a:avLst>
              <a:gd name="adj" fmla="val 8686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48825" y="7261324"/>
            <a:ext cx="611237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THEN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9648825" y="7624018"/>
            <a:ext cx="731882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Claude Desktop or Code, run the key command, and just start the conversation.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30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219200" y="3112740"/>
            <a:ext cx="6076073" cy="409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9000" spc="-117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9000" dirty="0"/>
          </a:p>
        </p:txBody>
      </p:sp>
      <p:sp>
        <p:nvSpPr>
          <p:cNvPr id="7" name="Shape 4"/>
          <p:cNvSpPr/>
          <p:nvPr/>
        </p:nvSpPr>
        <p:spPr>
          <a:xfrm>
            <a:off x="8032700" y="3698677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8223200" y="3622179"/>
            <a:ext cx="14135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THREE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32700" y="4175373"/>
            <a:ext cx="804481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Let's test one.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8032700" y="5394573"/>
            <a:ext cx="8044815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the LegalZoom plugin. Get legal advice on a mock service agreement. See what a real, production plugin feels like.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30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371904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TOPIC 03 · LEGALZOOM PLUGIN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plugin that does one thing well.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1219200" y="3239244"/>
            <a:ext cx="12753975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business legal assistance — contract review and attorney consultation. Three components ship in the bundle.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219200" y="4562029"/>
            <a:ext cx="5105400" cy="3767138"/>
          </a:xfrm>
          <a:prstGeom prst="roundRect">
            <a:avLst>
              <a:gd name="adj" fmla="val 3540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09725" y="4914454"/>
            <a:ext cx="976610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12" name="Text 9"/>
          <p:cNvSpPr/>
          <p:nvPr/>
        </p:nvSpPr>
        <p:spPr>
          <a:xfrm>
            <a:off x="1752600" y="4981129"/>
            <a:ext cx="767060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609725" y="5427166"/>
            <a:ext cx="445408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review-contract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609725" y="5859512"/>
            <a:ext cx="4454081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entrypoint. Hand it a contract; it walks the document and surfaces risks, missing clauses and oddities.</a:t>
            </a:r>
            <a:endParaRPr lang="en-US" sz="1425" dirty="0"/>
          </a:p>
        </p:txBody>
      </p:sp>
      <p:sp>
        <p:nvSpPr>
          <p:cNvPr id="15" name="Shape 12"/>
          <p:cNvSpPr/>
          <p:nvPr/>
        </p:nvSpPr>
        <p:spPr>
          <a:xfrm>
            <a:off x="6591300" y="4562029"/>
            <a:ext cx="5105400" cy="3767138"/>
          </a:xfrm>
          <a:prstGeom prst="roundRect">
            <a:avLst>
              <a:gd name="adj" fmla="val 3540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81825" y="4914454"/>
            <a:ext cx="779264" cy="341263"/>
          </a:xfrm>
          <a:prstGeom prst="roundRect">
            <a:avLst>
              <a:gd name="adj" fmla="val 50000"/>
            </a:avLst>
          </a:prstGeom>
          <a:solidFill>
            <a:srgbClr val="DDE9E2"/>
          </a:solidFill>
          <a:ln/>
        </p:spPr>
      </p:sp>
      <p:sp>
        <p:nvSpPr>
          <p:cNvPr id="17" name="Text 14"/>
          <p:cNvSpPr/>
          <p:nvPr/>
        </p:nvSpPr>
        <p:spPr>
          <a:xfrm>
            <a:off x="7124700" y="4981129"/>
            <a:ext cx="569714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981825" y="5427166"/>
            <a:ext cx="445408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attorney-assist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6981825" y="5859512"/>
            <a:ext cx="4454081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workflow encoding LegalZoom's review methodology — how to read a contract like an attorney would.</a:t>
            </a:r>
            <a:endParaRPr lang="en-US" sz="1425" dirty="0"/>
          </a:p>
        </p:txBody>
      </p:sp>
      <p:sp>
        <p:nvSpPr>
          <p:cNvPr id="20" name="Shape 17"/>
          <p:cNvSpPr/>
          <p:nvPr/>
        </p:nvSpPr>
        <p:spPr>
          <a:xfrm>
            <a:off x="11963400" y="4562029"/>
            <a:ext cx="5105400" cy="3767138"/>
          </a:xfrm>
          <a:prstGeom prst="roundRect">
            <a:avLst>
              <a:gd name="adj" fmla="val 3540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2353925" y="4914454"/>
            <a:ext cx="1272629" cy="341263"/>
          </a:xfrm>
          <a:prstGeom prst="roundRect">
            <a:avLst>
              <a:gd name="adj" fmla="val 50000"/>
            </a:avLst>
          </a:prstGeom>
          <a:solidFill>
            <a:srgbClr val="0E1116"/>
          </a:solidFill>
          <a:ln/>
        </p:spPr>
      </p:sp>
      <p:sp>
        <p:nvSpPr>
          <p:cNvPr id="22" name="Text 19"/>
          <p:cNvSpPr/>
          <p:nvPr/>
        </p:nvSpPr>
        <p:spPr>
          <a:xfrm>
            <a:off x="12496800" y="4981129"/>
            <a:ext cx="1063079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F4EF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 SERVER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2353925" y="5427166"/>
            <a:ext cx="445408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legalzoom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12353925" y="5859512"/>
            <a:ext cx="4454081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Bridge to LegalZoom's services — escalate to a real attorney consultation when the AI hits its limits.</a:t>
            </a:r>
            <a:endParaRPr lang="en-US" sz="1425" dirty="0"/>
          </a:p>
        </p:txBody>
      </p:sp>
      <p:sp>
        <p:nvSpPr>
          <p:cNvPr id="25" name="Shape 22"/>
          <p:cNvSpPr/>
          <p:nvPr/>
        </p:nvSpPr>
        <p:spPr>
          <a:xfrm>
            <a:off x="1219200" y="8786366"/>
            <a:ext cx="158496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219200" y="9062591"/>
            <a:ext cx="3612349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7A7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Author: </a:t>
            </a:r>
            <a:pPr algn="l" indent="0" marL="0">
              <a:lnSpc>
                <a:spcPct val="155000"/>
              </a:lnSpc>
              <a:buNone/>
            </a:pPr>
            <a:r>
              <a:rPr lang="en-US" sz="1575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LegalZoom </a:t>
            </a:r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7A7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Status: </a:t>
            </a:r>
            <a:pPr algn="l" indent="0" marL="0">
              <a:lnSpc>
                <a:spcPct val="155000"/>
              </a:lnSpc>
              <a:buNone/>
            </a:pPr>
            <a:r>
              <a:rPr lang="en-US" sz="1575" b="1" dirty="0">
                <a:solidFill>
                  <a:srgbClr val="1F5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Enabled</a:t>
            </a:r>
            <a:endParaRPr lang="en-US" sz="1575" dirty="0"/>
          </a:p>
        </p:txBody>
      </p:sp>
      <p:sp>
        <p:nvSpPr>
          <p:cNvPr id="27" name="Text 24"/>
          <p:cNvSpPr/>
          <p:nvPr/>
        </p:nvSpPr>
        <p:spPr>
          <a:xfrm>
            <a:off x="13708261" y="9062591"/>
            <a:ext cx="3461355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claude.com/plugins/legalzoom</a:t>
            </a:r>
            <a:endParaRPr lang="en-US" sz="1575" dirty="0"/>
          </a:p>
        </p:txBody>
      </p:sp>
      <p:sp>
        <p:nvSpPr>
          <p:cNvPr id="28" name="Text 25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30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704975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28477"/>
            <a:ext cx="208225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TODAY'S EXHIBIT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105471"/>
            <a:ext cx="8140010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mock service agreement.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1219200" y="4200971"/>
            <a:ext cx="8140010" cy="1769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short, deliberately-imperfect contract — four pages — sitting in </a:t>
            </a:r>
            <a:pPr algn="l" indent="0" marL="0">
              <a:lnSpc>
                <a:spcPct val="142000"/>
              </a:lnSpc>
              <a:buNone/>
            </a:pPr>
            <a:r>
              <a:rPr lang="en-US" sz="2208" spc="-12" kern="0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files/mock-service-agreement-4-page.md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kind of doc a founder would forward to legal.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219200" y="6313140"/>
            <a:ext cx="7639050" cy="2352229"/>
          </a:xfrm>
          <a:prstGeom prst="roundRect">
            <a:avLst>
              <a:gd name="adj" fmla="val 6479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09725" y="6687592"/>
            <a:ext cx="1904107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125" b="1" spc="2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IT FIRST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1609725" y="7043738"/>
            <a:ext cx="7063740" cy="1345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spc="-1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Skim the file before you run the review. Notice anything that smells off — vague payment terms, missing IP language, indemnity asymmetry. Then compare with Claude's pass.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10666512" y="3418136"/>
            <a:ext cx="5619750" cy="4136529"/>
          </a:xfrm>
          <a:prstGeom prst="roundRect">
            <a:avLst>
              <a:gd name="adj" fmla="val 1842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  <a:effectLst>
            <a:outerShdw sx="100000" sy="100000" kx="0" ky="0" algn="bl" rotWithShape="0" blurRad="304800" dist="114300" dir="5400000">
              <a:srgbClr val="0E1116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1285637" y="3961061"/>
            <a:ext cx="2349698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 AGREEMENT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285637" y="4399955"/>
            <a:ext cx="4512945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Master Services Agreement — Acme Co. &amp; Vendor LLC</a:t>
            </a:r>
            <a:endParaRPr lang="en-US" sz="1950" dirty="0"/>
          </a:p>
        </p:txBody>
      </p:sp>
      <p:sp>
        <p:nvSpPr>
          <p:cNvPr id="16" name="Shape 13"/>
          <p:cNvSpPr/>
          <p:nvPr/>
        </p:nvSpPr>
        <p:spPr>
          <a:xfrm>
            <a:off x="11285637" y="5260777"/>
            <a:ext cx="4381500" cy="76200"/>
          </a:xfrm>
          <a:prstGeom prst="roundRect">
            <a:avLst>
              <a:gd name="adj" fmla="val 25000"/>
            </a:avLst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1285637" y="5432227"/>
            <a:ext cx="4030861" cy="76200"/>
          </a:xfrm>
          <a:prstGeom prst="roundRect">
            <a:avLst>
              <a:gd name="adj" fmla="val 25000"/>
            </a:avLst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1285637" y="5603677"/>
            <a:ext cx="3505200" cy="76200"/>
          </a:xfrm>
          <a:prstGeom prst="roundRect">
            <a:avLst>
              <a:gd name="adj" fmla="val 25000"/>
            </a:avLst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1285637" y="5775127"/>
            <a:ext cx="3855690" cy="76200"/>
          </a:xfrm>
          <a:prstGeom prst="roundRect">
            <a:avLst>
              <a:gd name="adj" fmla="val 25000"/>
            </a:avLst>
          </a:prstGeom>
          <a:solidFill>
            <a:srgbClr val="1F2329">
              <a:alpha val="14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285637" y="5946577"/>
            <a:ext cx="3242221" cy="76200"/>
          </a:xfrm>
          <a:prstGeom prst="roundRect">
            <a:avLst>
              <a:gd name="adj" fmla="val 25000"/>
            </a:avLst>
          </a:prstGeom>
          <a:solidFill>
            <a:srgbClr val="1F2329">
              <a:alpha val="14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1285637" y="6118027"/>
            <a:ext cx="3943350" cy="76200"/>
          </a:xfrm>
          <a:prstGeom prst="roundRect">
            <a:avLst>
              <a:gd name="adj" fmla="val 25000"/>
            </a:avLst>
          </a:prstGeom>
          <a:solidFill>
            <a:srgbClr val="1F2329">
              <a:alpha val="14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285637" y="6289477"/>
            <a:ext cx="2628900" cy="76200"/>
          </a:xfrm>
          <a:prstGeom prst="roundRect">
            <a:avLst>
              <a:gd name="adj" fmla="val 25000"/>
            </a:avLst>
          </a:prstGeom>
          <a:solidFill>
            <a:srgbClr val="1F2329">
              <a:alpha val="14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1285637" y="6670477"/>
            <a:ext cx="2062014" cy="341263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428512" y="6737152"/>
            <a:ext cx="1852464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PAGES · MARKDOWN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4591854" y="6670477"/>
            <a:ext cx="1075283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26" name="Text 23"/>
          <p:cNvSpPr/>
          <p:nvPr/>
        </p:nvSpPr>
        <p:spPr>
          <a:xfrm>
            <a:off x="14734729" y="6737152"/>
            <a:ext cx="865733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DRAFT V1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30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00200"/>
            <a:ext cx="2301627" cy="360313"/>
          </a:xfrm>
          <a:prstGeom prst="roundRect">
            <a:avLst>
              <a:gd name="adj" fmla="val 50000"/>
            </a:avLst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390650" y="1676400"/>
            <a:ext cx="2034927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189" kern="0" dirty="0">
                <a:solidFill>
                  <a:srgbClr val="FB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 · 12 MIN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92277" y="1742182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9" name="Text 6"/>
          <p:cNvSpPr/>
          <p:nvPr/>
        </p:nvSpPr>
        <p:spPr>
          <a:xfrm>
            <a:off x="3882777" y="1665684"/>
            <a:ext cx="154736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02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19200" y="2189113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the review.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1219200" y="3484513"/>
            <a:ext cx="7927086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Steps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1219200" y="4154984"/>
            <a:ext cx="76962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219200" y="4374059"/>
            <a:ext cx="609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spc="-59" kern="0" dirty="0">
                <a:solidFill>
                  <a:srgbClr val="A8A0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1981200" y="4478834"/>
            <a:ext cx="714222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LegalZoom is installed: </a:t>
            </a:r>
            <a:pPr algn="l" indent="0" marL="0">
              <a:lnSpc>
                <a:spcPct val="150000"/>
              </a:lnSpc>
              <a:buNone/>
            </a:pPr>
            <a:r>
              <a:rPr lang="en-US" sz="1656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/plugin list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219200" y="5031284"/>
            <a:ext cx="76962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219200" y="5250359"/>
            <a:ext cx="609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spc="-59" kern="0" dirty="0">
                <a:solidFill>
                  <a:srgbClr val="A8A0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300" dirty="0"/>
          </a:p>
        </p:txBody>
      </p:sp>
      <p:sp>
        <p:nvSpPr>
          <p:cNvPr id="17" name="Text 14"/>
          <p:cNvSpPr/>
          <p:nvPr/>
        </p:nvSpPr>
        <p:spPr>
          <a:xfrm>
            <a:off x="1981200" y="5355134"/>
            <a:ext cx="714222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</a:t>
            </a:r>
            <a:pPr algn="l" indent="0" marL="0">
              <a:lnSpc>
                <a:spcPct val="150000"/>
              </a:lnSpc>
              <a:buNone/>
            </a:pPr>
            <a:r>
              <a:rPr lang="en-US" sz="1656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/review-contract files/mock-service-agreement-4-page.md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219200" y="6250484"/>
            <a:ext cx="76962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219200" y="6469559"/>
            <a:ext cx="609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spc="-59" kern="0" dirty="0">
                <a:solidFill>
                  <a:srgbClr val="A8A0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300" dirty="0"/>
          </a:p>
        </p:txBody>
      </p:sp>
      <p:sp>
        <p:nvSpPr>
          <p:cNvPr id="20" name="Text 17"/>
          <p:cNvSpPr/>
          <p:nvPr/>
        </p:nvSpPr>
        <p:spPr>
          <a:xfrm>
            <a:off x="1981200" y="6574334"/>
            <a:ext cx="714222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the </a:t>
            </a:r>
            <a:pPr algn="l" indent="0" marL="0">
              <a:lnSpc>
                <a:spcPct val="150000"/>
              </a:lnSpc>
              <a:buNone/>
            </a:pPr>
            <a:r>
              <a:rPr lang="en-US" sz="1656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attorney-assist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load, the MCP probe fire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219200" y="7126784"/>
            <a:ext cx="76962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219200" y="7345859"/>
            <a:ext cx="609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spc="-59" kern="0" dirty="0">
                <a:solidFill>
                  <a:srgbClr val="A8A0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3300" dirty="0"/>
          </a:p>
        </p:txBody>
      </p:sp>
      <p:sp>
        <p:nvSpPr>
          <p:cNvPr id="23" name="Text 20"/>
          <p:cNvSpPr/>
          <p:nvPr/>
        </p:nvSpPr>
        <p:spPr>
          <a:xfrm>
            <a:off x="1981200" y="7450634"/>
            <a:ext cx="714222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verdict. Ask follow-ups in plain English.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219200" y="8003084"/>
            <a:ext cx="76962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9372600" y="3484513"/>
            <a:ext cx="7696200" cy="4444008"/>
          </a:xfrm>
          <a:prstGeom prst="roundRect">
            <a:avLst>
              <a:gd name="adj" fmla="val 2572"/>
            </a:avLst>
          </a:prstGeom>
          <a:solidFill>
            <a:srgbClr val="0A0C10"/>
          </a:solidFill>
          <a:ln w="9525">
            <a:solidFill>
              <a:srgbClr val="F4EFE6">
                <a:alpha val="12000"/>
              </a:srgbClr>
            </a:solidFill>
            <a:prstDash val="solid"/>
          </a:ln>
          <a:effectLst>
            <a:outerShdw sx="100000" sy="100000" kx="0" ky="0" algn="bl" rotWithShape="0" blurRad="457200" dist="190500" dir="5400000">
              <a:srgbClr val="000000">
                <a:alpha val="4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686925" y="4092178"/>
            <a:ext cx="7067550" cy="9525"/>
          </a:xfrm>
          <a:prstGeom prst="rect">
            <a:avLst/>
          </a:prstGeom>
          <a:solidFill>
            <a:srgbClr val="F4EFE6">
              <a:alpha val="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9686925" y="3802559"/>
            <a:ext cx="114300" cy="11430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8" name="Shape 25"/>
          <p:cNvSpPr/>
          <p:nvPr/>
        </p:nvSpPr>
        <p:spPr>
          <a:xfrm>
            <a:off x="9877425" y="3802559"/>
            <a:ext cx="114300" cy="11430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9" name="Shape 26"/>
          <p:cNvSpPr/>
          <p:nvPr/>
        </p:nvSpPr>
        <p:spPr>
          <a:xfrm>
            <a:off x="10067925" y="3802559"/>
            <a:ext cx="114300" cy="11430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0" name="Text 27"/>
          <p:cNvSpPr/>
          <p:nvPr/>
        </p:nvSpPr>
        <p:spPr>
          <a:xfrm>
            <a:off x="10372725" y="3760738"/>
            <a:ext cx="1948458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spc="117" kern="0" dirty="0">
                <a:solidFill>
                  <a:srgbClr val="F4EFE6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CODE · SESSION</a:t>
            </a:r>
            <a:endParaRPr lang="en-US" sz="975" dirty="0"/>
          </a:p>
        </p:txBody>
      </p:sp>
      <p:sp>
        <p:nvSpPr>
          <p:cNvPr id="31" name="Text 28"/>
          <p:cNvSpPr/>
          <p:nvPr/>
        </p:nvSpPr>
        <p:spPr>
          <a:xfrm>
            <a:off x="9686925" y="4273153"/>
            <a:ext cx="727957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 </a:t>
            </a:r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/review-contract files/mock-service-agreement-4-page.md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9686925" y="4547443"/>
            <a:ext cx="727957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 loading plugin </a:t>
            </a:r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FBF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legalzoom </a:t>
            </a:r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...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9686925" y="4821734"/>
            <a:ext cx="727957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 invoking skill </a:t>
            </a:r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FBF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attorney-assist </a:t>
            </a:r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...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9686925" y="5096024"/>
            <a:ext cx="727957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 mcp · legalzoom probe ok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9686925" y="5503664"/>
            <a:ext cx="727957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Reviewing </a:t>
            </a:r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E8B4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4-page service agreement</a:t>
            </a:r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9686925" y="5777954"/>
            <a:ext cx="727957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 </a:t>
            </a:r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E8B4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issues </a:t>
            </a:r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across payment, IP &amp; indemnity.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9686925" y="6147495"/>
            <a:ext cx="727957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Section 3.2: payment terms ambiguous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9686925" y="6421785"/>
            <a:ext cx="727957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Section 5: IP ownership not addressed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9686925" y="6696075"/>
            <a:ext cx="727957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Section 8: one-sided indemnification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9686925" y="6970365"/>
            <a:ext cx="727957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...</a:t>
            </a:r>
            <a:endParaRPr lang="en-US" sz="1350" dirty="0"/>
          </a:p>
        </p:txBody>
      </p:sp>
      <p:sp>
        <p:nvSpPr>
          <p:cNvPr id="41" name="Text 38"/>
          <p:cNvSpPr/>
          <p:nvPr/>
        </p:nvSpPr>
        <p:spPr>
          <a:xfrm>
            <a:off x="9686925" y="7397055"/>
            <a:ext cx="1791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9892903" y="7397055"/>
            <a:ext cx="19279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4EFE6">
                    <a:alpha val="6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ask a follow-up...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11782723" y="7425630"/>
            <a:ext cx="95250" cy="171450"/>
          </a:xfrm>
          <a:prstGeom prst="rect">
            <a:avLst/>
          </a:prstGeom>
          <a:solidFill>
            <a:srgbClr val="E36A2C"/>
          </a:solidFill>
          <a:ln/>
        </p:spPr>
      </p:sp>
      <p:sp>
        <p:nvSpPr>
          <p:cNvPr id="44" name="Text 41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30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24833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CLAUDE WORKS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good output looks like.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219200" y="3467844"/>
            <a:ext cx="5105400" cy="3672780"/>
          </a:xfrm>
          <a:prstGeom prst="roundRect">
            <a:avLst>
              <a:gd name="adj" fmla="val 3631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09725" y="3820269"/>
            <a:ext cx="44540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609725" y="4258419"/>
            <a:ext cx="445408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Sectioned by risk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609725" y="4690765"/>
            <a:ext cx="445408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finding ties back to a numbered clause. No hand-waving — show me where.</a:t>
            </a:r>
            <a:endParaRPr lang="en-US" sz="1425" dirty="0"/>
          </a:p>
        </p:txBody>
      </p:sp>
      <p:sp>
        <p:nvSpPr>
          <p:cNvPr id="13" name="Shape 10"/>
          <p:cNvSpPr/>
          <p:nvPr/>
        </p:nvSpPr>
        <p:spPr>
          <a:xfrm>
            <a:off x="6591300" y="3467844"/>
            <a:ext cx="5105400" cy="3672780"/>
          </a:xfrm>
          <a:prstGeom prst="roundRect">
            <a:avLst>
              <a:gd name="adj" fmla="val 3631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81825" y="3820269"/>
            <a:ext cx="44540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981825" y="4258419"/>
            <a:ext cx="445408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Rewrites, not just gripes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6981825" y="4690765"/>
            <a:ext cx="445408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good review proposes redline language for the problems it surfaces.</a:t>
            </a:r>
            <a:endParaRPr lang="en-US" sz="1425" dirty="0"/>
          </a:p>
        </p:txBody>
      </p:sp>
      <p:sp>
        <p:nvSpPr>
          <p:cNvPr id="17" name="Shape 14"/>
          <p:cNvSpPr/>
          <p:nvPr/>
        </p:nvSpPr>
        <p:spPr>
          <a:xfrm>
            <a:off x="11963400" y="3467844"/>
            <a:ext cx="5105400" cy="3672780"/>
          </a:xfrm>
          <a:prstGeom prst="roundRect">
            <a:avLst>
              <a:gd name="adj" fmla="val 3631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353925" y="3820269"/>
            <a:ext cx="44540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2353925" y="4258419"/>
            <a:ext cx="445408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Knows its limits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12353925" y="4690765"/>
            <a:ext cx="445408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question is jurisdictional or strategic, it offers an escalation path to a real attorney.</a:t>
            </a:r>
            <a:endParaRPr lang="en-US" sz="1425" dirty="0"/>
          </a:p>
        </p:txBody>
      </p:sp>
      <p:sp>
        <p:nvSpPr>
          <p:cNvPr id="21" name="Shape 18"/>
          <p:cNvSpPr/>
          <p:nvPr/>
        </p:nvSpPr>
        <p:spPr>
          <a:xfrm>
            <a:off x="1219200" y="7674025"/>
            <a:ext cx="15849600" cy="1698575"/>
          </a:xfrm>
          <a:prstGeom prst="roundRect">
            <a:avLst>
              <a:gd name="adj" fmla="val 8972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09725" y="8048476"/>
            <a:ext cx="1201192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125" b="1" spc="2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DISCUSS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1609725" y="8404622"/>
            <a:ext cx="15520607" cy="691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spc="-1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much would you trust this output before sending the contract back? What's the human-in-the-loop posture you'd want around it?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30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219200" y="3112740"/>
            <a:ext cx="6198554" cy="409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9000" spc="-117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39000" dirty="0"/>
          </a:p>
        </p:txBody>
      </p:sp>
      <p:sp>
        <p:nvSpPr>
          <p:cNvPr id="7" name="Shape 4"/>
          <p:cNvSpPr/>
          <p:nvPr/>
        </p:nvSpPr>
        <p:spPr>
          <a:xfrm>
            <a:off x="8151614" y="3915073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8342114" y="3838575"/>
            <a:ext cx="127977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FOUR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151614" y="4391769"/>
            <a:ext cx="804481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ecosystem.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8151614" y="5610969"/>
            <a:ext cx="8044815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new in the directory as of </a:t>
            </a:r>
            <a:pPr algn="l" indent="0" marL="0">
              <a:lnSpc>
                <a:spcPct val="142000"/>
              </a:lnSpc>
              <a:buNone/>
            </a:pPr>
            <a:r>
              <a:rPr lang="en-US" sz="2400" b="1" spc="-12" kern="0" dirty="0">
                <a:solidFill>
                  <a:srgbClr val="F4EF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May 2026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what developers are reaching for.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30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371904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TOPIC 04 · FOR THE BUSINESS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the company on plugins.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1219200" y="3163044"/>
            <a:ext cx="127539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plugins shipped or refreshed in the last week of releases — each one targets a department.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219200" y="3963144"/>
            <a:ext cx="5130701" cy="2276326"/>
          </a:xfrm>
          <a:prstGeom prst="roundRect">
            <a:avLst>
              <a:gd name="adj" fmla="val 5021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76375" y="4201269"/>
            <a:ext cx="4754841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9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CLAUDE.COM/PLUGINS/SMALL-BUSINESS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1476375" y="4489549"/>
            <a:ext cx="4754841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-1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Small business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76375" y="5550396"/>
            <a:ext cx="4754841" cy="489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playbook for founders running lean — finance, hiring, ops.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78501" y="3963144"/>
            <a:ext cx="5130850" cy="2276326"/>
          </a:xfrm>
          <a:prstGeom prst="roundRect">
            <a:avLst>
              <a:gd name="adj" fmla="val 5021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35676" y="4201269"/>
            <a:ext cx="4754995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9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CLAUDE.COM/PLUGINS/SALES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6835676" y="4489549"/>
            <a:ext cx="4754995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-1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Sales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35676" y="5550396"/>
            <a:ext cx="4754995" cy="489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hygiene, call notes, account research and outbound drafting.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1937950" y="3963144"/>
            <a:ext cx="5130850" cy="2276326"/>
          </a:xfrm>
          <a:prstGeom prst="roundRect">
            <a:avLst>
              <a:gd name="adj" fmla="val 5021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195125" y="4201269"/>
            <a:ext cx="4754995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9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CLAUDE.COM/PLUGINS/PRODUCTIVITY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12195125" y="4489549"/>
            <a:ext cx="4754995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-1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Productivity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195125" y="5550396"/>
            <a:ext cx="4754995" cy="489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Inbox triage, calendar prep, weekly reviews — the assistant table-stakes.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219200" y="6468070"/>
            <a:ext cx="5130701" cy="2904530"/>
          </a:xfrm>
          <a:prstGeom prst="roundRect">
            <a:avLst>
              <a:gd name="adj" fmla="val 3935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476375" y="6706195"/>
            <a:ext cx="4754841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9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CLAUDE.COM/PLUGINS/PRODUCT-MANAGEMENT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1476375" y="6994475"/>
            <a:ext cx="4754841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-1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management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76375" y="8683526"/>
            <a:ext cx="4754841" cy="489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PRDs, roadmap drafts, release notes, customer-feedback synthesis.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578501" y="6468070"/>
            <a:ext cx="5130850" cy="2904530"/>
          </a:xfrm>
          <a:prstGeom prst="roundRect">
            <a:avLst>
              <a:gd name="adj" fmla="val 3935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35676" y="6706195"/>
            <a:ext cx="4754995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9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CLAUDE.COM/PLUGINS/MIRO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6835676" y="6994475"/>
            <a:ext cx="4754995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-1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Miro board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35676" y="8683526"/>
            <a:ext cx="4754995" cy="489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Drives a Miro board — frames, sticky clusters, journey maps — from a single prompt.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1937950" y="6468070"/>
            <a:ext cx="5130850" cy="2904530"/>
          </a:xfrm>
          <a:prstGeom prst="roundRect">
            <a:avLst>
              <a:gd name="adj" fmla="val 4591"/>
            </a:avLst>
          </a:prstGeom>
          <a:solidFill>
            <a:srgbClr val="FBE3D4"/>
          </a:solidFill>
          <a:ln/>
        </p:spPr>
      </p:sp>
      <p:sp>
        <p:nvSpPr>
          <p:cNvPr id="31" name="Shape 28"/>
          <p:cNvSpPr/>
          <p:nvPr/>
        </p:nvSpPr>
        <p:spPr>
          <a:xfrm>
            <a:off x="12328475" y="7015907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32" name="Text 29"/>
          <p:cNvSpPr/>
          <p:nvPr/>
        </p:nvSpPr>
        <p:spPr>
          <a:xfrm>
            <a:off x="12518975" y="6939409"/>
            <a:ext cx="11461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RELEASED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12328475" y="7302103"/>
            <a:ext cx="4480294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Week of 10 May 2026</a:t>
            </a:r>
            <a:endParaRPr lang="en-US" sz="3000" dirty="0"/>
          </a:p>
        </p:txBody>
      </p:sp>
      <p:sp>
        <p:nvSpPr>
          <p:cNvPr id="34" name="Text 31"/>
          <p:cNvSpPr/>
          <p:nvPr/>
        </p:nvSpPr>
        <p:spPr>
          <a:xfrm>
            <a:off x="12328475" y="8300145"/>
            <a:ext cx="4480294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0E111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plugins, one week. The directory ships fast.</a:t>
            </a:r>
            <a:endParaRPr lang="en-US" sz="1575" dirty="0"/>
          </a:p>
        </p:txBody>
      </p:sp>
      <p:sp>
        <p:nvSpPr>
          <p:cNvPr id="35" name="Text 32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/ 30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344357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TOPIC 05 · FOR DEVELOPERS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Learn, model, serve.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1219200" y="3163044"/>
            <a:ext cx="127539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plugins that help you grow as a builder — from learning to code, to training models, to exposing tools to other agents.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219200" y="4306044"/>
            <a:ext cx="5105400" cy="5066556"/>
          </a:xfrm>
          <a:prstGeom prst="roundRect">
            <a:avLst>
              <a:gd name="adj" fmla="val 2256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76375" y="4544169"/>
            <a:ext cx="4728782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9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CLAUDE.COM/PLUGINS/LEARNING-OUTPUT-STYLE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1476375" y="4832449"/>
            <a:ext cx="4728782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-1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Learn to write code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76375" y="8683526"/>
            <a:ext cx="4728782" cy="489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Output-style preset that guides your reasoning instead of just handing over answers. Pairs well with side projects.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91300" y="4306044"/>
            <a:ext cx="5105400" cy="5066556"/>
          </a:xfrm>
          <a:prstGeom prst="roundRect">
            <a:avLst>
              <a:gd name="adj" fmla="val 2256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48475" y="4544169"/>
            <a:ext cx="4728782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9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CLAUDE.COM/PLUGINS/HUGGINGFACE-SKILLS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6848475" y="4832449"/>
            <a:ext cx="4728782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-1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your own AI models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48475" y="8683526"/>
            <a:ext cx="4728782" cy="489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for training, fine-tuning and shipping models on Hugging Face — datasets, transformers, spaces.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1963400" y="4306044"/>
            <a:ext cx="5105400" cy="5066556"/>
          </a:xfrm>
          <a:prstGeom prst="roundRect">
            <a:avLst>
              <a:gd name="adj" fmla="val 2256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220575" y="4544169"/>
            <a:ext cx="4728782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9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CLAUDE.COM/PLUGINS/MCP-SERVER-DEV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12220575" y="4832449"/>
            <a:ext cx="4728782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-1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MCP servers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220575" y="8683526"/>
            <a:ext cx="4728782" cy="489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Scaffolds a working MCP server — the bridge between Claude and any external system you have credentials for.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/ 30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303044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DEVELOPERS · CONT.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Apps, databases, RAG.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1219200" y="3163044"/>
            <a:ext cx="127539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plugins that cover the build surface of a modern app — UI, persistence and retrieval.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219200" y="3963144"/>
            <a:ext cx="3805237" cy="5409456"/>
          </a:xfrm>
          <a:prstGeom prst="roundRect">
            <a:avLst>
              <a:gd name="adj" fmla="val 3004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76375" y="4201269"/>
            <a:ext cx="3389614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9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CLAUDE.COM/PLUGINS/EXPO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1476375" y="4489549"/>
            <a:ext cx="3389614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-1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mobile apps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76375" y="8458051"/>
            <a:ext cx="3389614" cy="714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 workflows — scaffold a React Native app, run it on a device, ship to TestFlight or Play.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33988" y="3963144"/>
            <a:ext cx="3805237" cy="5409456"/>
          </a:xfrm>
          <a:prstGeom prst="roundRect">
            <a:avLst>
              <a:gd name="adj" fmla="val 3004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91163" y="4201269"/>
            <a:ext cx="3389614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9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CLAUDE.COM/PLUGINS/PRISMA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5491163" y="4489549"/>
            <a:ext cx="3389614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-1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Talk to your DB · Prisma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91163" y="8458051"/>
            <a:ext cx="3389614" cy="714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Schema-aware querying — Claude reads your Prisma schema, writes queries and migrations in your dialect.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248775" y="3963144"/>
            <a:ext cx="3805237" cy="5409456"/>
          </a:xfrm>
          <a:prstGeom prst="roundRect">
            <a:avLst>
              <a:gd name="adj" fmla="val 3004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05950" y="4201269"/>
            <a:ext cx="3389614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9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CLAUDE.COM/PLUGINS/MONGODB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9505950" y="4489549"/>
            <a:ext cx="3389614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-1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Talk to your DB · MongoDB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505950" y="8458051"/>
            <a:ext cx="3389614" cy="714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document stores — aggregations, index advice, query tuning. Same posture as Prisma, different shape.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263563" y="3963144"/>
            <a:ext cx="3805237" cy="5409456"/>
          </a:xfrm>
          <a:prstGeom prst="roundRect">
            <a:avLst>
              <a:gd name="adj" fmla="val 3004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520738" y="4201269"/>
            <a:ext cx="3389614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9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CLAUDE.COM/PLUGINS/GOODMEM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13520738" y="4489549"/>
            <a:ext cx="3389614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-1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Create RAG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3520738" y="8458051"/>
            <a:ext cx="3389614" cy="714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Goodmem — stand up a retrieval-augmented memory layer in front of Claude without writing the plumbing.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/ 30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35813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DEVELOPERS · PLATFORMS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for the platforms your customers live on.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1219200" y="4077444"/>
            <a:ext cx="127539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Shopify and the AWS suite — four plugins that cover commerce, hosting, agents and data.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219200" y="4877544"/>
            <a:ext cx="5143500" cy="2076450"/>
          </a:xfrm>
          <a:prstGeom prst="roundRect">
            <a:avLst>
              <a:gd name="adj" fmla="val 5505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76375" y="5115669"/>
            <a:ext cx="4768025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9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CLAUDE.COM/PLUGINS/SHOPIFY-AI-TOOLKIT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1476375" y="5403949"/>
            <a:ext cx="4768025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-1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for Shopify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76375" y="6264920"/>
            <a:ext cx="4768025" cy="489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work, app extensions, storefront APIs — the Shopify-AI toolkit in one plugin.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72250" y="4877544"/>
            <a:ext cx="5143500" cy="2076450"/>
          </a:xfrm>
          <a:prstGeom prst="roundRect">
            <a:avLst>
              <a:gd name="adj" fmla="val 5505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29425" y="5115669"/>
            <a:ext cx="4768025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9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CLAUDE.COM/PLUGINS/AWS-AMPLIFY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6829425" y="5403949"/>
            <a:ext cx="4768025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-1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for AWS Amplify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29425" y="6264920"/>
            <a:ext cx="4768025" cy="489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Auth, data, hosting — Amplify-native scaffolding and code generation.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1925300" y="4877544"/>
            <a:ext cx="5143500" cy="2076450"/>
          </a:xfrm>
          <a:prstGeom prst="roundRect">
            <a:avLst>
              <a:gd name="adj" fmla="val 5505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182475" y="5115669"/>
            <a:ext cx="4768025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9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CLAUDE.COM/PLUGINS/AWS-DEV-TOOLKIT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12182475" y="5403949"/>
            <a:ext cx="4768025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-1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AWS architecture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182475" y="6264920"/>
            <a:ext cx="4768025" cy="489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architectures, IaC and code samples for the AWS services you actually use.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219200" y="7163544"/>
            <a:ext cx="5143500" cy="2394645"/>
          </a:xfrm>
          <a:prstGeom prst="roundRect">
            <a:avLst>
              <a:gd name="adj" fmla="val 4773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476375" y="7401669"/>
            <a:ext cx="4768025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9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CLAUDE.COM/PLUGINS/AWS-AGENTS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1476375" y="7689949"/>
            <a:ext cx="4768025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-1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AWS Agentcore · Bedrock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76375" y="8869114"/>
            <a:ext cx="4768025" cy="489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Bedrock-hosted agents — Agentcore-style — from a Claude conversation.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572250" y="7163544"/>
            <a:ext cx="5143500" cy="2394645"/>
          </a:xfrm>
          <a:prstGeom prst="roundRect">
            <a:avLst>
              <a:gd name="adj" fmla="val 4773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29425" y="7401669"/>
            <a:ext cx="4768025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9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CLAUDE.COM/PLUGINS/AWS-DATA-ANALYTICS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6829425" y="7689949"/>
            <a:ext cx="4768025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-1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AWS data lake / ETL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29425" y="8869114"/>
            <a:ext cx="4768025" cy="489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Glue, Athena, S3 — the analytics path from raw data to queryable lake.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1925300" y="7163544"/>
            <a:ext cx="5143500" cy="2394645"/>
          </a:xfrm>
          <a:prstGeom prst="roundRect">
            <a:avLst>
              <a:gd name="adj" fmla="val 5569"/>
            </a:avLst>
          </a:prstGeom>
          <a:solidFill>
            <a:srgbClr val="DDE9E2"/>
          </a:solidFill>
          <a:ln/>
        </p:spPr>
      </p:sp>
      <p:sp>
        <p:nvSpPr>
          <p:cNvPr id="31" name="Shape 28"/>
          <p:cNvSpPr/>
          <p:nvPr/>
        </p:nvSpPr>
        <p:spPr>
          <a:xfrm>
            <a:off x="12315825" y="7611517"/>
            <a:ext cx="76200" cy="76200"/>
          </a:xfrm>
          <a:prstGeom prst="ellipse">
            <a:avLst/>
          </a:prstGeom>
          <a:solidFill>
            <a:srgbClr val="1F5240"/>
          </a:solidFill>
          <a:ln/>
        </p:spPr>
      </p:sp>
      <p:sp>
        <p:nvSpPr>
          <p:cNvPr id="32" name="Text 29"/>
          <p:cNvSpPr/>
          <p:nvPr/>
        </p:nvSpPr>
        <p:spPr>
          <a:xfrm>
            <a:off x="12506325" y="7535019"/>
            <a:ext cx="61123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NOTE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12315825" y="7897713"/>
            <a:ext cx="4493324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1F52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Most of these need Claude Code / Desktop.</a:t>
            </a:r>
            <a:endParaRPr lang="en-US" sz="3000" dirty="0"/>
          </a:p>
        </p:txBody>
      </p:sp>
      <p:sp>
        <p:nvSpPr>
          <p:cNvPr id="34" name="Text 31"/>
          <p:cNvSpPr/>
          <p:nvPr/>
        </p:nvSpPr>
        <p:spPr>
          <a:xfrm>
            <a:off x="12315825" y="8895755"/>
            <a:ext cx="4493324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0E111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Claude.ai sees a curated subset.</a:t>
            </a:r>
            <a:endParaRPr lang="en-US" sz="1575" dirty="0"/>
          </a:p>
        </p:txBody>
      </p:sp>
      <p:sp>
        <p:nvSpPr>
          <p:cNvPr id="35" name="Text 32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/ 30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00200"/>
            <a:ext cx="2301627" cy="360313"/>
          </a:xfrm>
          <a:prstGeom prst="roundRect">
            <a:avLst>
              <a:gd name="adj" fmla="val 50000"/>
            </a:avLst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390650" y="1676400"/>
            <a:ext cx="2034927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189" kern="0" dirty="0">
                <a:solidFill>
                  <a:srgbClr val="FB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 · 10 MIN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92277" y="1742182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9" name="Text 6"/>
          <p:cNvSpPr/>
          <p:nvPr/>
        </p:nvSpPr>
        <p:spPr>
          <a:xfrm>
            <a:off x="3882777" y="1665684"/>
            <a:ext cx="154736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03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19200" y="2189113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Pick one. Install it. Poke at it.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1219200" y="3408313"/>
            <a:ext cx="7927086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Pick by your seat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600200" y="4078784"/>
            <a:ext cx="1983581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/ operator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3737967" y="4107359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4177903" y="4078784"/>
            <a:ext cx="1809452" cy="326975"/>
          </a:xfrm>
          <a:prstGeom prst="roundRect">
            <a:avLst>
              <a:gd name="adj" fmla="val 11652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273153" y="4107359"/>
            <a:ext cx="1695152" cy="307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18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small-business</a:t>
            </a:r>
            <a:endParaRPr lang="en-US" sz="1518" dirty="0"/>
          </a:p>
        </p:txBody>
      </p:sp>
      <p:sp>
        <p:nvSpPr>
          <p:cNvPr id="16" name="Text 13"/>
          <p:cNvSpPr/>
          <p:nvPr/>
        </p:nvSpPr>
        <p:spPr>
          <a:xfrm>
            <a:off x="6158805" y="4107359"/>
            <a:ext cx="2808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6534894" y="4078784"/>
            <a:ext cx="1578173" cy="326975"/>
          </a:xfrm>
          <a:prstGeom prst="roundRect">
            <a:avLst>
              <a:gd name="adj" fmla="val 11652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630144" y="4107359"/>
            <a:ext cx="1463873" cy="307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18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productivity</a:t>
            </a:r>
            <a:endParaRPr lang="en-US" sz="1518" dirty="0"/>
          </a:p>
        </p:txBody>
      </p:sp>
      <p:sp>
        <p:nvSpPr>
          <p:cNvPr id="19" name="Text 16"/>
          <p:cNvSpPr/>
          <p:nvPr/>
        </p:nvSpPr>
        <p:spPr>
          <a:xfrm>
            <a:off x="1600200" y="4577209"/>
            <a:ext cx="407343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2161729" y="4605784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2601664" y="4577209"/>
            <a:ext cx="2272010" cy="326975"/>
          </a:xfrm>
          <a:prstGeom prst="roundRect">
            <a:avLst>
              <a:gd name="adj" fmla="val 11652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2696914" y="4605784"/>
            <a:ext cx="2157710" cy="307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18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product-management</a:t>
            </a:r>
            <a:endParaRPr lang="en-US" sz="1518" dirty="0"/>
          </a:p>
        </p:txBody>
      </p:sp>
      <p:sp>
        <p:nvSpPr>
          <p:cNvPr id="23" name="Text 20"/>
          <p:cNvSpPr/>
          <p:nvPr/>
        </p:nvSpPr>
        <p:spPr>
          <a:xfrm>
            <a:off x="5045125" y="4605784"/>
            <a:ext cx="214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5355282" y="4577209"/>
            <a:ext cx="653058" cy="326975"/>
          </a:xfrm>
          <a:prstGeom prst="roundRect">
            <a:avLst>
              <a:gd name="adj" fmla="val 11652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450532" y="4605784"/>
            <a:ext cx="538758" cy="307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18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miro</a:t>
            </a:r>
            <a:endParaRPr lang="en-US" sz="1518" dirty="0"/>
          </a:p>
        </p:txBody>
      </p:sp>
      <p:sp>
        <p:nvSpPr>
          <p:cNvPr id="26" name="Text 23"/>
          <p:cNvSpPr/>
          <p:nvPr/>
        </p:nvSpPr>
        <p:spPr>
          <a:xfrm>
            <a:off x="1600200" y="5075634"/>
            <a:ext cx="466427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2220813" y="5104209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2660749" y="5075634"/>
            <a:ext cx="1809452" cy="326975"/>
          </a:xfrm>
          <a:prstGeom prst="roundRect">
            <a:avLst>
              <a:gd name="adj" fmla="val 11652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2755999" y="5104209"/>
            <a:ext cx="1695152" cy="307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18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mcp-server-dev</a:t>
            </a:r>
            <a:endParaRPr lang="en-US" sz="1518" dirty="0"/>
          </a:p>
        </p:txBody>
      </p:sp>
      <p:sp>
        <p:nvSpPr>
          <p:cNvPr id="30" name="Text 27"/>
          <p:cNvSpPr/>
          <p:nvPr/>
        </p:nvSpPr>
        <p:spPr>
          <a:xfrm>
            <a:off x="4641652" y="5104209"/>
            <a:ext cx="40834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your stack (prisma · mongodb · expo)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600200" y="5574060"/>
            <a:ext cx="1312962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/ data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3067348" y="5602635"/>
            <a:ext cx="6451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an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3807768" y="5574060"/>
            <a:ext cx="768697" cy="326975"/>
          </a:xfrm>
          <a:prstGeom prst="roundRect">
            <a:avLst>
              <a:gd name="adj" fmla="val 11652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3903018" y="5602635"/>
            <a:ext cx="654397" cy="307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18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aws-*</a:t>
            </a:r>
            <a:endParaRPr lang="en-US" sz="1518" dirty="0"/>
          </a:p>
        </p:txBody>
      </p:sp>
      <p:sp>
        <p:nvSpPr>
          <p:cNvPr id="35" name="Text 32"/>
          <p:cNvSpPr/>
          <p:nvPr/>
        </p:nvSpPr>
        <p:spPr>
          <a:xfrm>
            <a:off x="4747915" y="5602635"/>
            <a:ext cx="6823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plugin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600200" y="6072485"/>
            <a:ext cx="870793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Learner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2625179" y="610106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50" dirty="0"/>
          </a:p>
        </p:txBody>
      </p:sp>
      <p:sp>
        <p:nvSpPr>
          <p:cNvPr id="38" name="Shape 35"/>
          <p:cNvSpPr/>
          <p:nvPr/>
        </p:nvSpPr>
        <p:spPr>
          <a:xfrm>
            <a:off x="3065115" y="6072485"/>
            <a:ext cx="2618929" cy="326975"/>
          </a:xfrm>
          <a:prstGeom prst="roundRect">
            <a:avLst>
              <a:gd name="adj" fmla="val 11652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3160365" y="6101060"/>
            <a:ext cx="2506996" cy="307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18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learning-output-style</a:t>
            </a:r>
            <a:endParaRPr lang="en-US" sz="1518" dirty="0"/>
          </a:p>
        </p:txBody>
      </p:sp>
      <p:sp>
        <p:nvSpPr>
          <p:cNvPr id="40" name="Text 37"/>
          <p:cNvSpPr/>
          <p:nvPr/>
        </p:nvSpPr>
        <p:spPr>
          <a:xfrm>
            <a:off x="5855494" y="6101060"/>
            <a:ext cx="214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650" dirty="0"/>
          </a:p>
        </p:txBody>
      </p:sp>
      <p:sp>
        <p:nvSpPr>
          <p:cNvPr id="41" name="Shape 38"/>
          <p:cNvSpPr/>
          <p:nvPr/>
        </p:nvSpPr>
        <p:spPr>
          <a:xfrm>
            <a:off x="6165652" y="6072485"/>
            <a:ext cx="2272010" cy="326975"/>
          </a:xfrm>
          <a:prstGeom prst="roundRect">
            <a:avLst>
              <a:gd name="adj" fmla="val 11652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6260902" y="6101060"/>
            <a:ext cx="2157710" cy="307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18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huggingface-skills</a:t>
            </a:r>
            <a:endParaRPr lang="en-US" sz="1518" dirty="0"/>
          </a:p>
        </p:txBody>
      </p:sp>
      <p:sp>
        <p:nvSpPr>
          <p:cNvPr id="43" name="Text 40"/>
          <p:cNvSpPr/>
          <p:nvPr/>
        </p:nvSpPr>
        <p:spPr>
          <a:xfrm>
            <a:off x="9372600" y="3408313"/>
            <a:ext cx="7927086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Walk through these</a:t>
            </a:r>
            <a:endParaRPr lang="en-US" sz="3000" dirty="0"/>
          </a:p>
        </p:txBody>
      </p:sp>
      <p:sp>
        <p:nvSpPr>
          <p:cNvPr id="44" name="Text 41"/>
          <p:cNvSpPr/>
          <p:nvPr/>
        </p:nvSpPr>
        <p:spPr>
          <a:xfrm>
            <a:off x="9652992" y="4097834"/>
            <a:ext cx="112677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from</a:t>
            </a:r>
            <a:endParaRPr lang="en-US" sz="1575" dirty="0"/>
          </a:p>
        </p:txBody>
      </p:sp>
      <p:sp>
        <p:nvSpPr>
          <p:cNvPr id="45" name="Shape 42"/>
          <p:cNvSpPr/>
          <p:nvPr/>
        </p:nvSpPr>
        <p:spPr>
          <a:xfrm>
            <a:off x="10836920" y="4078784"/>
            <a:ext cx="2949773" cy="314623"/>
          </a:xfrm>
          <a:prstGeom prst="roundRect">
            <a:avLst>
              <a:gd name="adj" fmla="val 12110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10932170" y="4107359"/>
            <a:ext cx="2847767" cy="295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49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claude.com/plugins/&lt;slug&gt;</a:t>
            </a:r>
            <a:endParaRPr lang="en-US" sz="1449" dirty="0"/>
          </a:p>
        </p:txBody>
      </p:sp>
      <p:sp>
        <p:nvSpPr>
          <p:cNvPr id="47" name="Text 44"/>
          <p:cNvSpPr/>
          <p:nvPr/>
        </p:nvSpPr>
        <p:spPr>
          <a:xfrm>
            <a:off x="13920043" y="4097834"/>
            <a:ext cx="13394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75" dirty="0"/>
          </a:p>
        </p:txBody>
      </p:sp>
      <p:sp>
        <p:nvSpPr>
          <p:cNvPr id="48" name="Text 45"/>
          <p:cNvSpPr/>
          <p:nvPr/>
        </p:nvSpPr>
        <p:spPr>
          <a:xfrm>
            <a:off x="9652992" y="4545806"/>
            <a:ext cx="44142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</a:t>
            </a:r>
            <a:endParaRPr lang="en-US" sz="1575" dirty="0"/>
          </a:p>
        </p:txBody>
      </p:sp>
      <p:sp>
        <p:nvSpPr>
          <p:cNvPr id="49" name="Shape 46"/>
          <p:cNvSpPr/>
          <p:nvPr/>
        </p:nvSpPr>
        <p:spPr>
          <a:xfrm>
            <a:off x="10151566" y="4526756"/>
            <a:ext cx="1515070" cy="314623"/>
          </a:xfrm>
          <a:prstGeom prst="roundRect">
            <a:avLst>
              <a:gd name="adj" fmla="val 12110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10246816" y="4555331"/>
            <a:ext cx="1400770" cy="295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49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/plugin list</a:t>
            </a:r>
            <a:endParaRPr lang="en-US" sz="1449" dirty="0"/>
          </a:p>
        </p:txBody>
      </p:sp>
      <p:sp>
        <p:nvSpPr>
          <p:cNvPr id="51" name="Text 48"/>
          <p:cNvSpPr/>
          <p:nvPr/>
        </p:nvSpPr>
        <p:spPr>
          <a:xfrm>
            <a:off x="11799987" y="4545806"/>
            <a:ext cx="226769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confirm it's enabled.</a:t>
            </a:r>
            <a:endParaRPr lang="en-US" sz="1575" dirty="0"/>
          </a:p>
        </p:txBody>
      </p:sp>
      <p:sp>
        <p:nvSpPr>
          <p:cNvPr id="52" name="Text 49"/>
          <p:cNvSpPr/>
          <p:nvPr/>
        </p:nvSpPr>
        <p:spPr>
          <a:xfrm>
            <a:off x="9372600" y="4974729"/>
            <a:ext cx="7927086" cy="330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its hero command first. Don't customise yet.</a:t>
            </a:r>
            <a:endParaRPr lang="en-US" sz="1575" dirty="0"/>
          </a:p>
        </p:txBody>
      </p:sp>
      <p:sp>
        <p:nvSpPr>
          <p:cNvPr id="53" name="Text 50"/>
          <p:cNvSpPr/>
          <p:nvPr/>
        </p:nvSpPr>
        <p:spPr>
          <a:xfrm>
            <a:off x="9372600" y="5400080"/>
            <a:ext cx="7927086" cy="330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what skill loaded? Did any MCP server fire?</a:t>
            </a:r>
            <a:endParaRPr lang="en-US" sz="1575" dirty="0"/>
          </a:p>
        </p:txBody>
      </p:sp>
      <p:sp>
        <p:nvSpPr>
          <p:cNvPr id="54" name="Text 51"/>
          <p:cNvSpPr/>
          <p:nvPr/>
        </p:nvSpPr>
        <p:spPr>
          <a:xfrm>
            <a:off x="9652992" y="5844480"/>
            <a:ext cx="226888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Ask: what's missing for</a:t>
            </a:r>
            <a:endParaRPr lang="en-US" sz="1575" dirty="0"/>
          </a:p>
        </p:txBody>
      </p:sp>
      <p:sp>
        <p:nvSpPr>
          <p:cNvPr id="55" name="Text 52"/>
          <p:cNvSpPr/>
          <p:nvPr/>
        </p:nvSpPr>
        <p:spPr>
          <a:xfrm>
            <a:off x="11979027" y="5825430"/>
            <a:ext cx="498277" cy="330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575" i="1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</a:t>
            </a:r>
            <a:endParaRPr lang="en-US" sz="1575" dirty="0"/>
          </a:p>
        </p:txBody>
      </p:sp>
      <p:sp>
        <p:nvSpPr>
          <p:cNvPr id="56" name="Text 53"/>
          <p:cNvSpPr/>
          <p:nvPr/>
        </p:nvSpPr>
        <p:spPr>
          <a:xfrm>
            <a:off x="12534454" y="5844480"/>
            <a:ext cx="10492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workflow?</a:t>
            </a:r>
            <a:endParaRPr lang="en-US" sz="1575" dirty="0"/>
          </a:p>
        </p:txBody>
      </p:sp>
      <p:sp>
        <p:nvSpPr>
          <p:cNvPr id="57" name="Shape 54"/>
          <p:cNvSpPr/>
          <p:nvPr/>
        </p:nvSpPr>
        <p:spPr>
          <a:xfrm>
            <a:off x="9372600" y="6422231"/>
            <a:ext cx="7696200" cy="1371749"/>
          </a:xfrm>
          <a:prstGeom prst="roundRect">
            <a:avLst>
              <a:gd name="adj" fmla="val 11110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763125" y="6796683"/>
            <a:ext cx="1552724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125" b="1" spc="2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SHARE BACK</a:t>
            </a:r>
            <a:endParaRPr lang="en-US" sz="1125" dirty="0"/>
          </a:p>
        </p:txBody>
      </p:sp>
      <p:sp>
        <p:nvSpPr>
          <p:cNvPr id="59" name="Text 56"/>
          <p:cNvSpPr/>
          <p:nvPr/>
        </p:nvSpPr>
        <p:spPr>
          <a:xfrm>
            <a:off x="9763125" y="7152829"/>
            <a:ext cx="7122605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spc="-1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thing that surprised you, one thing you'd change.</a:t>
            </a:r>
            <a:endParaRPr lang="en-US" sz="1950" dirty="0"/>
          </a:p>
        </p:txBody>
      </p:sp>
      <p:sp>
        <p:nvSpPr>
          <p:cNvPr id="60" name="Text 57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 / 30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303044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RECAP · BY THE NUMBERS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58144"/>
            <a:ext cx="11772900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 covered in 45 minutes.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1219200" y="6236345"/>
            <a:ext cx="3728085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23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9900" dirty="0"/>
          </a:p>
        </p:txBody>
      </p:sp>
      <p:sp>
        <p:nvSpPr>
          <p:cNvPr id="10" name="Text 7"/>
          <p:cNvSpPr/>
          <p:nvPr/>
        </p:nvSpPr>
        <p:spPr>
          <a:xfrm>
            <a:off x="1219200" y="7507337"/>
            <a:ext cx="3728085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95900" y="5998666"/>
            <a:ext cx="3728085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23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9900" dirty="0"/>
          </a:p>
        </p:txBody>
      </p:sp>
      <p:sp>
        <p:nvSpPr>
          <p:cNvPr id="12" name="Text 9"/>
          <p:cNvSpPr/>
          <p:nvPr/>
        </p:nvSpPr>
        <p:spPr>
          <a:xfrm>
            <a:off x="5295900" y="7269659"/>
            <a:ext cx="3728085" cy="513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WAYS TO BUILD · PLUGIN-DEV &amp; SKILL-CREATOR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72600" y="6236345"/>
            <a:ext cx="3728085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238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</a:t>
            </a:r>
            <a:endParaRPr lang="en-US" sz="9900" dirty="0"/>
          </a:p>
        </p:txBody>
      </p:sp>
      <p:sp>
        <p:nvSpPr>
          <p:cNvPr id="14" name="Text 11"/>
          <p:cNvSpPr/>
          <p:nvPr/>
        </p:nvSpPr>
        <p:spPr>
          <a:xfrm>
            <a:off x="9372600" y="7507337"/>
            <a:ext cx="3728085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PLUGINS SURVEYED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449300" y="6236345"/>
            <a:ext cx="3728085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23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9900" dirty="0"/>
          </a:p>
        </p:txBody>
      </p:sp>
      <p:sp>
        <p:nvSpPr>
          <p:cNvPr id="16" name="Text 13"/>
          <p:cNvSpPr/>
          <p:nvPr/>
        </p:nvSpPr>
        <p:spPr>
          <a:xfrm>
            <a:off x="13449300" y="7507337"/>
            <a:ext cx="3728085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 EXERCISES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219200" y="8507016"/>
            <a:ext cx="12753975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plugin directory is a moving target. Bookmark </a:t>
            </a:r>
            <a:pPr algn="l" indent="0" marL="0">
              <a:lnSpc>
                <a:spcPct val="142000"/>
              </a:lnSpc>
              <a:buNone/>
            </a:pPr>
            <a:r>
              <a:rPr lang="en-US" sz="2208" spc="-12" kern="0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claude.ai/directory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</a:t>
            </a:r>
            <a:pPr algn="l" indent="0" marL="0">
              <a:lnSpc>
                <a:spcPct val="142000"/>
              </a:lnSpc>
              <a:buNone/>
            </a:pPr>
            <a:r>
              <a:rPr lang="en-US" sz="2208" spc="-12" kern="0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check both weekly.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/ 30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41323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WHEN YOU GET BACK TO YOUR DESK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questions, every time.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219200" y="3467844"/>
            <a:ext cx="7734300" cy="5904756"/>
          </a:xfrm>
          <a:prstGeom prst="roundRect">
            <a:avLst>
              <a:gd name="adj" fmla="val 2258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38325" y="4010769"/>
            <a:ext cx="669093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59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1838325" y="4753719"/>
            <a:ext cx="6690932" cy="524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300" b="1" spc="-4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Am I installing or building?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1838325" y="5411242"/>
            <a:ext cx="6690932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Installing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go to the directory, find the slug, enable it. Three minutes.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start with </a:t>
            </a:r>
            <a:pPr algn="l" indent="0" marL="0">
              <a:lnSpc>
                <a:spcPct val="150000"/>
              </a:lnSpc>
              <a:buNone/>
            </a:pPr>
            <a:r>
              <a:rPr lang="en-US" sz="1656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skill-creator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Only graduate to </a:t>
            </a:r>
            <a:pPr algn="l" indent="0" marL="0">
              <a:lnSpc>
                <a:spcPct val="150000"/>
              </a:lnSpc>
              <a:buNone/>
            </a:pPr>
            <a:r>
              <a:rPr lang="en-US" sz="1656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plugin-dev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one skill isn't enough.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334500" y="3467844"/>
            <a:ext cx="7734300" cy="5904756"/>
          </a:xfrm>
          <a:prstGeom prst="roundRect">
            <a:avLst>
              <a:gd name="adj" fmla="val 2258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53625" y="4010769"/>
            <a:ext cx="669093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59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9953625" y="4753719"/>
            <a:ext cx="6690932" cy="524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300" b="1" spc="-4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will this run?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9953625" y="5411242"/>
            <a:ext cx="6690932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Claude.ai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agents and connectors mostly. Hosted, easy to share, less authorable.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/ Desktop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everything. Authorable. Local plus hosted MCP.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/ 30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127977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 WEEK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small commitments.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219200" y="3467844"/>
            <a:ext cx="5105400" cy="3999607"/>
          </a:xfrm>
          <a:prstGeom prst="roundRect">
            <a:avLst>
              <a:gd name="adj" fmla="val 3334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85925" y="3896469"/>
            <a:ext cx="429710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59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1685925" y="4620369"/>
            <a:ext cx="4297109" cy="397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Install one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685925" y="5075188"/>
            <a:ext cx="4297109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 directory · pick the plugin that maps to your </a:t>
            </a:r>
            <a:pPr algn="l" indent="0" marL="0">
              <a:lnSpc>
                <a:spcPct val="150000"/>
              </a:lnSpc>
              <a:buNone/>
            </a:pPr>
            <a:r>
              <a:rPr lang="en-US" sz="1425" i="1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next-week task. Not the most exciting one.</a:t>
            </a:r>
            <a:endParaRPr lang="en-US" sz="1425" dirty="0"/>
          </a:p>
        </p:txBody>
      </p:sp>
      <p:sp>
        <p:nvSpPr>
          <p:cNvPr id="13" name="Shape 10"/>
          <p:cNvSpPr/>
          <p:nvPr/>
        </p:nvSpPr>
        <p:spPr>
          <a:xfrm>
            <a:off x="6591300" y="3467844"/>
            <a:ext cx="5105400" cy="3999607"/>
          </a:xfrm>
          <a:prstGeom prst="roundRect">
            <a:avLst>
              <a:gd name="adj" fmla="val 3334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58025" y="3896469"/>
            <a:ext cx="429710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59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7058025" y="4620369"/>
            <a:ext cx="4297109" cy="397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one Skill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058025" y="5075188"/>
            <a:ext cx="429710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algn="l" indent="0" marL="0">
              <a:lnSpc>
                <a:spcPct val="150000"/>
              </a:lnSpc>
              <a:buNone/>
            </a:pPr>
            <a:r>
              <a:rPr lang="en-US" sz="1311" spc="-7" kern="0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skill-creator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Encode one task you do every week. Share the </a:t>
            </a:r>
            <a:pPr algn="l" indent="0" marL="0">
              <a:lnSpc>
                <a:spcPct val="150000"/>
              </a:lnSpc>
              <a:buNone/>
            </a:pPr>
            <a:r>
              <a:rPr lang="en-US" sz="1311" spc="-7" kern="0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the team.</a:t>
            </a:r>
            <a:endParaRPr lang="en-US" sz="1425" dirty="0"/>
          </a:p>
        </p:txBody>
      </p:sp>
      <p:sp>
        <p:nvSpPr>
          <p:cNvPr id="17" name="Shape 14"/>
          <p:cNvSpPr/>
          <p:nvPr/>
        </p:nvSpPr>
        <p:spPr>
          <a:xfrm>
            <a:off x="11963400" y="3467844"/>
            <a:ext cx="5105400" cy="3999607"/>
          </a:xfrm>
          <a:prstGeom prst="roundRect">
            <a:avLst>
              <a:gd name="adj" fmla="val 3334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430125" y="3896469"/>
            <a:ext cx="429710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59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4200" dirty="0"/>
          </a:p>
        </p:txBody>
      </p:sp>
      <p:sp>
        <p:nvSpPr>
          <p:cNvPr id="19" name="Text 16"/>
          <p:cNvSpPr/>
          <p:nvPr/>
        </p:nvSpPr>
        <p:spPr>
          <a:xfrm>
            <a:off x="12430125" y="4620369"/>
            <a:ext cx="4297109" cy="397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Watch the directory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2430125" y="5075188"/>
            <a:ext cx="4297109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11" spc="-7" kern="0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claude.ai/directory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</a:t>
            </a:r>
            <a:pPr algn="l" indent="0" marL="0">
              <a:lnSpc>
                <a:spcPct val="150000"/>
              </a:lnSpc>
              <a:buNone/>
            </a:pPr>
            <a:r>
              <a:rPr lang="en-US" sz="1311" spc="-7" kern="0" dirty="0">
                <a:solidFill>
                  <a:srgbClr val="0E1116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claude.com/plugins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Five new plugins shipped last week alone.</a:t>
            </a:r>
            <a:endParaRPr lang="en-US" sz="1425" dirty="0"/>
          </a:p>
        </p:txBody>
      </p:sp>
      <p:sp>
        <p:nvSpPr>
          <p:cNvPr id="21" name="Shape 18"/>
          <p:cNvSpPr/>
          <p:nvPr/>
        </p:nvSpPr>
        <p:spPr>
          <a:xfrm>
            <a:off x="1219200" y="8000851"/>
            <a:ext cx="15849600" cy="1371749"/>
          </a:xfrm>
          <a:prstGeom prst="roundRect">
            <a:avLst>
              <a:gd name="adj" fmla="val 11110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09725" y="8375303"/>
            <a:ext cx="3210108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125" b="1" spc="2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 BACK NEXT SESSION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1609725" y="8731448"/>
            <a:ext cx="15520607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spc="-1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Bring one plugin install story and one Skill draft. We'll read the SKILL.md files together and run a quick eval.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 / 30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71184" cy="10287000"/>
          </a:xfrm>
          <a:prstGeom prst="rect">
            <a:avLst/>
          </a:prstGeom>
          <a:solidFill>
            <a:srgbClr val="0E111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19200"/>
            <a:ext cx="5914656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89" kern="0" dirty="0">
                <a:solidFill>
                  <a:srgbClr val="F4EFE6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CLOSE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3406973"/>
            <a:ext cx="5914656" cy="906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450" spc="-116" kern="0" dirty="0">
                <a:solidFill>
                  <a:srgbClr val="F4EFE6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Install</a:t>
            </a:r>
            <a:endParaRPr lang="en-US" sz="6450" dirty="0"/>
          </a:p>
        </p:txBody>
      </p:sp>
      <p:sp>
        <p:nvSpPr>
          <p:cNvPr id="5" name="Text 3"/>
          <p:cNvSpPr/>
          <p:nvPr/>
        </p:nvSpPr>
        <p:spPr>
          <a:xfrm>
            <a:off x="914400" y="4275237"/>
            <a:ext cx="5914656" cy="906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450" spc="-116" kern="0" dirty="0">
                <a:solidFill>
                  <a:srgbClr val="F4EFE6">
                    <a:alpha val="3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</a:t>
            </a:r>
            <a:endParaRPr lang="en-US" sz="6450" dirty="0"/>
          </a:p>
        </p:txBody>
      </p:sp>
      <p:sp>
        <p:nvSpPr>
          <p:cNvPr id="6" name="Text 4"/>
          <p:cNvSpPr/>
          <p:nvPr/>
        </p:nvSpPr>
        <p:spPr>
          <a:xfrm>
            <a:off x="914400" y="5143500"/>
            <a:ext cx="5914656" cy="906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450" spc="-116" kern="0" dirty="0">
                <a:solidFill>
                  <a:srgbClr val="F4EFE6">
                    <a:alpha val="4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Share</a:t>
            </a:r>
            <a:endParaRPr lang="en-US" sz="6450" dirty="0"/>
          </a:p>
        </p:txBody>
      </p:sp>
      <p:sp>
        <p:nvSpPr>
          <p:cNvPr id="7" name="Text 5"/>
          <p:cNvSpPr/>
          <p:nvPr/>
        </p:nvSpPr>
        <p:spPr>
          <a:xfrm>
            <a:off x="914400" y="6011763"/>
            <a:ext cx="5914656" cy="906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450" spc="-116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Ship</a:t>
            </a:r>
            <a:pPr algn="l" indent="0" marL="0">
              <a:lnSpc>
                <a:spcPct val="106000"/>
              </a:lnSpc>
              <a:buNone/>
            </a:pPr>
            <a:r>
              <a:rPr lang="en-US" sz="6450" spc="-116" kern="0" dirty="0">
                <a:solidFill>
                  <a:srgbClr val="F4EFE6">
                    <a:alpha val="3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6450" dirty="0"/>
          </a:p>
        </p:txBody>
      </p:sp>
      <p:sp>
        <p:nvSpPr>
          <p:cNvPr id="8" name="Text 6"/>
          <p:cNvSpPr/>
          <p:nvPr/>
        </p:nvSpPr>
        <p:spPr>
          <a:xfrm>
            <a:off x="914400" y="8859887"/>
            <a:ext cx="5914656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89" kern="0" dirty="0">
                <a:solidFill>
                  <a:srgbClr val="F4EFE6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THANKS FOR SHOWING UP.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71184" y="0"/>
            <a:ext cx="10716816" cy="10287000"/>
          </a:xfrm>
          <a:prstGeom prst="rect">
            <a:avLst/>
          </a:prstGeom>
          <a:solidFill>
            <a:srgbClr val="0E1116"/>
          </a:solidFill>
          <a:ln/>
        </p:spPr>
      </p:sp>
      <p:sp>
        <p:nvSpPr>
          <p:cNvPr id="10" name="Shape 8"/>
          <p:cNvSpPr/>
          <p:nvPr/>
        </p:nvSpPr>
        <p:spPr>
          <a:xfrm>
            <a:off x="8790384" y="1314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11" name="Text 9"/>
          <p:cNvSpPr/>
          <p:nvPr/>
        </p:nvSpPr>
        <p:spPr>
          <a:xfrm>
            <a:off x="8980884" y="1238250"/>
            <a:ext cx="19484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 OF SESSION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790384" y="3476030"/>
            <a:ext cx="8526768" cy="1542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2600" spc="-328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Questions?</a:t>
            </a:r>
            <a:endParaRPr lang="en-US" sz="12600" dirty="0"/>
          </a:p>
        </p:txBody>
      </p:sp>
      <p:sp>
        <p:nvSpPr>
          <p:cNvPr id="13" name="Text 11"/>
          <p:cNvSpPr/>
          <p:nvPr/>
        </p:nvSpPr>
        <p:spPr>
          <a:xfrm>
            <a:off x="8790384" y="5361087"/>
            <a:ext cx="6671310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the install you tried, the skill you sketched, or the plugin you wish existed. We'll work through them together.</a:t>
            </a:r>
            <a:endParaRPr lang="en-US" sz="2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0384" y="8648700"/>
            <a:ext cx="419100" cy="4191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514284" y="8694837"/>
            <a:ext cx="2267694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 </a:t>
            </a:r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</a:t>
            </a:r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2026-05-15T12:07:49Z</dcterms:created>
  <dcterms:modified xsi:type="dcterms:W3CDTF">2026-05-15T12:07:49Z</dcterms:modified>
</cp:coreProperties>
</file>