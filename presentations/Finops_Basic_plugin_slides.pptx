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12385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3" name="Text 1"/>
          <p:cNvSpPr/>
          <p:nvPr/>
        </p:nvSpPr>
        <p:spPr>
          <a:xfrm>
            <a:off x="1409700" y="1162050"/>
            <a:ext cx="42701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 · LEVEL 1 · 60 MINUTES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19200" y="2596009"/>
            <a:ext cx="8135105" cy="283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1700" spc="-30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FinOps Basic.</a:t>
            </a:r>
            <a:endParaRPr lang="en-US" sz="11700" dirty="0"/>
          </a:p>
        </p:txBody>
      </p:sp>
      <p:sp>
        <p:nvSpPr>
          <p:cNvPr id="5" name="Text 3"/>
          <p:cNvSpPr/>
          <p:nvPr/>
        </p:nvSpPr>
        <p:spPr>
          <a:xfrm>
            <a:off x="1219200" y="5808315"/>
            <a:ext cx="7456170" cy="1769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working Claude plugin for financial services — in Markdown, with no code. Skills, slash commands, and your first sub-agent in a single hour.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8724900"/>
            <a:ext cx="419100" cy="419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43100" y="8799612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885182" y="8771037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3098155" y="8771037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972794" y="8741420"/>
            <a:ext cx="4268903" cy="424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GUIDE · BUILDING CLAUDE PLUGINS FOR FINANCIAL SERVICES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10336560" y="0"/>
            <a:ext cx="7951440" cy="10287000"/>
          </a:xfrm>
          <a:prstGeom prst="rect">
            <a:avLst/>
          </a:prstGeom>
          <a:solidFill>
            <a:srgbClr val="0E1116"/>
          </a:solidFill>
          <a:ln/>
        </p:spPr>
      </p:sp>
      <p:sp>
        <p:nvSpPr>
          <p:cNvPr id="12" name="Text 9"/>
          <p:cNvSpPr/>
          <p:nvPr/>
        </p:nvSpPr>
        <p:spPr>
          <a:xfrm>
            <a:off x="16118086" y="609600"/>
            <a:ext cx="1636514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F4EFE6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 · 2026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250960" y="2327225"/>
            <a:ext cx="6306319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231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YOU'LL BUILD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250960" y="2839938"/>
            <a:ext cx="6306319" cy="4117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finops-basic/</a:t>
            </a:r>
            <a:endParaRPr lang="en-US" sz="15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 </a:t>
            </a:r>
            <a:endParaRPr lang="en-US" sz="15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.claude-plugin/ </a:t>
            </a:r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└── plugin.json</a:t>
            </a:r>
            <a:endParaRPr lang="en-US" sz="15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 </a:t>
            </a:r>
            <a:endParaRPr lang="en-US" sz="15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skills/ </a:t>
            </a:r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compliance-language.md</a:t>
            </a:r>
            <a:endParaRPr lang="en-US" sz="15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└── client-meeting-prep.md</a:t>
            </a:r>
            <a:endParaRPr lang="en-US" sz="15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 </a:t>
            </a:r>
            <a:endParaRPr lang="en-US" sz="15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commands/ </a:t>
            </a:r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prep-meeting.md</a:t>
            </a:r>
            <a:endParaRPr lang="en-US" sz="15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draft-report.md</a:t>
            </a:r>
            <a:endParaRPr lang="en-US" sz="15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└── review-draft.md</a:t>
            </a:r>
            <a:endParaRPr lang="en-US" sz="15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 </a:t>
            </a:r>
            <a:endParaRPr lang="en-US" sz="15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agents/ </a:t>
            </a:r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└── compliance-reviewer.md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11250960" y="7452420"/>
            <a:ext cx="6122640" cy="9525"/>
          </a:xfrm>
          <a:prstGeom prst="rect">
            <a:avLst/>
          </a:prstGeom>
          <a:solidFill>
            <a:srgbClr val="F4EFE6">
              <a:alpha val="12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250960" y="7766745"/>
            <a:ext cx="1042095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76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</a:t>
            </a:r>
            <a:pPr algn="l" indent="0" marL="0">
              <a:lnSpc>
                <a:spcPct val="156000"/>
              </a:lnSpc>
              <a:buNone/>
            </a:pPr>
            <a:r>
              <a:rPr lang="en-US" sz="975" spc="176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MODULES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2674054" y="7766745"/>
            <a:ext cx="1042095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76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 </a:t>
            </a:r>
            <a:pPr algn="l" indent="0" marL="0">
              <a:lnSpc>
                <a:spcPct val="156000"/>
              </a:lnSpc>
              <a:buNone/>
            </a:pPr>
            <a:r>
              <a:rPr lang="en-US" sz="975" spc="176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SLIDES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4097149" y="7766745"/>
            <a:ext cx="1621631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76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</a:t>
            </a:r>
            <a:pPr algn="l" indent="0" marL="0">
              <a:lnSpc>
                <a:spcPct val="156000"/>
              </a:lnSpc>
              <a:buNone/>
            </a:pPr>
            <a:r>
              <a:rPr lang="en-US" sz="975" spc="176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LINES OF CODE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15417850" y="9469487"/>
            <a:ext cx="226055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F4EFE6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 · FOUNDATIONS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879961" y="457200"/>
            <a:ext cx="1265039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· 02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234969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YOU'LL BUILD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plugin that turns Claude into a financial specialist.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1219200" y="4229844"/>
            <a:ext cx="12165330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b="1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FinOps Basic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folder of Markdown files that Claude loads as one cohesive plugin. Four moving parts, each doing a single job well.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219200" y="5705029"/>
            <a:ext cx="3790950" cy="3667571"/>
          </a:xfrm>
          <a:prstGeom prst="roundRect">
            <a:avLst>
              <a:gd name="adj" fmla="val 363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09725" y="6057454"/>
            <a:ext cx="779264" cy="341263"/>
          </a:xfrm>
          <a:prstGeom prst="roundRect">
            <a:avLst>
              <a:gd name="adj" fmla="val 50000"/>
            </a:avLst>
          </a:prstGeom>
          <a:solidFill>
            <a:srgbClr val="DDE9E2"/>
          </a:solidFill>
          <a:ln/>
        </p:spPr>
      </p:sp>
      <p:sp>
        <p:nvSpPr>
          <p:cNvPr id="13" name="Text 10"/>
          <p:cNvSpPr/>
          <p:nvPr/>
        </p:nvSpPr>
        <p:spPr>
          <a:xfrm>
            <a:off x="1752600" y="6124129"/>
            <a:ext cx="569714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609725" y="6570166"/>
            <a:ext cx="3100197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Compliance language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609725" y="7385447"/>
            <a:ext cx="3100197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Fires automatically on every draft — keeps disclaimers and risk language in by default.</a:t>
            </a:r>
            <a:endParaRPr lang="en-US" sz="1425" dirty="0"/>
          </a:p>
        </p:txBody>
      </p:sp>
      <p:sp>
        <p:nvSpPr>
          <p:cNvPr id="16" name="Shape 13"/>
          <p:cNvSpPr/>
          <p:nvPr/>
        </p:nvSpPr>
        <p:spPr>
          <a:xfrm>
            <a:off x="5238750" y="5705029"/>
            <a:ext cx="3790950" cy="3667571"/>
          </a:xfrm>
          <a:prstGeom prst="roundRect">
            <a:avLst>
              <a:gd name="adj" fmla="val 363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29275" y="6057454"/>
            <a:ext cx="976610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5772150" y="6124129"/>
            <a:ext cx="76706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29275" y="6570166"/>
            <a:ext cx="3100197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/prep-meeting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629275" y="7034957"/>
            <a:ext cx="3100197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a full client briefing pack from a name and a few notes.</a:t>
            </a:r>
            <a:endParaRPr lang="en-US" sz="1425" dirty="0"/>
          </a:p>
        </p:txBody>
      </p:sp>
      <p:sp>
        <p:nvSpPr>
          <p:cNvPr id="21" name="Shape 18"/>
          <p:cNvSpPr/>
          <p:nvPr/>
        </p:nvSpPr>
        <p:spPr>
          <a:xfrm>
            <a:off x="9258300" y="5705029"/>
            <a:ext cx="3790950" cy="3667571"/>
          </a:xfrm>
          <a:prstGeom prst="roundRect">
            <a:avLst>
              <a:gd name="adj" fmla="val 363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648825" y="6057454"/>
            <a:ext cx="976610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23" name="Text 20"/>
          <p:cNvSpPr/>
          <p:nvPr/>
        </p:nvSpPr>
        <p:spPr>
          <a:xfrm>
            <a:off x="9791700" y="6124129"/>
            <a:ext cx="76706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648825" y="6570166"/>
            <a:ext cx="3100197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/draft-report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9648825" y="7034957"/>
            <a:ext cx="3100197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Turns a paragraph of quarter performance into a polished, compliant client report.</a:t>
            </a:r>
            <a:endParaRPr lang="en-US" sz="1425" dirty="0"/>
          </a:p>
        </p:txBody>
      </p:sp>
      <p:sp>
        <p:nvSpPr>
          <p:cNvPr id="26" name="Shape 23"/>
          <p:cNvSpPr/>
          <p:nvPr/>
        </p:nvSpPr>
        <p:spPr>
          <a:xfrm>
            <a:off x="13277850" y="5705029"/>
            <a:ext cx="3790950" cy="3667571"/>
          </a:xfrm>
          <a:prstGeom prst="roundRect">
            <a:avLst>
              <a:gd name="adj" fmla="val 363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668375" y="6057454"/>
            <a:ext cx="1173956" cy="341263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811250" y="6124129"/>
            <a:ext cx="964406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SUB-AGENT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3668375" y="6570166"/>
            <a:ext cx="3100197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compliance-reviewer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13668375" y="7034957"/>
            <a:ext cx="3100197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Audits drafts before they leave your desk. Independent. Auditable. Hands back a structured report.</a:t>
            </a:r>
            <a:endParaRPr lang="en-US" sz="1425" dirty="0"/>
          </a:p>
        </p:txBody>
      </p:sp>
      <p:sp>
        <p:nvSpPr>
          <p:cNvPr id="31" name="Text 28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40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879961" y="457200"/>
            <a:ext cx="1265039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· 03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33059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TODAY'S SESSION · 60 MIN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Seven modules.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1219200" y="3620244"/>
            <a:ext cx="713631" cy="758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86" kern="0" dirty="0">
                <a:solidFill>
                  <a:srgbClr val="A8A0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1.1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2123331" y="3620244"/>
            <a:ext cx="4747790" cy="39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Plugin structure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123331" y="4030861"/>
            <a:ext cx="474779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folder. The three primitives. The golden rule.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9525000" y="3620244"/>
            <a:ext cx="841325" cy="758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86" kern="0" dirty="0">
                <a:solidFill>
                  <a:srgbClr val="A8A0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1.2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10556825" y="3620244"/>
            <a:ext cx="3992822" cy="39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Explore the sample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556825" y="4030861"/>
            <a:ext cx="3992822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every file. Two discussion prompts.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219200" y="4798070"/>
            <a:ext cx="846237" cy="758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86" kern="0" dirty="0">
                <a:solidFill>
                  <a:srgbClr val="A8A0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1.3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2255937" y="4798070"/>
            <a:ext cx="2687379" cy="39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 the sample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2255937" y="5208687"/>
            <a:ext cx="2687379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it. Three real prompts.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9525000" y="4798070"/>
            <a:ext cx="860822" cy="758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86" kern="0" dirty="0">
                <a:solidFill>
                  <a:srgbClr val="A8A0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1.4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10576322" y="4798070"/>
            <a:ext cx="4050154" cy="39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Customise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0576322" y="5208687"/>
            <a:ext cx="4050154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one exercise: skill · command · rules.</a:t>
            </a:r>
            <a:endParaRPr lang="en-US" sz="1575" dirty="0"/>
          </a:p>
        </p:txBody>
      </p:sp>
      <p:sp>
        <p:nvSpPr>
          <p:cNvPr id="22" name="Text 19"/>
          <p:cNvSpPr/>
          <p:nvPr/>
        </p:nvSpPr>
        <p:spPr>
          <a:xfrm>
            <a:off x="1219200" y="5975896"/>
            <a:ext cx="841921" cy="758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86" kern="0" dirty="0">
                <a:solidFill>
                  <a:srgbClr val="A8A0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1.5</a:t>
            </a:r>
            <a:endParaRPr lang="en-US" sz="4800" dirty="0"/>
          </a:p>
        </p:txBody>
      </p:sp>
      <p:sp>
        <p:nvSpPr>
          <p:cNvPr id="23" name="Text 20"/>
          <p:cNvSpPr/>
          <p:nvPr/>
        </p:nvSpPr>
        <p:spPr>
          <a:xfrm>
            <a:off x="2251621" y="5975896"/>
            <a:ext cx="3581844" cy="39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 your customisation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2251621" y="6386513"/>
            <a:ext cx="3581844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Reload, run, verify.</a:t>
            </a:r>
            <a:endParaRPr lang="en-US" sz="1575" dirty="0"/>
          </a:p>
        </p:txBody>
      </p:sp>
      <p:sp>
        <p:nvSpPr>
          <p:cNvPr id="25" name="Text 22"/>
          <p:cNvSpPr/>
          <p:nvPr/>
        </p:nvSpPr>
        <p:spPr>
          <a:xfrm>
            <a:off x="9525000" y="5975896"/>
            <a:ext cx="846088" cy="758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86" kern="0" dirty="0">
                <a:solidFill>
                  <a:srgbClr val="A8A0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1.6</a:t>
            </a:r>
            <a:endParaRPr lang="en-US" sz="4800" dirty="0"/>
          </a:p>
        </p:txBody>
      </p:sp>
      <p:sp>
        <p:nvSpPr>
          <p:cNvPr id="26" name="Text 23"/>
          <p:cNvSpPr/>
          <p:nvPr/>
        </p:nvSpPr>
        <p:spPr>
          <a:xfrm>
            <a:off x="10561588" y="5975896"/>
            <a:ext cx="3826806" cy="39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Sub-agents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10561588" y="6386513"/>
            <a:ext cx="3826806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 Claudes you can delegate to.</a:t>
            </a:r>
            <a:endParaRPr lang="en-US" sz="1575" dirty="0"/>
          </a:p>
        </p:txBody>
      </p:sp>
      <p:sp>
        <p:nvSpPr>
          <p:cNvPr id="28" name="Text 25"/>
          <p:cNvSpPr/>
          <p:nvPr/>
        </p:nvSpPr>
        <p:spPr>
          <a:xfrm>
            <a:off x="1219200" y="7153721"/>
            <a:ext cx="796379" cy="758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86" kern="0" dirty="0">
                <a:solidFill>
                  <a:srgbClr val="A8A0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1.7</a:t>
            </a:r>
            <a:endParaRPr lang="en-US" sz="4800" dirty="0"/>
          </a:p>
        </p:txBody>
      </p:sp>
      <p:sp>
        <p:nvSpPr>
          <p:cNvPr id="29" name="Text 26"/>
          <p:cNvSpPr/>
          <p:nvPr/>
        </p:nvSpPr>
        <p:spPr>
          <a:xfrm>
            <a:off x="2206079" y="7153721"/>
            <a:ext cx="2790852" cy="39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Package and share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2206079" y="7564338"/>
            <a:ext cx="2790852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Zip it. Send it. Done.</a:t>
            </a:r>
            <a:endParaRPr lang="en-US" sz="1575" dirty="0"/>
          </a:p>
        </p:txBody>
      </p:sp>
      <p:sp>
        <p:nvSpPr>
          <p:cNvPr id="31" name="Text 28"/>
          <p:cNvSpPr/>
          <p:nvPr/>
        </p:nvSpPr>
        <p:spPr>
          <a:xfrm>
            <a:off x="10401300" y="7236321"/>
            <a:ext cx="3719347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210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 →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0401300" y="7482334"/>
            <a:ext cx="3719347" cy="347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b="1" spc="-25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2 · MCP &amp; orchestration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40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879961" y="457200"/>
            <a:ext cx="1265039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 · 04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704975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28477"/>
            <a:ext cx="20822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WHO THIS IS FOR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105471"/>
            <a:ext cx="7691628" cy="146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Anyone who uses Claude daily.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1219200" y="3836640"/>
            <a:ext cx="7691628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analysts, financial advisers, operations staff. No prior plugin work assumed — if you can edit a text file, you can finish this lab.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72515" y="5516017"/>
            <a:ext cx="7690485" cy="1260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build &amp; test using only Markdown and a text editor</a:t>
            </a:r>
            <a:endParaRPr lang="en-US" sz="165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leave with a working plugin you can hand to a colleague</a:t>
            </a:r>
            <a:endParaRPr lang="en-US" sz="165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finish in one hour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9601200" y="1704975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13" name="Text 10"/>
          <p:cNvSpPr/>
          <p:nvPr/>
        </p:nvSpPr>
        <p:spPr>
          <a:xfrm>
            <a:off x="9791700" y="1628477"/>
            <a:ext cx="18148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YOU NEED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601200" y="2105471"/>
            <a:ext cx="7691628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things.</a:t>
            </a:r>
            <a:endParaRPr lang="en-US" sz="5400" dirty="0"/>
          </a:p>
        </p:txBody>
      </p:sp>
      <p:sp>
        <p:nvSpPr>
          <p:cNvPr id="15" name="Shape 12"/>
          <p:cNvSpPr/>
          <p:nvPr/>
        </p:nvSpPr>
        <p:spPr>
          <a:xfrm>
            <a:off x="9601200" y="3199656"/>
            <a:ext cx="7467600" cy="1213396"/>
          </a:xfrm>
          <a:prstGeom prst="roundRect">
            <a:avLst>
              <a:gd name="adj" fmla="val 10990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15525" y="3475881"/>
            <a:ext cx="4369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10466784" y="3542556"/>
            <a:ext cx="3215320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2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paid Claude subscription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0466784" y="3865364"/>
            <a:ext cx="32153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Pro, Max, Team, or Enterprise.</a:t>
            </a:r>
            <a:endParaRPr lang="en-US" sz="1425" dirty="0"/>
          </a:p>
        </p:txBody>
      </p:sp>
      <p:sp>
        <p:nvSpPr>
          <p:cNvPr id="19" name="Shape 16"/>
          <p:cNvSpPr/>
          <p:nvPr/>
        </p:nvSpPr>
        <p:spPr>
          <a:xfrm>
            <a:off x="9601200" y="4603552"/>
            <a:ext cx="7467600" cy="1213396"/>
          </a:xfrm>
          <a:prstGeom prst="roundRect">
            <a:avLst>
              <a:gd name="adj" fmla="val 10990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915525" y="4879777"/>
            <a:ext cx="4929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10522744" y="4946452"/>
            <a:ext cx="4979569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2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text editor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0522744" y="5269260"/>
            <a:ext cx="497956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Code, Notepad++, nano — whatever you already use.</a:t>
            </a:r>
            <a:endParaRPr lang="en-US" sz="1425" dirty="0"/>
          </a:p>
        </p:txBody>
      </p:sp>
      <p:sp>
        <p:nvSpPr>
          <p:cNvPr id="23" name="Shape 20"/>
          <p:cNvSpPr/>
          <p:nvPr/>
        </p:nvSpPr>
        <p:spPr>
          <a:xfrm>
            <a:off x="9601200" y="6007447"/>
            <a:ext cx="7467600" cy="1213396"/>
          </a:xfrm>
          <a:prstGeom prst="roundRect">
            <a:avLst>
              <a:gd name="adj" fmla="val 10990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15525" y="6283672"/>
            <a:ext cx="4955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10525423" y="6350347"/>
            <a:ext cx="310755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2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workshop files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10525423" y="6673155"/>
            <a:ext cx="31075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-7" kern="0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plugin-files.zip </a:t>
            </a:r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unzip it anywhere.</a:t>
            </a:r>
            <a:endParaRPr lang="en-US" sz="1425" dirty="0"/>
          </a:p>
        </p:txBody>
      </p:sp>
      <p:sp>
        <p:nvSpPr>
          <p:cNvPr id="27" name="Text 24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40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642282" y="457200"/>
            <a:ext cx="1502718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19200" y="3223320"/>
            <a:ext cx="4754381" cy="387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6000" spc="-108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1.1</a:t>
            </a:r>
            <a:endParaRPr lang="en-US" sz="36000" dirty="0"/>
          </a:p>
        </p:txBody>
      </p:sp>
      <p:sp>
        <p:nvSpPr>
          <p:cNvPr id="8" name="Shape 5"/>
          <p:cNvSpPr/>
          <p:nvPr/>
        </p:nvSpPr>
        <p:spPr>
          <a:xfrm>
            <a:off x="6749504" y="3915073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9" name="Text 6"/>
          <p:cNvSpPr/>
          <p:nvPr/>
        </p:nvSpPr>
        <p:spPr>
          <a:xfrm>
            <a:off x="6940004" y="3838575"/>
            <a:ext cx="14135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ONE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49504" y="4391769"/>
            <a:ext cx="86334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Plugin structure.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6749504" y="5610969"/>
            <a:ext cx="8633460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Claude plugin is a folder with a specific layout. Once you know the layout, the rest of the lab is fill-in-the-blanks.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40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1.1 · 06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14135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FOLDER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folders. One JSON. The whole thing.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1219200" y="4382244"/>
            <a:ext cx="7982843" cy="3532287"/>
          </a:xfrm>
          <a:prstGeom prst="roundRect">
            <a:avLst>
              <a:gd name="adj" fmla="val 3236"/>
            </a:avLst>
          </a:prstGeom>
          <a:solidFill>
            <a:srgbClr val="0E1116"/>
          </a:solidFill>
          <a:ln/>
        </p:spPr>
      </p:sp>
      <p:sp>
        <p:nvSpPr>
          <p:cNvPr id="11" name="Text 8"/>
          <p:cNvSpPr/>
          <p:nvPr/>
        </p:nvSpPr>
        <p:spPr>
          <a:xfrm>
            <a:off x="1562100" y="4687044"/>
            <a:ext cx="7536528" cy="2960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0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my-plugin/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.claude-plugin/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└──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D2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plugin.json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what this plugin is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skills/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└── my-skill.md        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auto-fires on relevant work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commands/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└── my-command.md      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trigger with /command-name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agents/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└── my-agent.md        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specialist sub-Claudes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0192643" y="4382244"/>
            <a:ext cx="1218307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plugin.json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1506200" y="4410819"/>
            <a:ext cx="48550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identity card. Name, version, description.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0192643" y="4882753"/>
            <a:ext cx="684312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skills/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0972205" y="4911328"/>
            <a:ext cx="57078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background knowledge Claude applies automatically.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192643" y="5383262"/>
            <a:ext cx="1293465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commands/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1581358" y="5411837"/>
            <a:ext cx="41620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slash commands you trigger by name.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0192643" y="5883771"/>
            <a:ext cx="859482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agents/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1147375" y="5912346"/>
            <a:ext cx="55439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focused specialists, invoked by commands or skills.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9811643" y="6650980"/>
            <a:ext cx="7257157" cy="1741438"/>
          </a:xfrm>
          <a:prstGeom prst="roundRect">
            <a:avLst>
              <a:gd name="adj" fmla="val 8751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02168" y="7032873"/>
            <a:ext cx="818406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202168" y="7374136"/>
            <a:ext cx="6670390" cy="742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There is no compilation step. Edit a Markdown file, reload the plugin, you're done.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40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1.1 · 08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20822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GOLDEN RULE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When each one fires.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1219200" y="3620244"/>
            <a:ext cx="142875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219200" y="3934569"/>
            <a:ext cx="2747010" cy="568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600" b="1" spc="-4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Skills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4343400" y="3983236"/>
            <a:ext cx="11498199" cy="470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 </a:t>
            </a:r>
            <a:pPr algn="l" indent="0" marL="0">
              <a:lnSpc>
                <a:spcPct val="142000"/>
              </a:lnSpc>
              <a:buNone/>
            </a:pPr>
            <a:r>
              <a:rPr lang="en-US" sz="2400" b="1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relevant. The user doesn't know they're there.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219200" y="5036344"/>
            <a:ext cx="142875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219200" y="5350669"/>
            <a:ext cx="2747010" cy="568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600" b="1" spc="-4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Commands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4343400" y="5399336"/>
            <a:ext cx="11498199" cy="470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 when you type </a:t>
            </a:r>
            <a:pPr algn="l" indent="0" marL="0">
              <a:lnSpc>
                <a:spcPct val="142000"/>
              </a:lnSpc>
              <a:buNone/>
            </a:pPr>
            <a:r>
              <a:rPr lang="en-US" sz="2100" spc="-12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/command-name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Explicit, visible, deliberate.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1219200" y="7601843"/>
            <a:ext cx="142875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219200" y="6452443"/>
            <a:ext cx="142875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219200" y="6766768"/>
            <a:ext cx="2747010" cy="568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600" b="1" spc="-4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4343400" y="6815435"/>
            <a:ext cx="11498199" cy="470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</a:t>
            </a:r>
            <a:pPr algn="l" indent="0" marL="0">
              <a:lnSpc>
                <a:spcPct val="142000"/>
              </a:lnSpc>
              <a:buNone/>
            </a:pPr>
            <a:r>
              <a:rPr lang="en-US" sz="2400" b="1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invoked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commands or skills to handle a focused task.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40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642282" y="457200"/>
            <a:ext cx="1502718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19200" y="3223320"/>
            <a:ext cx="5740515" cy="387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6000" spc="-108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1.2</a:t>
            </a:r>
            <a:endParaRPr lang="en-US" sz="36000" dirty="0"/>
          </a:p>
        </p:txBody>
      </p:sp>
      <p:sp>
        <p:nvSpPr>
          <p:cNvPr id="8" name="Shape 5"/>
          <p:cNvSpPr/>
          <p:nvPr/>
        </p:nvSpPr>
        <p:spPr>
          <a:xfrm>
            <a:off x="7706916" y="3915073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9" name="Text 6"/>
          <p:cNvSpPr/>
          <p:nvPr/>
        </p:nvSpPr>
        <p:spPr>
          <a:xfrm>
            <a:off x="7897416" y="3838575"/>
            <a:ext cx="14135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TWO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06916" y="4391769"/>
            <a:ext cx="86334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Explore the sample.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7706916" y="5610969"/>
            <a:ext cx="8633460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 </a:t>
            </a:r>
            <a:pPr algn="l" indent="0" marL="0">
              <a:lnSpc>
                <a:spcPct val="142000"/>
              </a:lnSpc>
              <a:buNone/>
            </a:pPr>
            <a:r>
              <a:rPr lang="en-US" sz="975" spc="-12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level1-finops-basic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folder. Read every file. Then we'll discuss two questions.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40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1.2 · 10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261717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SEVEN FILES TO READ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sample plugin, end-to-end.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1219200" y="3467844"/>
            <a:ext cx="77724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219200" y="3686919"/>
            <a:ext cx="457200" cy="954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828800" y="3686919"/>
            <a:ext cx="2602260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.claude-plugin/plugin.json</a:t>
            </a:r>
            <a:endParaRPr lang="en-US" sz="1275" dirty="0"/>
          </a:p>
        </p:txBody>
      </p:sp>
      <p:sp>
        <p:nvSpPr>
          <p:cNvPr id="13" name="Text 10"/>
          <p:cNvSpPr/>
          <p:nvPr/>
        </p:nvSpPr>
        <p:spPr>
          <a:xfrm>
            <a:off x="1828800" y="3932634"/>
            <a:ext cx="260226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plugin's identity card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9296400" y="3467844"/>
            <a:ext cx="77724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296400" y="3686919"/>
            <a:ext cx="457200" cy="954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906000" y="3686919"/>
            <a:ext cx="3615721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skills/compliance-language.md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9906000" y="3932634"/>
            <a:ext cx="3615721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Claude follows on every output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1219200" y="4984403"/>
            <a:ext cx="77724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219200" y="5203478"/>
            <a:ext cx="457200" cy="954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828800" y="5203478"/>
            <a:ext cx="2902142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skills/client-meeting-prep.md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1828800" y="5449193"/>
            <a:ext cx="2902142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meeting prep workflow</a:t>
            </a:r>
            <a:endParaRPr lang="en-US" sz="1575" dirty="0"/>
          </a:p>
        </p:txBody>
      </p:sp>
      <p:sp>
        <p:nvSpPr>
          <p:cNvPr id="22" name="Shape 19"/>
          <p:cNvSpPr/>
          <p:nvPr/>
        </p:nvSpPr>
        <p:spPr>
          <a:xfrm>
            <a:off x="9296400" y="4984403"/>
            <a:ext cx="77724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9296400" y="5203478"/>
            <a:ext cx="457200" cy="954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9906000" y="5203478"/>
            <a:ext cx="3156609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commands/prep-meeting.md</a:t>
            </a:r>
            <a:endParaRPr lang="en-US" sz="1275" dirty="0"/>
          </a:p>
        </p:txBody>
      </p:sp>
      <p:sp>
        <p:nvSpPr>
          <p:cNvPr id="25" name="Text 22"/>
          <p:cNvSpPr/>
          <p:nvPr/>
        </p:nvSpPr>
        <p:spPr>
          <a:xfrm>
            <a:off x="9906000" y="5449193"/>
            <a:ext cx="3156609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Slash command — briefing pack</a:t>
            </a:r>
            <a:endParaRPr lang="en-US" sz="1575" dirty="0"/>
          </a:p>
        </p:txBody>
      </p:sp>
      <p:sp>
        <p:nvSpPr>
          <p:cNvPr id="26" name="Shape 23"/>
          <p:cNvSpPr/>
          <p:nvPr/>
        </p:nvSpPr>
        <p:spPr>
          <a:xfrm>
            <a:off x="1219200" y="6501110"/>
            <a:ext cx="77724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219200" y="6720185"/>
            <a:ext cx="457200" cy="954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828800" y="6720185"/>
            <a:ext cx="305083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commands/draft-report.md</a:t>
            </a:r>
            <a:endParaRPr lang="en-US" sz="1275" dirty="0"/>
          </a:p>
        </p:txBody>
      </p:sp>
      <p:sp>
        <p:nvSpPr>
          <p:cNvPr id="29" name="Text 26"/>
          <p:cNvSpPr/>
          <p:nvPr/>
        </p:nvSpPr>
        <p:spPr>
          <a:xfrm>
            <a:off x="1828800" y="6965900"/>
            <a:ext cx="3050837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Slash command — client report</a:t>
            </a:r>
            <a:endParaRPr lang="en-US" sz="1575" dirty="0"/>
          </a:p>
        </p:txBody>
      </p:sp>
      <p:sp>
        <p:nvSpPr>
          <p:cNvPr id="30" name="Shape 27"/>
          <p:cNvSpPr/>
          <p:nvPr/>
        </p:nvSpPr>
        <p:spPr>
          <a:xfrm>
            <a:off x="9296400" y="6501110"/>
            <a:ext cx="77724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9296400" y="6720185"/>
            <a:ext cx="457200" cy="954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9906000" y="6720185"/>
            <a:ext cx="4050000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commands/review-draft.md</a:t>
            </a:r>
            <a:endParaRPr lang="en-US" sz="1275" dirty="0"/>
          </a:p>
        </p:txBody>
      </p:sp>
      <p:sp>
        <p:nvSpPr>
          <p:cNvPr id="33" name="Text 30"/>
          <p:cNvSpPr/>
          <p:nvPr/>
        </p:nvSpPr>
        <p:spPr>
          <a:xfrm>
            <a:off x="9906000" y="6965900"/>
            <a:ext cx="405000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Slash command — delegates to the agent</a:t>
            </a:r>
            <a:endParaRPr lang="en-US" sz="1575" dirty="0"/>
          </a:p>
        </p:txBody>
      </p:sp>
      <p:sp>
        <p:nvSpPr>
          <p:cNvPr id="34" name="Shape 31"/>
          <p:cNvSpPr/>
          <p:nvPr/>
        </p:nvSpPr>
        <p:spPr>
          <a:xfrm>
            <a:off x="1219200" y="9363075"/>
            <a:ext cx="77724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219200" y="8017818"/>
            <a:ext cx="77724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1219200" y="8236893"/>
            <a:ext cx="457200" cy="954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1828800" y="8236893"/>
            <a:ext cx="3294266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agents/compliance-reviewer.md</a:t>
            </a:r>
            <a:endParaRPr lang="en-US" sz="1275" dirty="0"/>
          </a:p>
        </p:txBody>
      </p:sp>
      <p:sp>
        <p:nvSpPr>
          <p:cNvPr id="38" name="Text 35"/>
          <p:cNvSpPr/>
          <p:nvPr/>
        </p:nvSpPr>
        <p:spPr>
          <a:xfrm>
            <a:off x="1828800" y="8482608"/>
            <a:ext cx="3294266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sub-agent that reviews drafts</a:t>
            </a:r>
            <a:endParaRPr lang="en-US" sz="1575" dirty="0"/>
          </a:p>
        </p:txBody>
      </p:sp>
      <p:sp>
        <p:nvSpPr>
          <p:cNvPr id="39" name="Shape 36"/>
          <p:cNvSpPr/>
          <p:nvPr/>
        </p:nvSpPr>
        <p:spPr>
          <a:xfrm>
            <a:off x="9296400" y="9363075"/>
            <a:ext cx="77724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9296400" y="8017818"/>
            <a:ext cx="7772400" cy="9525"/>
          </a:xfrm>
          <a:prstGeom prst="rect">
            <a:avLst/>
          </a:prstGeom>
          <a:solidFill>
            <a:srgbClr val="1F2329">
              <a:alpha val="14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9296400" y="8542734"/>
            <a:ext cx="457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A8A0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9906000" y="8444061"/>
            <a:ext cx="3478524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minutes</a:t>
            </a:r>
            <a:endParaRPr lang="en-US" sz="975" dirty="0"/>
          </a:p>
        </p:txBody>
      </p:sp>
      <p:sp>
        <p:nvSpPr>
          <p:cNvPr id="43" name="Text 40"/>
          <p:cNvSpPr/>
          <p:nvPr/>
        </p:nvSpPr>
        <p:spPr>
          <a:xfrm>
            <a:off x="9906000" y="8636347"/>
            <a:ext cx="3478524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7A7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Skim each one — we'll discuss next</a:t>
            </a:r>
            <a:endParaRPr lang="en-US" sz="1575" dirty="0"/>
          </a:p>
        </p:txBody>
      </p:sp>
      <p:sp>
        <p:nvSpPr>
          <p:cNvPr id="44" name="Text 41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40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1.2 · 11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20822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DISCUSSION · 01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4716125" cy="146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if you removed the compliance skill?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1219200" y="4056013"/>
            <a:ext cx="7887843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CHANGES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1219200" y="4439543"/>
            <a:ext cx="7887843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weekly-summary, draft-report and prep-meeting produce output without disclaimers — unless the prompt template hard-codes them itself.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219200" y="5250061"/>
            <a:ext cx="7887843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/review-draft still catches problems — but only if someone remembers to run it.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00200" y="6089154"/>
            <a:ext cx="4769404" cy="59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Claude's training gives it generic awareness of financial compliance, but not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651724" y="6060579"/>
            <a:ext cx="767804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i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firm's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514779" y="6089154"/>
            <a:ext cx="1094184" cy="90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disclosure text.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9410700" y="4056013"/>
            <a:ext cx="7887843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REAL POINT</a:t>
            </a:r>
            <a:endParaRPr lang="en-US" sz="975" dirty="0"/>
          </a:p>
        </p:txBody>
      </p:sp>
      <p:sp>
        <p:nvSpPr>
          <p:cNvPr id="17" name="Shape 14"/>
          <p:cNvSpPr/>
          <p:nvPr/>
        </p:nvSpPr>
        <p:spPr>
          <a:xfrm>
            <a:off x="9410700" y="4439543"/>
            <a:ext cx="7658100" cy="2445395"/>
          </a:xfrm>
          <a:prstGeom prst="roundRect">
            <a:avLst>
              <a:gd name="adj" fmla="val 6232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01225" y="4821436"/>
            <a:ext cx="1693218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DEFAULT-SAFE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801225" y="5162699"/>
            <a:ext cx="7083362" cy="1446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skill makes compliance the path of least resistance. Without it, compliance becomes opt-in — depending on whoever ran </a:t>
            </a:r>
            <a:pPr algn="l" indent="0" marL="0">
              <a:lnSpc>
                <a:spcPct val="132000"/>
              </a:lnSpc>
              <a:buNone/>
            </a:pPr>
            <a:r>
              <a:rPr lang="en-US" sz="1800" spc="-17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/review-draft </a:t>
            </a:r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 remembered to ask for disclaimers.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9410700" y="7189738"/>
            <a:ext cx="7887843" cy="1769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a regulated context, that's the difference between </a:t>
            </a:r>
            <a:pPr algn="l" indent="0" marL="0">
              <a:lnSpc>
                <a:spcPct val="142000"/>
              </a:lnSpc>
              <a:buNone/>
            </a:pPr>
            <a:r>
              <a:rPr lang="en-US" sz="2400" b="1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</a:t>
            </a:r>
            <a:pPr algn="l" indent="0" marL="0">
              <a:lnSpc>
                <a:spcPct val="142000"/>
              </a:lnSpc>
              <a:buNone/>
            </a:pPr>
            <a:r>
              <a:rPr lang="en-US" sz="2400" b="1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guidelines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plugin doesn't break without the skill — responsibility just shifts from the system to the user.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40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1.2 · 12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20822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DISCUSSION · 02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is </a:t>
            </a:r>
            <a:pPr algn="l" indent="0" marL="0">
              <a:lnSpc>
                <a:spcPct val="104000"/>
              </a:lnSpc>
              <a:buNone/>
            </a:pPr>
            <a:r>
              <a:rPr lang="en-US" sz="4200" spc="-86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prep-meeting </a:t>
            </a:r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command, not a skill?</a:t>
            </a:r>
            <a:endParaRPr lang="en-US" sz="5400" dirty="0"/>
          </a:p>
        </p:txBody>
      </p:sp>
      <p:sp>
        <p:nvSpPr>
          <p:cNvPr id="10" name="Shape 7"/>
          <p:cNvSpPr/>
          <p:nvPr/>
        </p:nvSpPr>
        <p:spPr>
          <a:xfrm>
            <a:off x="1219200" y="3342829"/>
            <a:ext cx="5105400" cy="3907334"/>
          </a:xfrm>
          <a:prstGeom prst="roundRect">
            <a:avLst>
              <a:gd name="adj" fmla="val 3413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71625" y="3695254"/>
            <a:ext cx="45325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571625" y="4171504"/>
            <a:ext cx="4532567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2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needs a target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571625" y="4570512"/>
            <a:ext cx="453256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command takes </a:t>
            </a:r>
            <a:pPr algn="l" indent="0" marL="0">
              <a:lnSpc>
                <a:spcPct val="150000"/>
              </a:lnSpc>
              <a:buNone/>
            </a:pPr>
            <a:r>
              <a:rPr lang="en-US" sz="975" spc="-7" kern="0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$ARGUMENTS </a:t>
            </a:r>
            <a:pPr algn="l" indent="0" marL="0">
              <a:lnSpc>
                <a:spcPct val="150000"/>
              </a:lnSpc>
              <a:buNone/>
            </a:pPr>
            <a:r>
              <a:rPr lang="en-US" sz="1350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client name or pasted notes. The user must supply context, so the user must initiate it.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591300" y="3342829"/>
            <a:ext cx="5105400" cy="3907334"/>
          </a:xfrm>
          <a:prstGeom prst="roundRect">
            <a:avLst>
              <a:gd name="adj" fmla="val 3413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3725" y="3695254"/>
            <a:ext cx="45325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943725" y="4171504"/>
            <a:ext cx="4532567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2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produces a deliverable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6943725" y="4570512"/>
            <a:ext cx="453256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output </a:t>
            </a:r>
            <a:pPr algn="l" indent="0" marL="0">
              <a:lnSpc>
                <a:spcPct val="150000"/>
              </a:lnSpc>
              <a:buNone/>
            </a:pPr>
            <a:r>
              <a:rPr lang="en-US" sz="1350" i="1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</a:t>
            </a:r>
            <a:pPr algn="l" indent="0" marL="0">
              <a:lnSpc>
                <a:spcPct val="150000"/>
              </a:lnSpc>
              <a:buNone/>
            </a:pPr>
            <a:r>
              <a:rPr lang="en-US" sz="1350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point — a formatted briefing pack. That's a document the user explicitly requests, not a background behaviour.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963400" y="3342829"/>
            <a:ext cx="5105400" cy="3907334"/>
          </a:xfrm>
          <a:prstGeom prst="roundRect">
            <a:avLst>
              <a:gd name="adj" fmla="val 3413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315825" y="3695254"/>
            <a:ext cx="45325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3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2315825" y="4171504"/>
            <a:ext cx="4532567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2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 a skill, it'd be chaos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12315825" y="4570512"/>
            <a:ext cx="453256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 briefing packs firing every time a client's name was mentioned. Skills should be invisible. Commands should be visible.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1219200" y="7631162"/>
            <a:ext cx="15849600" cy="1741438"/>
          </a:xfrm>
          <a:prstGeom prst="roundRect">
            <a:avLst>
              <a:gd name="adj" fmla="val 8751"/>
            </a:avLst>
          </a:prstGeom>
          <a:solidFill>
            <a:srgbClr val="DDE9E2"/>
          </a:solidFill>
          <a:ln w="9525">
            <a:solidFill>
              <a:srgbClr val="1F5240">
                <a:alpha val="2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609725" y="8013055"/>
            <a:ext cx="2021235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 THE INVERSE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609725" y="8354318"/>
            <a:ext cx="15520607" cy="742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b="1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Compliance-language has to be a skill </a:t>
            </a:r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you don't decide to write compliantly, you always should. Forcing users to run </a:t>
            </a:r>
            <a:pPr algn="l" indent="0" marL="0">
              <a:lnSpc>
                <a:spcPct val="132000"/>
              </a:lnSpc>
              <a:buNone/>
            </a:pPr>
            <a:r>
              <a:rPr lang="en-US" sz="1800" spc="-17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/compliance-language </a:t>
            </a:r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every draft would defeat the purpose entirely.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40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1.2 · 13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42701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DESIGN RULE · REMEMBER THIS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3897213"/>
            <a:ext cx="31394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Commands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4876800" y="4078188"/>
            <a:ext cx="11772900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"Do this thing now, with this input."</a:t>
            </a:r>
            <a:endParaRPr lang="en-US" sz="5400" dirty="0"/>
          </a:p>
        </p:txBody>
      </p:sp>
      <p:sp>
        <p:nvSpPr>
          <p:cNvPr id="11" name="Shape 8"/>
          <p:cNvSpPr/>
          <p:nvPr/>
        </p:nvSpPr>
        <p:spPr>
          <a:xfrm>
            <a:off x="1219200" y="5268813"/>
            <a:ext cx="15849600" cy="9525"/>
          </a:xfrm>
          <a:prstGeom prst="rect">
            <a:avLst/>
          </a:prstGeom>
          <a:solidFill>
            <a:srgbClr val="F4EFE6">
              <a:alpha val="1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219200" y="5735538"/>
            <a:ext cx="31394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Skills</a:t>
            </a:r>
            <a:endParaRPr lang="en-US" sz="7200" dirty="0"/>
          </a:p>
        </p:txBody>
      </p:sp>
      <p:sp>
        <p:nvSpPr>
          <p:cNvPr id="13" name="Text 10"/>
          <p:cNvSpPr/>
          <p:nvPr/>
        </p:nvSpPr>
        <p:spPr>
          <a:xfrm>
            <a:off x="4876800" y="5916513"/>
            <a:ext cx="11772900" cy="146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"Always behave this way, without being asked."</a:t>
            </a:r>
            <a:endParaRPr lang="en-US" sz="5400" dirty="0"/>
          </a:p>
        </p:txBody>
      </p:sp>
      <p:sp>
        <p:nvSpPr>
          <p:cNvPr id="14" name="Text 11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40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642282" y="457200"/>
            <a:ext cx="1502718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19200" y="3223320"/>
            <a:ext cx="5778225" cy="387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6000" spc="-108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1.3</a:t>
            </a:r>
            <a:endParaRPr lang="en-US" sz="36000" dirty="0"/>
          </a:p>
        </p:txBody>
      </p:sp>
      <p:sp>
        <p:nvSpPr>
          <p:cNvPr id="8" name="Shape 5"/>
          <p:cNvSpPr/>
          <p:nvPr/>
        </p:nvSpPr>
        <p:spPr>
          <a:xfrm>
            <a:off x="7743527" y="3915073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9" name="Text 6"/>
          <p:cNvSpPr/>
          <p:nvPr/>
        </p:nvSpPr>
        <p:spPr>
          <a:xfrm>
            <a:off x="7934027" y="3838575"/>
            <a:ext cx="16810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THREE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43527" y="4391769"/>
            <a:ext cx="86334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 the sample.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7743527" y="5610969"/>
            <a:ext cx="8633460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the plugin, then run three prompts. Watch how each piece fires — automatic, on-demand, and delegated.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40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1.3 · 15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261717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 WAYS TO LOAD IT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Cowork or Claude Code.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1219200" y="3467844"/>
            <a:ext cx="7734300" cy="5904756"/>
          </a:xfrm>
          <a:prstGeom prst="roundRect">
            <a:avLst>
              <a:gd name="adj" fmla="val 2258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47825" y="3858369"/>
            <a:ext cx="1765995" cy="341263"/>
          </a:xfrm>
          <a:prstGeom prst="roundRect">
            <a:avLst>
              <a:gd name="adj" fmla="val 50000"/>
            </a:avLst>
          </a:prstGeom>
          <a:solidFill>
            <a:srgbClr val="DDE9E2"/>
          </a:solidFill>
          <a:ln/>
        </p:spPr>
      </p:sp>
      <p:sp>
        <p:nvSpPr>
          <p:cNvPr id="12" name="Text 9"/>
          <p:cNvSpPr/>
          <p:nvPr/>
        </p:nvSpPr>
        <p:spPr>
          <a:xfrm>
            <a:off x="1790700" y="3925044"/>
            <a:ext cx="1556445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MACOS · WINDOWS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647825" y="4409182"/>
            <a:ext cx="7083362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-32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Option A · Cowork UI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1647825" y="5108228"/>
            <a:ext cx="7083362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Desktop → Cowork tab → Plugins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2028825" y="5580162"/>
            <a:ext cx="5655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2689622" y="5551587"/>
            <a:ext cx="1495127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b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Plugin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4279999" y="5580162"/>
            <a:ext cx="19484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select the folder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47825" y="5994946"/>
            <a:ext cx="7083362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a new Cowork session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47825" y="8092827"/>
            <a:ext cx="7083362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647825" y="8362057"/>
            <a:ext cx="7083362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arm64 is not supported by Cowork — use Claude Code instead.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334500" y="3467844"/>
            <a:ext cx="7734300" cy="5904756"/>
          </a:xfrm>
          <a:prstGeom prst="roundRect">
            <a:avLst>
              <a:gd name="adj" fmla="val 2258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763125" y="3858369"/>
            <a:ext cx="2950220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23" name="Text 20"/>
          <p:cNvSpPr/>
          <p:nvPr/>
        </p:nvSpPr>
        <p:spPr>
          <a:xfrm>
            <a:off x="9906000" y="3925044"/>
            <a:ext cx="2752977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 PLATFORMS · INCL. LINUX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763125" y="4409182"/>
            <a:ext cx="7083362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-32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Option B · Claude Code</a:t>
            </a:r>
            <a:endParaRPr lang="en-US" sz="2700" dirty="0"/>
          </a:p>
        </p:txBody>
      </p:sp>
      <p:sp>
        <p:nvSpPr>
          <p:cNvPr id="25" name="Shape 22"/>
          <p:cNvSpPr/>
          <p:nvPr/>
        </p:nvSpPr>
        <p:spPr>
          <a:xfrm>
            <a:off x="9763125" y="5108228"/>
            <a:ext cx="6877050" cy="1954411"/>
          </a:xfrm>
          <a:prstGeom prst="roundRect">
            <a:avLst>
              <a:gd name="adj" fmla="val 5848"/>
            </a:avLst>
          </a:prstGeom>
          <a:solidFill>
            <a:srgbClr val="FBF8F2"/>
          </a:solidFill>
          <a:ln w="9525">
            <a:solidFill>
              <a:srgbClr val="1F2329">
                <a:alpha val="14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77450" y="5384453"/>
            <a:ext cx="6454712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install once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0E1116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install -g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@anthropic-ai/claude-code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launch with the plugin loaded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0E1116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--plugin-dir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~/plugin-level1/finops-basic</a:t>
            </a:r>
            <a:endParaRPr lang="en-US" sz="1425" dirty="0"/>
          </a:p>
        </p:txBody>
      </p:sp>
      <p:sp>
        <p:nvSpPr>
          <p:cNvPr id="27" name="Text 24"/>
          <p:cNvSpPr/>
          <p:nvPr/>
        </p:nvSpPr>
        <p:spPr>
          <a:xfrm>
            <a:off x="9763125" y="8402836"/>
            <a:ext cx="7083362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RECOMMENDED FOR BUILDING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9763125" y="8672066"/>
            <a:ext cx="7083362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iteration loop than the Cowork upload flow.</a:t>
            </a:r>
            <a:endParaRPr lang="en-US" sz="1575" dirty="0"/>
          </a:p>
        </p:txBody>
      </p:sp>
      <p:sp>
        <p:nvSpPr>
          <p:cNvPr id="29" name="Text 26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40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1.3 · 16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53719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01 · THE SKILL FIRES AUTOMATICALLY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Does it correct the "definitely"?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1219200" y="3190429"/>
            <a:ext cx="8604794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PASTE THIS INTO CLAUDE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1219200" y="3516809"/>
            <a:ext cx="8354169" cy="1113234"/>
          </a:xfrm>
          <a:prstGeom prst="roundRect">
            <a:avLst>
              <a:gd name="adj" fmla="val 10267"/>
            </a:avLst>
          </a:prstGeom>
          <a:solidFill>
            <a:srgbClr val="FBF8F2"/>
          </a:solidFill>
          <a:ln w="9525">
            <a:solidFill>
              <a:srgbClr val="1F2329">
                <a:alpha val="14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33525" y="3793034"/>
            <a:ext cx="7976144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 a short email to a client telling them their portfolio returned  </a:t>
            </a:r>
            <a:pPr algn="l" indent="0" marL="0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12%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last year and will </a:t>
            </a:r>
            <a:pPr algn="l" indent="0" marL="0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definitely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return </a:t>
            </a:r>
            <a:pPr algn="l" indent="0" marL="0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15%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next year.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1219200" y="4934843"/>
            <a:ext cx="8354169" cy="2093416"/>
          </a:xfrm>
          <a:prstGeom prst="roundRect">
            <a:avLst>
              <a:gd name="adj" fmla="val 7280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09725" y="5316736"/>
            <a:ext cx="136520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WATCH FOR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609725" y="5657999"/>
            <a:ext cx="7800313" cy="1094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Claude refuses or rephrases "definitely." Past performance disclaimer is appended. No forward-looking guarantees survive.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106769" y="3190429"/>
            <a:ext cx="6961882" cy="1441698"/>
          </a:xfrm>
          <a:prstGeom prst="roundRect">
            <a:avLst>
              <a:gd name="adj" fmla="val 9250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1094" y="3466654"/>
            <a:ext cx="6523229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IT WORKS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0421094" y="3735884"/>
            <a:ext cx="6523229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/command </a:t>
            </a:r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needed. The compliance skill fired because the topic matched its description.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0106769" y="4822627"/>
            <a:ext cx="6961882" cy="1961257"/>
          </a:xfrm>
          <a:prstGeom prst="roundRect">
            <a:avLst>
              <a:gd name="adj" fmla="val 6799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21094" y="5098852"/>
            <a:ext cx="6523229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THE SKILL ENFORCES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10274409" y="5387132"/>
            <a:ext cx="6556117" cy="115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guarantees on future returns</a:t>
            </a:r>
            <a:endParaRPr lang="en-US" sz="1650" dirty="0"/>
          </a:p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performance qualifier</a:t>
            </a:r>
            <a:endParaRPr lang="en-US" sz="1650" dirty="0"/>
          </a:p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firm disclaimer text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40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1.3 · 17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31681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02 · SLASH COMMAND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/prep-meeting </a:t>
            </a:r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a full briefing pack.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1219200" y="3190429"/>
            <a:ext cx="9202484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THIS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1219200" y="3516809"/>
            <a:ext cx="8934450" cy="1393627"/>
          </a:xfrm>
          <a:prstGeom prst="roundRect">
            <a:avLst>
              <a:gd name="adj" fmla="val 8202"/>
            </a:avLst>
          </a:prstGeom>
          <a:solidFill>
            <a:srgbClr val="FBF8F2"/>
          </a:solidFill>
          <a:ln w="9525">
            <a:solidFill>
              <a:srgbClr val="1F2329">
                <a:alpha val="14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33525" y="3793034"/>
            <a:ext cx="8573834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/finops-basic:prep-meeting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Sarah Chen — retail investor, $250K portfolio, moderate risk, focused on ASX blue chips and some international exposure. Last meeting we discussed rebalancing away from banks.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1219200" y="5215235"/>
            <a:ext cx="9202484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produces a structured pack — context recap, agenda, talking points, suggested questions — with compliance language already woven in by the skill.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0687050" y="3190429"/>
            <a:ext cx="6573203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YOU'LL SEE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10540365" y="3554909"/>
            <a:ext cx="6604635" cy="1718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snapshot reconstructed from your notes</a:t>
            </a:r>
            <a:endParaRPr lang="en-US" sz="165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Talking points framed neutrally</a:t>
            </a:r>
            <a:endParaRPr lang="en-US" sz="165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Suggested rebalance discussion</a:t>
            </a:r>
            <a:endParaRPr lang="en-US" sz="165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Disclaimer wording appears without being asked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40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1.3 · 18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31681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03 · SLASH COMMAND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/draft-report </a:t>
            </a:r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polished, compliant.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1219200" y="3190429"/>
            <a:ext cx="9202484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THIS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1219200" y="3516809"/>
            <a:ext cx="8934450" cy="1393627"/>
          </a:xfrm>
          <a:prstGeom prst="roundRect">
            <a:avLst>
              <a:gd name="adj" fmla="val 8202"/>
            </a:avLst>
          </a:prstGeom>
          <a:solidFill>
            <a:srgbClr val="FBF8F2"/>
          </a:solidFill>
          <a:ln w="9525">
            <a:solidFill>
              <a:srgbClr val="1F2329">
                <a:alpha val="14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33525" y="3793034"/>
            <a:ext cx="8573834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/finops-basic:draft-report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Q4 2024: Portfolio up 8.2% vs ASX 200 up 6.1%. Top performers: BHP +18%, CSL +12%. Underperformers: TLS −4%. Cash position at 8%, slightly elevated.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1219200" y="5215235"/>
            <a:ext cx="8934450" cy="2445395"/>
          </a:xfrm>
          <a:prstGeom prst="roundRect">
            <a:avLst>
              <a:gd name="adj" fmla="val 6232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09725" y="5597128"/>
            <a:ext cx="1146572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609725" y="5938391"/>
            <a:ext cx="8398002" cy="1446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numbers, but Claude outputs a properly structured client report — performance overview, attribution, positioning, disclaimer. Five minutes of formatting work done in three seconds.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687050" y="3190429"/>
            <a:ext cx="6573203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THREE THINGS TO NOTICE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0540365" y="3554909"/>
            <a:ext cx="6604635" cy="1260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Numbers framed against the benchmark</a:t>
            </a:r>
            <a:endParaRPr lang="en-US" sz="165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Attribution split out per holding</a:t>
            </a:r>
            <a:endParaRPr lang="en-US" sz="165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language sits at the bottom — every time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40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642282" y="457200"/>
            <a:ext cx="1502718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19200" y="3223320"/>
            <a:ext cx="5891202" cy="387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6000" spc="-108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1.4</a:t>
            </a:r>
            <a:endParaRPr lang="en-US" sz="36000" dirty="0"/>
          </a:p>
        </p:txBody>
      </p:sp>
      <p:sp>
        <p:nvSpPr>
          <p:cNvPr id="8" name="Shape 5"/>
          <p:cNvSpPr/>
          <p:nvPr/>
        </p:nvSpPr>
        <p:spPr>
          <a:xfrm>
            <a:off x="7853214" y="3915073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9" name="Text 6"/>
          <p:cNvSpPr/>
          <p:nvPr/>
        </p:nvSpPr>
        <p:spPr>
          <a:xfrm>
            <a:off x="8043714" y="3838575"/>
            <a:ext cx="39946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FOUR · 15 MIN HANDS-ON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853214" y="4391769"/>
            <a:ext cx="86334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Customise.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7853214" y="5610969"/>
            <a:ext cx="8633460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</a:t>
            </a:r>
            <a:pPr algn="l" indent="0" marL="0">
              <a:lnSpc>
                <a:spcPct val="142000"/>
              </a:lnSpc>
              <a:buNone/>
            </a:pPr>
            <a:r>
              <a:rPr lang="en-US" sz="2400" b="1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three exercises. Make the plugin yours. Then we'll reload and test in 1.5.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40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1.4 · 20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11461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PICK ONE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ways to extend the plugin.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1219200" y="3544044"/>
            <a:ext cx="5105400" cy="5828556"/>
          </a:xfrm>
          <a:prstGeom prst="roundRect">
            <a:avLst>
              <a:gd name="adj" fmla="val 2612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47825" y="3934569"/>
            <a:ext cx="43755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59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1647825" y="4677519"/>
            <a:ext cx="437559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50" b="1" spc="-31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 a new skill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647825" y="5164187"/>
            <a:ext cx="437559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spc="-8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 Claude how emails at your organisation should sound — tone, greetings, sign-offs, words to avoid.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647825" y="6364337"/>
            <a:ext cx="1272629" cy="341263"/>
          </a:xfrm>
          <a:prstGeom prst="roundRect">
            <a:avLst>
              <a:gd name="adj" fmla="val 50000"/>
            </a:avLst>
          </a:prstGeom>
          <a:solidFill>
            <a:srgbClr val="DDE9E2"/>
          </a:solidFill>
          <a:ln/>
        </p:spPr>
      </p:sp>
      <p:sp>
        <p:nvSpPr>
          <p:cNvPr id="15" name="Text 12"/>
          <p:cNvSpPr/>
          <p:nvPr/>
        </p:nvSpPr>
        <p:spPr>
          <a:xfrm>
            <a:off x="1790700" y="6431012"/>
            <a:ext cx="1063079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AUTO-FIRES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91300" y="3544044"/>
            <a:ext cx="5105400" cy="5828556"/>
          </a:xfrm>
          <a:prstGeom prst="roundRect">
            <a:avLst>
              <a:gd name="adj" fmla="val 2612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19925" y="3934569"/>
            <a:ext cx="43755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59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7019925" y="4677519"/>
            <a:ext cx="437559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50" b="1" spc="-31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 a new command</a:t>
            </a:r>
            <a:endParaRPr lang="en-US" sz="2550" dirty="0"/>
          </a:p>
        </p:txBody>
      </p:sp>
      <p:sp>
        <p:nvSpPr>
          <p:cNvPr id="19" name="Text 16"/>
          <p:cNvSpPr/>
          <p:nvPr/>
        </p:nvSpPr>
        <p:spPr>
          <a:xfrm>
            <a:off x="7019925" y="5164187"/>
            <a:ext cx="437559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spc="-8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</a:t>
            </a:r>
            <a:pPr algn="l" indent="0" marL="0">
              <a:lnSpc>
                <a:spcPct val="150000"/>
              </a:lnSpc>
              <a:buNone/>
            </a:pPr>
            <a:r>
              <a:rPr lang="en-US" sz="975" spc="-8" kern="0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/weekly-summary </a:t>
            </a:r>
            <a:pPr algn="l" indent="0" marL="0">
              <a:lnSpc>
                <a:spcPct val="150000"/>
              </a:lnSpc>
              <a:buNone/>
            </a:pPr>
            <a:r>
              <a:rPr lang="en-US" sz="1500" spc="-8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turn a week of client logs into one structured team report.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019925" y="6078587"/>
            <a:ext cx="1173956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21" name="Text 18"/>
          <p:cNvSpPr/>
          <p:nvPr/>
        </p:nvSpPr>
        <p:spPr>
          <a:xfrm>
            <a:off x="7162800" y="6145262"/>
            <a:ext cx="964406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ON-DEMAND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1963400" y="3544044"/>
            <a:ext cx="5105400" cy="5828556"/>
          </a:xfrm>
          <a:prstGeom prst="roundRect">
            <a:avLst>
              <a:gd name="adj" fmla="val 2612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392025" y="3934569"/>
            <a:ext cx="43755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59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</a:t>
            </a:r>
            <a:endParaRPr lang="en-US" sz="4200" dirty="0"/>
          </a:p>
        </p:txBody>
      </p:sp>
      <p:sp>
        <p:nvSpPr>
          <p:cNvPr id="24" name="Text 21"/>
          <p:cNvSpPr/>
          <p:nvPr/>
        </p:nvSpPr>
        <p:spPr>
          <a:xfrm>
            <a:off x="12392025" y="4677519"/>
            <a:ext cx="437559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50" b="1" spc="-31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Customise compliance</a:t>
            </a:r>
            <a:endParaRPr lang="en-US" sz="2550" dirty="0"/>
          </a:p>
        </p:txBody>
      </p:sp>
      <p:sp>
        <p:nvSpPr>
          <p:cNvPr id="25" name="Text 22"/>
          <p:cNvSpPr/>
          <p:nvPr/>
        </p:nvSpPr>
        <p:spPr>
          <a:xfrm>
            <a:off x="12392025" y="5164187"/>
            <a:ext cx="437559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spc="-8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the existing skill — your firm's actual disclaimer, product-specific rules, ASIC wording.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2392025" y="6364337"/>
            <a:ext cx="1568648" cy="341263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534900" y="6431012"/>
            <a:ext cx="1359098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 EXISTING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40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1.4 · 21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303044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A · NEW SKILL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Make a folder. Make a SKILL.md.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1219200" y="3190429"/>
            <a:ext cx="7927086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 LOCATION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1219200" y="3516809"/>
            <a:ext cx="7696200" cy="1374577"/>
          </a:xfrm>
          <a:prstGeom prst="roundRect">
            <a:avLst>
              <a:gd name="adj" fmla="val 8315"/>
            </a:avLst>
          </a:prstGeom>
          <a:solidFill>
            <a:srgbClr val="0E1116"/>
          </a:solidFill>
          <a:ln/>
        </p:spPr>
      </p:sp>
      <p:sp>
        <p:nvSpPr>
          <p:cNvPr id="12" name="Text 9"/>
          <p:cNvSpPr/>
          <p:nvPr/>
        </p:nvSpPr>
        <p:spPr>
          <a:xfrm>
            <a:off x="1524000" y="3783509"/>
            <a:ext cx="7317486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A8A0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skills/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email-tone/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└──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FD2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1219200" y="5196185"/>
            <a:ext cx="7927086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FRONTMATTER FORMAT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1219200" y="5522565"/>
            <a:ext cx="7696200" cy="3337322"/>
          </a:xfrm>
          <a:prstGeom prst="roundRect">
            <a:avLst>
              <a:gd name="adj" fmla="val 3425"/>
            </a:avLst>
          </a:prstGeom>
          <a:solidFill>
            <a:srgbClr val="0E1116"/>
          </a:solidFill>
          <a:ln/>
        </p:spPr>
      </p:sp>
      <p:sp>
        <p:nvSpPr>
          <p:cNvPr id="15" name="Text 12"/>
          <p:cNvSpPr/>
          <p:nvPr/>
        </p:nvSpPr>
        <p:spPr>
          <a:xfrm>
            <a:off x="1524000" y="5789265"/>
            <a:ext cx="7317486" cy="284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FD2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name: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email-tone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FD2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description: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Guides the tone and structure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of all client emails. Apply automatically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when drafting any client email. 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FD2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user-invocable: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false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Email Tone Guidelines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...your rules here...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9372600" y="3190429"/>
            <a:ext cx="7927086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TO PUT IN IT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9225915" y="3516809"/>
            <a:ext cx="7919085" cy="1718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Preferred greeting style</a:t>
            </a:r>
            <a:endParaRPr lang="en-US" sz="165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Tone guidance — formal vs conversational</a:t>
            </a:r>
            <a:endParaRPr lang="en-US" sz="165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close emails</a:t>
            </a:r>
            <a:endParaRPr lang="en-US" sz="165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Phrases your team uses or avoids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9372600" y="5578376"/>
            <a:ext cx="7696200" cy="1741438"/>
          </a:xfrm>
          <a:prstGeom prst="roundRect">
            <a:avLst>
              <a:gd name="adj" fmla="val 8751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63125" y="5960269"/>
            <a:ext cx="3129629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USER-INVOCABLE: FALSE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763125" y="6301532"/>
            <a:ext cx="7122605" cy="742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Skills run in the background. The user shouldn't have to ask for "good email tone" — it should just happen.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/ 40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1.4 · 22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33059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B · NEW COMMAND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flat </a:t>
            </a:r>
            <a:pPr algn="l" indent="0" marL="0">
              <a:lnSpc>
                <a:spcPct val="104000"/>
              </a:lnSpc>
              <a:buNone/>
            </a:pPr>
            <a:r>
              <a:rPr lang="en-US" sz="4500" spc="-86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.md </a:t>
            </a:r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file becomes a command.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1219200" y="3190429"/>
            <a:ext cx="7927086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 LOCATION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1219200" y="3516809"/>
            <a:ext cx="7696200" cy="1094184"/>
          </a:xfrm>
          <a:prstGeom prst="roundRect">
            <a:avLst>
              <a:gd name="adj" fmla="val 10446"/>
            </a:avLst>
          </a:prstGeom>
          <a:solidFill>
            <a:srgbClr val="0E1116"/>
          </a:solidFill>
          <a:ln/>
        </p:spPr>
      </p:sp>
      <p:sp>
        <p:nvSpPr>
          <p:cNvPr id="12" name="Text 9"/>
          <p:cNvSpPr/>
          <p:nvPr/>
        </p:nvSpPr>
        <p:spPr>
          <a:xfrm>
            <a:off x="1524000" y="3783509"/>
            <a:ext cx="7317486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A8A0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commands/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FD2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weekly-summary.md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1219200" y="4877693"/>
            <a:ext cx="7927086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FRONTMATTER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1219200" y="5204073"/>
            <a:ext cx="7696200" cy="2496145"/>
          </a:xfrm>
          <a:prstGeom prst="roundRect">
            <a:avLst>
              <a:gd name="adj" fmla="val 4579"/>
            </a:avLst>
          </a:prstGeom>
          <a:solidFill>
            <a:srgbClr val="0E1116"/>
          </a:solidFill>
          <a:ln/>
        </p:spPr>
      </p:sp>
      <p:sp>
        <p:nvSpPr>
          <p:cNvPr id="15" name="Text 12"/>
          <p:cNvSpPr/>
          <p:nvPr/>
        </p:nvSpPr>
        <p:spPr>
          <a:xfrm>
            <a:off x="1524000" y="5470773"/>
            <a:ext cx="7317486" cy="200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FD2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description: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Summarise a week of client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interactions into a structured report. 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FD2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argument-hint: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[paste interaction notes]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...your instructions here...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9372600" y="3190429"/>
            <a:ext cx="7927086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 INVOKE IT</a:t>
            </a:r>
            <a:endParaRPr lang="en-US" sz="975" dirty="0"/>
          </a:p>
        </p:txBody>
      </p:sp>
      <p:sp>
        <p:nvSpPr>
          <p:cNvPr id="17" name="Shape 14"/>
          <p:cNvSpPr/>
          <p:nvPr/>
        </p:nvSpPr>
        <p:spPr>
          <a:xfrm>
            <a:off x="9372600" y="3516809"/>
            <a:ext cx="7696200" cy="1113234"/>
          </a:xfrm>
          <a:prstGeom prst="roundRect">
            <a:avLst>
              <a:gd name="adj" fmla="val 10267"/>
            </a:avLst>
          </a:prstGeom>
          <a:solidFill>
            <a:srgbClr val="FBF8F2"/>
          </a:solidFill>
          <a:ln w="9525">
            <a:solidFill>
              <a:srgbClr val="1F2329">
                <a:alpha val="14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86925" y="3793034"/>
            <a:ext cx="7298436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/finops-basic:weekly-summary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[paste your client interaction logs here]</a:t>
            </a:r>
            <a:endParaRPr lang="en-US" sz="1425" dirty="0"/>
          </a:p>
        </p:txBody>
      </p:sp>
      <p:sp>
        <p:nvSpPr>
          <p:cNvPr id="19" name="Shape 16"/>
          <p:cNvSpPr/>
          <p:nvPr/>
        </p:nvSpPr>
        <p:spPr>
          <a:xfrm>
            <a:off x="9372600" y="4934843"/>
            <a:ext cx="7696200" cy="2093416"/>
          </a:xfrm>
          <a:prstGeom prst="roundRect">
            <a:avLst>
              <a:gd name="adj" fmla="val 7280"/>
            </a:avLst>
          </a:prstGeom>
          <a:solidFill>
            <a:srgbClr val="DDE9E2"/>
          </a:solidFill>
          <a:ln w="9525">
            <a:solidFill>
              <a:srgbClr val="1F5240">
                <a:alpha val="2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63125" y="5316736"/>
            <a:ext cx="324230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TIP · SEED YOUR DATA FIRST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763125" y="5657999"/>
            <a:ext cx="7122605" cy="1094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Ask Claude to generate a folder of realistic client logs before testing. Then pass that folder path as the argument.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9372600" y="7294959"/>
            <a:ext cx="7927086" cy="633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650" spc="-8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filename becomes the command name. Lowercase, hyphenated — no other config required.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/ 40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1.4 · 23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35813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C · EDIT EXISTING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Make compliance match your firm.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1219200" y="3190429"/>
            <a:ext cx="7887843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 THIS FILE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1219200" y="3516809"/>
            <a:ext cx="7658100" cy="813792"/>
          </a:xfrm>
          <a:prstGeom prst="roundRect">
            <a:avLst>
              <a:gd name="adj" fmla="val 14045"/>
            </a:avLst>
          </a:prstGeom>
          <a:solidFill>
            <a:srgbClr val="0E1116"/>
          </a:solidFill>
          <a:ln/>
        </p:spPr>
      </p:sp>
      <p:sp>
        <p:nvSpPr>
          <p:cNvPr id="12" name="Text 9"/>
          <p:cNvSpPr/>
          <p:nvPr/>
        </p:nvSpPr>
        <p:spPr>
          <a:xfrm>
            <a:off x="1524000" y="3783509"/>
            <a:ext cx="7278243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A8A0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skills/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compliance-language/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FD2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1219200" y="4597301"/>
            <a:ext cx="7887843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THREE THINGS WORTH ADDING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072515" y="4961781"/>
            <a:ext cx="7880985" cy="156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organisation's actual disclaimer text — paste it in verbatim</a:t>
            </a:r>
            <a:endParaRPr lang="en-US" sz="165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Product-specific language rules (managed funds vs SMSF vs direct equities)</a:t>
            </a:r>
            <a:endParaRPr lang="en-US" sz="165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Region-specific wording — ASIC for AU, FCA for UK, SEC for US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9410700" y="3190429"/>
            <a:ext cx="7658100" cy="2093416"/>
          </a:xfrm>
          <a:prstGeom prst="roundRect">
            <a:avLst>
              <a:gd name="adj" fmla="val 7280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01225" y="3572321"/>
            <a:ext cx="2679255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THIS MATTERS MOST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801225" y="3913584"/>
            <a:ext cx="7083362" cy="1094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sample disclaimer is generic. Your firm's lawyers wrote exact wording — paste it here and every output the plugin produces will use it.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9410700" y="5626745"/>
            <a:ext cx="7887843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new files. No new structure. Just a tighter, firm-specific version of what already exists. The fastest win of the three exercises.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/ 40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1.4 · 24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10123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 TIP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Let Claude write the skill.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1219200" y="3391644"/>
            <a:ext cx="7848600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 </a:t>
            </a:r>
            <a:pPr algn="l" indent="0" marL="0">
              <a:lnSpc>
                <a:spcPct val="142000"/>
              </a:lnSpc>
              <a:buNone/>
            </a:pPr>
            <a:r>
              <a:rPr lang="en-US" sz="2400" b="1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terminal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run </a:t>
            </a:r>
            <a:pPr algn="l" indent="0" marL="0">
              <a:lnSpc>
                <a:spcPct val="142000"/>
              </a:lnSpc>
              <a:buNone/>
            </a:pPr>
            <a:r>
              <a:rPr lang="en-US" sz="1800" spc="-12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(no plugin loaded). Describe what you want. Paste the output into the right file.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219200" y="5071021"/>
            <a:ext cx="7620000" cy="2093416"/>
          </a:xfrm>
          <a:prstGeom prst="roundRect">
            <a:avLst>
              <a:gd name="adj" fmla="val 7280"/>
            </a:avLst>
          </a:prstGeom>
          <a:solidFill>
            <a:srgbClr val="DDE9E2"/>
          </a:solidFill>
          <a:ln w="9525">
            <a:solidFill>
              <a:srgbClr val="1F5240">
                <a:alpha val="2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9725" y="5452914"/>
            <a:ext cx="2568029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A SECOND SESSION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609725" y="5794177"/>
            <a:ext cx="7044119" cy="1094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You're using Claude to write Claude config. Keeping it separate from the plugin session keeps the context clean and lets you iterate quickly.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219200" y="7545437"/>
            <a:ext cx="784860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behaviour in plain English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219200" y="8045946"/>
            <a:ext cx="784860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Claude to write the file end-to-end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00200" y="8575030"/>
            <a:ext cx="102259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into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2718048" y="8546455"/>
            <a:ext cx="1710779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skills/&lt;name&gt;/SKILL.md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219200" y="9046964"/>
            <a:ext cx="784860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Reload the plugin, test, iterate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9448800" y="4225379"/>
            <a:ext cx="7620000" cy="1389608"/>
          </a:xfrm>
          <a:prstGeom prst="roundRect">
            <a:avLst>
              <a:gd name="adj" fmla="val 8225"/>
            </a:avLst>
          </a:prstGeom>
          <a:solidFill>
            <a:srgbClr val="0E1116"/>
          </a:solidFill>
          <a:ln/>
          <a:effectLst>
            <a:outerShdw sx="100000" sy="100000" kx="0" ky="0" algn="bl" rotWithShape="0" blurRad="457200" dist="190500" dir="5400000">
              <a:srgbClr val="0E1116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696450" y="4434929"/>
            <a:ext cx="95250" cy="952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1" name="Shape 18"/>
          <p:cNvSpPr/>
          <p:nvPr/>
        </p:nvSpPr>
        <p:spPr>
          <a:xfrm>
            <a:off x="9867900" y="4434929"/>
            <a:ext cx="95250" cy="952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2" name="Shape 19"/>
          <p:cNvSpPr/>
          <p:nvPr/>
        </p:nvSpPr>
        <p:spPr>
          <a:xfrm>
            <a:off x="10039350" y="4434929"/>
            <a:ext cx="95250" cy="952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3" name="Text 20"/>
          <p:cNvSpPr/>
          <p:nvPr/>
        </p:nvSpPr>
        <p:spPr>
          <a:xfrm>
            <a:off x="10111645" y="4434929"/>
            <a:ext cx="6808661" cy="216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6000"/>
              </a:lnSpc>
              <a:buNone/>
            </a:pPr>
            <a:r>
              <a:rPr lang="en-US" sz="900" spc="16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TERMINAL · PLUGIN SESSION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696450" y="4765625"/>
            <a:ext cx="7338441" cy="677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A0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claude --plugin-dir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./finops-basic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 loaded · 2 skills · 3 commands · 1 agent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A0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/prep-meeting Sarah Chen…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334500" y="5843588"/>
            <a:ext cx="7848600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6000"/>
              </a:lnSpc>
              <a:buNone/>
            </a:pPr>
            <a:r>
              <a:rPr lang="en-US" sz="975" spc="17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⇣ SEPARATE WINDOW</a:t>
            </a:r>
            <a:endParaRPr lang="en-US" sz="975" dirty="0"/>
          </a:p>
        </p:txBody>
      </p:sp>
      <p:sp>
        <p:nvSpPr>
          <p:cNvPr id="26" name="Shape 23"/>
          <p:cNvSpPr/>
          <p:nvPr/>
        </p:nvSpPr>
        <p:spPr>
          <a:xfrm>
            <a:off x="9448800" y="6265218"/>
            <a:ext cx="7620000" cy="1389608"/>
          </a:xfrm>
          <a:prstGeom prst="roundRect">
            <a:avLst>
              <a:gd name="adj" fmla="val 8225"/>
            </a:avLst>
          </a:prstGeom>
          <a:solidFill>
            <a:srgbClr val="0E1116"/>
          </a:solidFill>
          <a:ln/>
          <a:effectLst>
            <a:outerShdw sx="100000" sy="100000" kx="0" ky="0" algn="bl" rotWithShape="0" blurRad="457200" dist="190500" dir="5400000">
              <a:srgbClr val="0E1116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696450" y="6474768"/>
            <a:ext cx="95250" cy="952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8" name="Shape 25"/>
          <p:cNvSpPr/>
          <p:nvPr/>
        </p:nvSpPr>
        <p:spPr>
          <a:xfrm>
            <a:off x="9867900" y="6474768"/>
            <a:ext cx="95250" cy="952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9" name="Shape 26"/>
          <p:cNvSpPr/>
          <p:nvPr/>
        </p:nvSpPr>
        <p:spPr>
          <a:xfrm>
            <a:off x="10039350" y="6474768"/>
            <a:ext cx="95250" cy="952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0" name="Text 27"/>
          <p:cNvSpPr/>
          <p:nvPr/>
        </p:nvSpPr>
        <p:spPr>
          <a:xfrm>
            <a:off x="10111645" y="6474768"/>
            <a:ext cx="6808661" cy="216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6000"/>
              </a:lnSpc>
              <a:buNone/>
            </a:pPr>
            <a:r>
              <a:rPr lang="en-US" sz="900" spc="162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TERMINAL · AUTHOR SESSION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696450" y="6805464"/>
            <a:ext cx="7338441" cy="677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A0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claude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A0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4EFE6">
                    <a:alpha val="9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 a SKILL.md that enforces our email tone…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Drafting skills/email-tone/SKILL.md…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334500" y="7959626"/>
            <a:ext cx="7848600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SAME TRICK WORKS FOR COMMANDS TOO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9334500" y="8228856"/>
            <a:ext cx="784860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point Claude at </a:t>
            </a:r>
            <a:pPr algn="ctr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commands/&lt;name&gt;.md </a:t>
            </a:r>
            <a:pPr algn="ctr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instead.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/ 40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1.4 · 25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550980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PASTE THIS · THEN FILL IN YOUR SPECIFICS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ready-to-use prompt.</a:t>
            </a:r>
            <a:endParaRPr lang="en-US" sz="5400" dirty="0"/>
          </a:p>
        </p:txBody>
      </p:sp>
      <p:sp>
        <p:nvSpPr>
          <p:cNvPr id="10" name="Shape 7"/>
          <p:cNvSpPr/>
          <p:nvPr/>
        </p:nvSpPr>
        <p:spPr>
          <a:xfrm>
            <a:off x="1219200" y="3190429"/>
            <a:ext cx="9189690" cy="6182171"/>
          </a:xfrm>
          <a:prstGeom prst="roundRect">
            <a:avLst>
              <a:gd name="adj" fmla="val 184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4EFE6">
                <a:alpha val="1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95425" y="3428554"/>
            <a:ext cx="8912931" cy="5744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>
                    <a:alpha val="92000"/>
                  </a:srgbClr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I'm building a Claude Code plugin for a financial services firm.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>
                    <a:alpha val="92000"/>
                  </a:srgbClr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need a new skill file at: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>
                    <a:alpha val="92000"/>
                  </a:srgbClr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skills/email-tone/SKILL.md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>
                    <a:alpha val="92000"/>
                  </a:srgbClr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skill should fire automatically whenever Claude drafts a client email.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>
                    <a:alpha val="92000"/>
                  </a:srgbClr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 should NOT be user-invocable (background knowledge only).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>
                    <a:alpha val="92000"/>
                  </a:srgbClr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Our email tone guidelines are: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>
                    <a:alpha val="92000"/>
                  </a:srgbClr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Always open with "Dear [First Name],"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>
                    <a:alpha val="92000"/>
                  </a:srgbClr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Conversational but professional — no jargon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>
                    <a:alpha val="92000"/>
                  </a:srgbClr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Close with "Kind regards, [Your Name]"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>
                    <a:alpha val="92000"/>
                  </a:srgbClr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Never use urgency language like "act now" or "don't miss out"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>
                    <a:alpha val="92000"/>
                  </a:srgbClr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Always include our standard disclaimer at the bottom</a:t>
            </a: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endParaRPr lang="en-US" sz="1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4EFE6">
                    <a:alpha val="92000"/>
                  </a:srgbClr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Please write the complete SKILL.md file including correct frontmatter.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942290" y="3190429"/>
            <a:ext cx="6310305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F4EFE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 TEST SILENTLY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10942290" y="3535859"/>
            <a:ext cx="6310305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Reload the plugin. Ask Claude to draft an email — </a:t>
            </a:r>
            <a:pPr algn="l" indent="0" marL="0">
              <a:lnSpc>
                <a:spcPct val="142000"/>
              </a:lnSpc>
              <a:buNone/>
            </a:pPr>
            <a:r>
              <a:rPr lang="en-US" sz="2400" b="1" spc="-12" kern="0" dirty="0">
                <a:solidFill>
                  <a:srgbClr val="F4EF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mentioning tone at all.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0942290" y="4668143"/>
            <a:ext cx="6126510" cy="1007566"/>
          </a:xfrm>
          <a:prstGeom prst="roundRect">
            <a:avLst>
              <a:gd name="adj" fmla="val 1134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4EFE6">
                <a:alpha val="16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218515" y="4906268"/>
            <a:ext cx="5757855" cy="56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4EFE6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Draft an email to James telling him his portfolio is up 6% this quarter.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942290" y="5904309"/>
            <a:ext cx="6310305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F4EF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skill fires in the background — greeting, tone, sign-off, disclaimer all in place. The user never asked.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/ 40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642282" y="457200"/>
            <a:ext cx="1502718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19200" y="3223320"/>
            <a:ext cx="5745267" cy="387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6000" spc="-108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1.5</a:t>
            </a:r>
            <a:endParaRPr lang="en-US" sz="36000" dirty="0"/>
          </a:p>
        </p:txBody>
      </p:sp>
      <p:sp>
        <p:nvSpPr>
          <p:cNvPr id="8" name="Shape 5"/>
          <p:cNvSpPr/>
          <p:nvPr/>
        </p:nvSpPr>
        <p:spPr>
          <a:xfrm>
            <a:off x="7711529" y="3915073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9" name="Text 6"/>
          <p:cNvSpPr/>
          <p:nvPr/>
        </p:nvSpPr>
        <p:spPr>
          <a:xfrm>
            <a:off x="7902029" y="3838575"/>
            <a:ext cx="154736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FIVE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11529" y="4391769"/>
            <a:ext cx="86334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Reload and verify.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7711529" y="5610969"/>
            <a:ext cx="8633460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plugin is just files on disk. To pick up your changes, you exit the session and reload — that's the whole loop.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/ 40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1.5 · 27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20822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RELOAD LOOP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commands. One question.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1219200" y="3467844"/>
            <a:ext cx="7734300" cy="3782318"/>
          </a:xfrm>
          <a:prstGeom prst="roundRect">
            <a:avLst>
              <a:gd name="adj" fmla="val 352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47825" y="3858369"/>
            <a:ext cx="2950220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12" name="Text 9"/>
          <p:cNvSpPr/>
          <p:nvPr/>
        </p:nvSpPr>
        <p:spPr>
          <a:xfrm>
            <a:off x="1790700" y="3925044"/>
            <a:ext cx="2752977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 · ALL PLATFORMS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647825" y="4409182"/>
            <a:ext cx="7083362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Exit, then relaunch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647825" y="4950172"/>
            <a:ext cx="6877050" cy="832842"/>
          </a:xfrm>
          <a:prstGeom prst="roundRect">
            <a:avLst>
              <a:gd name="adj" fmla="val 13724"/>
            </a:avLst>
          </a:prstGeom>
          <a:solidFill>
            <a:srgbClr val="FBF8F2"/>
          </a:solidFill>
          <a:ln w="9525">
            <a:solidFill>
              <a:srgbClr val="1F2329">
                <a:alpha val="14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62150" y="5226397"/>
            <a:ext cx="6454712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0E1116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--plugin-dir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~/plugin-level1/finops-basic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647825" y="6011614"/>
            <a:ext cx="7083362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flag you used the first time. The plugin re-reads every file on launch.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9334500" y="3467844"/>
            <a:ext cx="7734300" cy="3782318"/>
          </a:xfrm>
          <a:prstGeom prst="roundRect">
            <a:avLst>
              <a:gd name="adj" fmla="val 352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763125" y="3858369"/>
            <a:ext cx="2654052" cy="341263"/>
          </a:xfrm>
          <a:prstGeom prst="roundRect">
            <a:avLst>
              <a:gd name="adj" fmla="val 50000"/>
            </a:avLst>
          </a:prstGeom>
          <a:solidFill>
            <a:srgbClr val="DDE9E2"/>
          </a:solidFill>
          <a:ln/>
        </p:spPr>
      </p:sp>
      <p:sp>
        <p:nvSpPr>
          <p:cNvPr id="19" name="Text 16"/>
          <p:cNvSpPr/>
          <p:nvPr/>
        </p:nvSpPr>
        <p:spPr>
          <a:xfrm>
            <a:off x="9906000" y="3925044"/>
            <a:ext cx="2447924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COWORK · MACOS · WINDOWS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763125" y="4409182"/>
            <a:ext cx="7083362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9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Refresh the plugin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9616440" y="4950172"/>
            <a:ext cx="7099935" cy="791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Plugins panel → your plugin → refresh / re-upload</a:t>
            </a:r>
            <a:endParaRPr lang="en-US" sz="1650" dirty="0"/>
          </a:p>
          <a:p>
            <a:pPr algn="l" indent="0" marL="0">
              <a:lnSpc>
                <a:spcPct val="148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a fresh Cowork session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9763125" y="5932140"/>
            <a:ext cx="7083362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Cowork caches the plugin per session — a fresh session is the cleanest way to verify.</a:t>
            </a:r>
            <a:endParaRPr lang="en-US" sz="1575" dirty="0"/>
          </a:p>
        </p:txBody>
      </p:sp>
      <p:sp>
        <p:nvSpPr>
          <p:cNvPr id="23" name="Shape 20"/>
          <p:cNvSpPr/>
          <p:nvPr/>
        </p:nvSpPr>
        <p:spPr>
          <a:xfrm>
            <a:off x="1219200" y="7631162"/>
            <a:ext cx="15849600" cy="1741438"/>
          </a:xfrm>
          <a:prstGeom prst="roundRect">
            <a:avLst>
              <a:gd name="adj" fmla="val 8751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09725" y="8013055"/>
            <a:ext cx="1693218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QUESTION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609725" y="8354318"/>
            <a:ext cx="15520607" cy="742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Did the new skill or command behave the way you intended? If not — go back, refine the description, reload, try again. The whole loop is under a minute.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 / 40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642282" y="457200"/>
            <a:ext cx="1502718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19200" y="3223320"/>
            <a:ext cx="5776846" cy="387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6000" spc="-108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1.6</a:t>
            </a:r>
            <a:endParaRPr lang="en-US" sz="36000" dirty="0"/>
          </a:p>
        </p:txBody>
      </p:sp>
      <p:sp>
        <p:nvSpPr>
          <p:cNvPr id="8" name="Shape 5"/>
          <p:cNvSpPr/>
          <p:nvPr/>
        </p:nvSpPr>
        <p:spPr>
          <a:xfrm>
            <a:off x="7742188" y="3698677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9" name="Text 6"/>
          <p:cNvSpPr/>
          <p:nvPr/>
        </p:nvSpPr>
        <p:spPr>
          <a:xfrm>
            <a:off x="7932688" y="3622179"/>
            <a:ext cx="14135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SIX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42188" y="4175373"/>
            <a:ext cx="86334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Sub-agents.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7742188" y="5394573"/>
            <a:ext cx="8633460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 Claudes your plugin can delegate to. Hire a compliance officer — don't ask your generalist assistant to also be one.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 / 40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1.6 · 29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221590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MENTAL MODEL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Hire a specialist.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1219200" y="4024164"/>
            <a:ext cx="8562025" cy="1851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spc="-13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asking your generalist assistant to also be your compliance officer — spin up a dedicated reviewer who does only that job. Thoroughly. Consistently. Every time.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1219200" y="6294686"/>
            <a:ext cx="8312646" cy="2445395"/>
          </a:xfrm>
          <a:prstGeom prst="roundRect">
            <a:avLst>
              <a:gd name="adj" fmla="val 6232"/>
            </a:avLst>
          </a:prstGeom>
          <a:solidFill>
            <a:srgbClr val="DDE9E2"/>
          </a:solidFill>
          <a:ln w="9525">
            <a:solidFill>
              <a:srgbClr val="1F5240">
                <a:alpha val="2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9725" y="6676579"/>
            <a:ext cx="1693218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IT FLOWS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609725" y="7017841"/>
            <a:ext cx="7757544" cy="1446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command (or skill) invokes the agent → the agent runs in its own focused context → it returns a structured report → the main Claude weaves it into the user-facing response.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0141446" y="3626346"/>
            <a:ext cx="6927354" cy="1006822"/>
          </a:xfrm>
          <a:prstGeom prst="roundRect">
            <a:avLst>
              <a:gd name="adj" fmla="val 13245"/>
            </a:avLst>
          </a:prstGeom>
          <a:solidFill>
            <a:srgbClr val="FBF8F2"/>
          </a:solidFill>
          <a:ln w="9525">
            <a:solidFill>
              <a:srgbClr val="1F2329">
                <a:alpha val="14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17671" y="3826371"/>
            <a:ext cx="6566151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 · USER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10417671" y="4076551"/>
            <a:ext cx="6566151" cy="394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Runs </a:t>
            </a:r>
            <a:pPr algn="l" indent="0" marL="0">
              <a:lnSpc>
                <a:spcPct val="156000"/>
              </a:lnSpc>
              <a:buNone/>
            </a:pPr>
            <a:r>
              <a:rPr lang="en-US" sz="1800" spc="-14" kern="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/review-draft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037536" y="4747468"/>
            <a:ext cx="71351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0141446" y="5052268"/>
            <a:ext cx="6927354" cy="1006822"/>
          </a:xfrm>
          <a:prstGeom prst="roundRect">
            <a:avLst>
              <a:gd name="adj" fmla="val 13245"/>
            </a:avLst>
          </a:prstGeom>
          <a:solidFill>
            <a:srgbClr val="FBF8F2"/>
          </a:solidFill>
          <a:ln w="9525">
            <a:solidFill>
              <a:srgbClr val="1F2329">
                <a:alpha val="14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417671" y="5252293"/>
            <a:ext cx="6566151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 · MAIN CLAUDE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0417671" y="5502473"/>
            <a:ext cx="6566151" cy="394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Invokes the agent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037536" y="6173391"/>
            <a:ext cx="71351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0141446" y="6478191"/>
            <a:ext cx="6927354" cy="1233785"/>
          </a:xfrm>
          <a:prstGeom prst="roundRect">
            <a:avLst>
              <a:gd name="adj" fmla="val 10808"/>
            </a:avLst>
          </a:prstGeom>
          <a:solidFill>
            <a:srgbClr val="0E1116"/>
          </a:solidFill>
          <a:ln/>
          <a:effectLst>
            <a:outerShdw sx="100000" sy="100000" kx="0" ky="0" algn="bl" rotWithShape="0" blurRad="342900" dist="152400" dir="5400000">
              <a:srgbClr val="0E1116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408146" y="6668691"/>
            <a:ext cx="6585773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F4EFE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 · SUB-AGENT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10408146" y="6918871"/>
            <a:ext cx="6585773" cy="394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800" spc="-1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Reviews in isolation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408146" y="7313563"/>
            <a:ext cx="6585773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dirty="0">
                <a:solidFill>
                  <a:srgbClr val="F4EFE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 context · scoped prompt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0037536" y="7826276"/>
            <a:ext cx="71351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0141446" y="8131076"/>
            <a:ext cx="6927354" cy="1006822"/>
          </a:xfrm>
          <a:prstGeom prst="roundRect">
            <a:avLst>
              <a:gd name="adj" fmla="val 13245"/>
            </a:avLst>
          </a:prstGeom>
          <a:solidFill>
            <a:srgbClr val="FBF8F2"/>
          </a:solidFill>
          <a:ln w="9525">
            <a:solidFill>
              <a:srgbClr val="1F2329">
                <a:alpha val="14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417671" y="8331101"/>
            <a:ext cx="6566151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04 · STRUCTURED REPORT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10417671" y="8581281"/>
            <a:ext cx="6566151" cy="394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800" spc="-1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Main Claude relays it back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 / 40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1.6 · 30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19484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SUB-AGENTS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reasons.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1219200" y="3544044"/>
            <a:ext cx="3790950" cy="5828556"/>
          </a:xfrm>
          <a:prstGeom prst="roundRect">
            <a:avLst>
              <a:gd name="adj" fmla="val 3518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71625" y="3896469"/>
            <a:ext cx="31786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1571625" y="4410819"/>
            <a:ext cx="3178683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2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Focused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571625" y="4809827"/>
            <a:ext cx="3178683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Tightly-scoped system prompt — the agent can't drift into other topics.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5238750" y="3544044"/>
            <a:ext cx="3790950" cy="5828556"/>
          </a:xfrm>
          <a:prstGeom prst="roundRect">
            <a:avLst>
              <a:gd name="adj" fmla="val 3518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91175" y="3896469"/>
            <a:ext cx="31786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5591175" y="4410819"/>
            <a:ext cx="3178683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2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Composable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5591175" y="4809827"/>
            <a:ext cx="317868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command or skill can invoke them on demand.</a:t>
            </a:r>
            <a:endParaRPr lang="en-US" sz="1425" dirty="0"/>
          </a:p>
        </p:txBody>
      </p:sp>
      <p:sp>
        <p:nvSpPr>
          <p:cNvPr id="18" name="Shape 15"/>
          <p:cNvSpPr/>
          <p:nvPr/>
        </p:nvSpPr>
        <p:spPr>
          <a:xfrm>
            <a:off x="9258300" y="3544044"/>
            <a:ext cx="3790950" cy="5828556"/>
          </a:xfrm>
          <a:prstGeom prst="roundRect">
            <a:avLst>
              <a:gd name="adj" fmla="val 3518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10725" y="3896469"/>
            <a:ext cx="31786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9610725" y="4410819"/>
            <a:ext cx="3178683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2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Structured output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9610725" y="4809827"/>
            <a:ext cx="317868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Rigid format means the parent can parse and re-use it reliably.</a:t>
            </a:r>
            <a:endParaRPr lang="en-US" sz="1425" dirty="0"/>
          </a:p>
        </p:txBody>
      </p:sp>
      <p:sp>
        <p:nvSpPr>
          <p:cNvPr id="22" name="Shape 19"/>
          <p:cNvSpPr/>
          <p:nvPr/>
        </p:nvSpPr>
        <p:spPr>
          <a:xfrm>
            <a:off x="13277850" y="3544044"/>
            <a:ext cx="3790950" cy="5828556"/>
          </a:xfrm>
          <a:prstGeom prst="roundRect">
            <a:avLst>
              <a:gd name="adj" fmla="val 3518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630275" y="3896469"/>
            <a:ext cx="31786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13630275" y="4410819"/>
            <a:ext cx="3178683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23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Auditable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3630275" y="4809827"/>
            <a:ext cx="317868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Predictable workflows you can review, log, and trust over time.</a:t>
            </a:r>
            <a:endParaRPr lang="en-US" sz="1425" dirty="0"/>
          </a:p>
        </p:txBody>
      </p:sp>
      <p:sp>
        <p:nvSpPr>
          <p:cNvPr id="26" name="Text 23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/ 40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1.6 · 31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19484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AGENT FILE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it lives, what's inside.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1219200" y="3391644"/>
            <a:ext cx="7887843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 LOCATION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1219200" y="3718024"/>
            <a:ext cx="7658100" cy="2215753"/>
          </a:xfrm>
          <a:prstGeom prst="roundRect">
            <a:avLst>
              <a:gd name="adj" fmla="val 5159"/>
            </a:avLst>
          </a:prstGeom>
          <a:solidFill>
            <a:srgbClr val="0E1116"/>
          </a:solidFill>
          <a:ln/>
        </p:spPr>
      </p:sp>
      <p:sp>
        <p:nvSpPr>
          <p:cNvPr id="12" name="Text 9"/>
          <p:cNvSpPr/>
          <p:nvPr/>
        </p:nvSpPr>
        <p:spPr>
          <a:xfrm>
            <a:off x="1524000" y="3984724"/>
            <a:ext cx="7278243" cy="1720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A8A0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my-plugin/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.claude-plugin/plugin.json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skills/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commands/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 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agents/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└──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FD2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compliance-reviewer.md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1219200" y="6238577"/>
            <a:ext cx="7887843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THE SAMPLE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1219200" y="6564957"/>
            <a:ext cx="7658100" cy="818108"/>
          </a:xfrm>
          <a:prstGeom prst="roundRect">
            <a:avLst>
              <a:gd name="adj" fmla="val 13971"/>
            </a:avLst>
          </a:prstGeom>
          <a:solidFill>
            <a:srgbClr val="FBF8F2"/>
          </a:solidFill>
          <a:ln w="9525">
            <a:solidFill>
              <a:srgbClr val="1F2329">
                <a:alpha val="14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33525" y="6841182"/>
            <a:ext cx="7259193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agents/compliance-reviewer.md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410700" y="3391644"/>
            <a:ext cx="7887843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THREE THINGS TO NOTICE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9691092" y="3784699"/>
            <a:ext cx="1822698" cy="59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YAML frontmatter includes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2021592" y="3756124"/>
            <a:ext cx="522089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model: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12600831" y="3784699"/>
            <a:ext cx="4456380" cy="59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you specify which Claude model handles this agent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9691092" y="4548783"/>
            <a:ext cx="18003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prompt is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1548616" y="4520208"/>
            <a:ext cx="799207" cy="3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narrow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2404973" y="4548783"/>
            <a:ext cx="308425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it only reviews, never drafts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9691092" y="5007025"/>
            <a:ext cx="1457623" cy="59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format is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1336685" y="4978450"/>
            <a:ext cx="1478310" cy="649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rigidly defined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2872145" y="5007025"/>
            <a:ext cx="3782197" cy="59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parent can parse the response reliably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9410700" y="5933033"/>
            <a:ext cx="7658100" cy="2093416"/>
          </a:xfrm>
          <a:prstGeom prst="roundRect">
            <a:avLst>
              <a:gd name="adj" fmla="val 7280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01225" y="6314926"/>
            <a:ext cx="335497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CONSTRAINT IS THE VALUE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801225" y="6656189"/>
            <a:ext cx="7083362" cy="1094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general-purpose Claude is endlessly capable. A scoped sub-agent is endlessly reliable. Pick the right one for the job.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 / 40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1.6 · 32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39946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· THE REVIEWER IN ACTION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 it a deliberately bad draft.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1219200" y="3190429"/>
            <a:ext cx="8916592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THIS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1219200" y="3516809"/>
            <a:ext cx="8656886" cy="3474690"/>
          </a:xfrm>
          <a:prstGeom prst="roundRect">
            <a:avLst>
              <a:gd name="adj" fmla="val 3290"/>
            </a:avLst>
          </a:prstGeom>
          <a:solidFill>
            <a:srgbClr val="FBF8F2"/>
          </a:solidFill>
          <a:ln w="9525">
            <a:solidFill>
              <a:srgbClr val="1F2329">
                <a:alpha val="14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33525" y="3793034"/>
            <a:ext cx="8287942" cy="2960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/finops-basic:review-draft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Dear Sarah,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portfolio has had an 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incredible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year and will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definitely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continue to outperform the market.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 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guarantee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you'll see at least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12%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returns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year based on our  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best-in-class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strategy.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Regards,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James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409486" y="3190429"/>
            <a:ext cx="6858941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THE AGENT CATCHES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0689878" y="3554909"/>
            <a:ext cx="1274118" cy="3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"definitely"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2021145" y="3583484"/>
            <a:ext cx="30033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forward-looking guarantee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689878" y="4013150"/>
            <a:ext cx="1342579" cy="3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"guarantee"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2089606" y="4041725"/>
            <a:ext cx="29378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explicit promise of returns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0689878" y="4471392"/>
            <a:ext cx="2547045" cy="3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"12% returns next year"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3294072" y="4499967"/>
            <a:ext cx="19965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specific forecast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0689878" y="4929634"/>
            <a:ext cx="1673126" cy="3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"best-in-class"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2420154" y="4958209"/>
            <a:ext cx="3094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unsubstantiated superlative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0409486" y="5387876"/>
            <a:ext cx="6858941" cy="3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past-performance disclaimer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0409486" y="5922318"/>
            <a:ext cx="6858941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returns a structured report. The main Claude turns that into a plain-English summary back to you.</a:t>
            </a:r>
            <a:endParaRPr lang="en-US" sz="1575" dirty="0"/>
          </a:p>
        </p:txBody>
      </p:sp>
      <p:sp>
        <p:nvSpPr>
          <p:cNvPr id="24" name="Text 21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 / 40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1.6 · 33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14135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DISCUSSION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4716125" cy="146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a separate agent — instead of asking the main Claude to also check?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1219200" y="4785866"/>
            <a:ext cx="8476488" cy="1858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050" spc="-65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Asking the main Claude to self-review is like asking a lawyer to proofread their own contract.</a:t>
            </a:r>
            <a:endParaRPr lang="en-US" sz="4050" dirty="0"/>
          </a:p>
        </p:txBody>
      </p:sp>
      <p:sp>
        <p:nvSpPr>
          <p:cNvPr id="11" name="Text 8"/>
          <p:cNvSpPr/>
          <p:nvPr/>
        </p:nvSpPr>
        <p:spPr>
          <a:xfrm>
            <a:off x="1219200" y="6911429"/>
            <a:ext cx="8476488" cy="1769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Technically possible. Practically unreliable. A separate agent with a single role, a fixed checklist, and no authorial attachment is </a:t>
            </a:r>
            <a:pPr algn="l" indent="0" marL="0">
              <a:lnSpc>
                <a:spcPct val="142000"/>
              </a:lnSpc>
              <a:buNone/>
            </a:pPr>
            <a:r>
              <a:rPr lang="en-US" sz="2400" b="1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structurally incapable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the biases that make self-review weak.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0210800" y="5667524"/>
            <a:ext cx="6858000" cy="2093416"/>
          </a:xfrm>
          <a:prstGeom prst="roundRect">
            <a:avLst>
              <a:gd name="adj" fmla="val 7280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01325" y="6049417"/>
            <a:ext cx="1802606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PRINCIPLE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601325" y="6390680"/>
            <a:ext cx="6259259" cy="1094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Separation of concerns isn't a software pattern. It's how you build trust into a system that has to be right every time.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 / 40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1.6 · 34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344357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 · BUILD YOUR OWN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86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meeting-summariser agent.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1219200" y="3190429"/>
            <a:ext cx="7887843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1219200" y="3516809"/>
            <a:ext cx="7658100" cy="1935361"/>
          </a:xfrm>
          <a:prstGeom prst="roundRect">
            <a:avLst>
              <a:gd name="adj" fmla="val 5906"/>
            </a:avLst>
          </a:prstGeom>
          <a:solidFill>
            <a:srgbClr val="0E1116"/>
          </a:solidFill>
          <a:ln/>
        </p:spPr>
      </p:sp>
      <p:sp>
        <p:nvSpPr>
          <p:cNvPr id="12" name="Text 9"/>
          <p:cNvSpPr/>
          <p:nvPr/>
        </p:nvSpPr>
        <p:spPr>
          <a:xfrm>
            <a:off x="1524000" y="3783509"/>
            <a:ext cx="7278243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agents/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FD2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meeting-summariser.md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commands/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4EFE6"/>
                </a:solidFill>
                <a:highlight>
                  <a:srgbClr val="0E111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FFD2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summarise-meeting.md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1219200" y="5756970"/>
            <a:ext cx="7887843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AGENT'S CONTRACT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219200" y="6121450"/>
            <a:ext cx="7887843" cy="3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role — summarise meeting notes only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219200" y="6579691"/>
            <a:ext cx="7887843" cy="649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output: agenda recap · decisions made · action items (owner + deadline)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499592" y="7372350"/>
            <a:ext cx="20005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Invoked by the new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3557290" y="7343775"/>
            <a:ext cx="141357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F23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/summarise-meeting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5028009" y="7372350"/>
            <a:ext cx="10584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9410700" y="3190429"/>
            <a:ext cx="7887843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RELOAD, THEN TEST</a:t>
            </a:r>
            <a:endParaRPr lang="en-US" sz="975" dirty="0"/>
          </a:p>
        </p:txBody>
      </p:sp>
      <p:sp>
        <p:nvSpPr>
          <p:cNvPr id="20" name="Shape 17"/>
          <p:cNvSpPr/>
          <p:nvPr/>
        </p:nvSpPr>
        <p:spPr>
          <a:xfrm>
            <a:off x="9410700" y="3516809"/>
            <a:ext cx="7658100" cy="1674019"/>
          </a:xfrm>
          <a:prstGeom prst="roundRect">
            <a:avLst>
              <a:gd name="adj" fmla="val 6828"/>
            </a:avLst>
          </a:prstGeom>
          <a:solidFill>
            <a:srgbClr val="FBF8F2"/>
          </a:solidFill>
          <a:ln w="9525">
            <a:solidFill>
              <a:srgbClr val="1F2329">
                <a:alpha val="14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725025" y="3793034"/>
            <a:ext cx="7259193" cy="1159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/finops-basic:summarise-meeting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F2329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Sarah Chen — retail investor, $250K portfolio, moderate risk, focused on ASX blue chips and some international exposure. Last meeting we discussed rebalancing away from banks.</a:t>
            </a:r>
            <a:endParaRPr lang="en-US" sz="1425" dirty="0"/>
          </a:p>
        </p:txBody>
      </p:sp>
      <p:sp>
        <p:nvSpPr>
          <p:cNvPr id="22" name="Shape 19"/>
          <p:cNvSpPr/>
          <p:nvPr/>
        </p:nvSpPr>
        <p:spPr>
          <a:xfrm>
            <a:off x="9410700" y="5495627"/>
            <a:ext cx="7658100" cy="2093416"/>
          </a:xfrm>
          <a:prstGeom prst="roundRect">
            <a:avLst>
              <a:gd name="adj" fmla="val 7280"/>
            </a:avLst>
          </a:prstGeom>
          <a:solidFill>
            <a:srgbClr val="FBE3D4"/>
          </a:solidFill>
          <a:ln w="9525">
            <a:solidFill>
              <a:srgbClr val="E36A2C">
                <a:alpha val="2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01225" y="5877520"/>
            <a:ext cx="136520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WATCH FOR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801225" y="6218783"/>
            <a:ext cx="7083362" cy="1094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clean three-section response — every time, in the same format. That predictability is exactly what a sub-agent buys you.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 / 40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642282" y="457200"/>
            <a:ext cx="1502718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19200" y="3223320"/>
            <a:ext cx="5393460" cy="387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6000" spc="-108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1.7</a:t>
            </a:r>
            <a:endParaRPr lang="en-US" sz="36000" dirty="0"/>
          </a:p>
        </p:txBody>
      </p:sp>
      <p:sp>
        <p:nvSpPr>
          <p:cNvPr id="8" name="Shape 5"/>
          <p:cNvSpPr/>
          <p:nvPr/>
        </p:nvSpPr>
        <p:spPr>
          <a:xfrm>
            <a:off x="7369969" y="3915073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9" name="Text 6"/>
          <p:cNvSpPr/>
          <p:nvPr/>
        </p:nvSpPr>
        <p:spPr>
          <a:xfrm>
            <a:off x="7560469" y="3838575"/>
            <a:ext cx="31681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SEVEN · LAST ONE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9969" y="4391769"/>
            <a:ext cx="86334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Package and share.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7369969" y="5610969"/>
            <a:ext cx="8633460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plugin is just a folder. Zip it. Send it. Your colleagues run the same one-line load command.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 / 40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047863" y="457200"/>
            <a:ext cx="2097137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 · 1.7 · 36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28926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ZIP · TWO WAYS IN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Zip it.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1219200" y="3467844"/>
            <a:ext cx="7734300" cy="4134296"/>
          </a:xfrm>
          <a:prstGeom prst="roundRect">
            <a:avLst>
              <a:gd name="adj" fmla="val 3225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47825" y="3858369"/>
            <a:ext cx="1568648" cy="341263"/>
          </a:xfrm>
          <a:prstGeom prst="roundRect">
            <a:avLst>
              <a:gd name="adj" fmla="val 50000"/>
            </a:avLst>
          </a:prstGeom>
          <a:solidFill>
            <a:srgbClr val="DDE9E2"/>
          </a:solidFill>
          <a:ln/>
        </p:spPr>
      </p:sp>
      <p:sp>
        <p:nvSpPr>
          <p:cNvPr id="12" name="Text 9"/>
          <p:cNvSpPr/>
          <p:nvPr/>
        </p:nvSpPr>
        <p:spPr>
          <a:xfrm>
            <a:off x="1790700" y="3925044"/>
            <a:ext cx="1359098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MACOS · LINUX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647825" y="4409182"/>
            <a:ext cx="7083362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spc="-25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your shell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647825" y="4906268"/>
            <a:ext cx="6877050" cy="1393627"/>
          </a:xfrm>
          <a:prstGeom prst="roundRect">
            <a:avLst>
              <a:gd name="adj" fmla="val 8202"/>
            </a:avLst>
          </a:prstGeom>
          <a:solidFill>
            <a:srgbClr val="FBF8F2"/>
          </a:solidFill>
          <a:ln w="9525">
            <a:solidFill>
              <a:srgbClr val="1F2329">
                <a:alpha val="14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62150" y="5182493"/>
            <a:ext cx="6454712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0E1116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 plugin-files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0E1116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zip -r finops-basic-myplugin.zip  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\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level1-finops-basic/</a:t>
            </a:r>
            <a:endParaRPr lang="en-US" sz="1425" dirty="0"/>
          </a:p>
        </p:txBody>
      </p:sp>
      <p:sp>
        <p:nvSpPr>
          <p:cNvPr id="16" name="Shape 13"/>
          <p:cNvSpPr/>
          <p:nvPr/>
        </p:nvSpPr>
        <p:spPr>
          <a:xfrm>
            <a:off x="9334500" y="3467844"/>
            <a:ext cx="7734300" cy="4134296"/>
          </a:xfrm>
          <a:prstGeom prst="roundRect">
            <a:avLst>
              <a:gd name="adj" fmla="val 3225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763125" y="3858369"/>
            <a:ext cx="2259360" cy="341263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9906000" y="3925044"/>
            <a:ext cx="204981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47" kern="0" dirty="0">
                <a:solidFill>
                  <a:srgbClr val="C95A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WINDOWS · POWERSHELL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763125" y="4409182"/>
            <a:ext cx="7083362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spc="-25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One-liner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9763125" y="4906268"/>
            <a:ext cx="6877050" cy="1393627"/>
          </a:xfrm>
          <a:prstGeom prst="roundRect">
            <a:avLst>
              <a:gd name="adj" fmla="val 8202"/>
            </a:avLst>
          </a:prstGeom>
          <a:solidFill>
            <a:srgbClr val="FBF8F2"/>
          </a:solidFill>
          <a:ln w="9525">
            <a:solidFill>
              <a:srgbClr val="1F2329">
                <a:alpha val="14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77450" y="5182493"/>
            <a:ext cx="6454712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0E1116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Compress-Archive 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`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-Path 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0E1116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level1-finops-basic 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`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E36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-DestinationPath </a:t>
            </a:r>
            <a:endParaRPr lang="en-US" sz="14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0E1116"/>
                </a:solidFill>
                <a:highlight>
                  <a:srgbClr val="FBF8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finops-basic-myplugin.zip</a:t>
            </a:r>
            <a:endParaRPr lang="en-US" sz="1425" dirty="0"/>
          </a:p>
        </p:txBody>
      </p:sp>
      <p:sp>
        <p:nvSpPr>
          <p:cNvPr id="22" name="Shape 19"/>
          <p:cNvSpPr/>
          <p:nvPr/>
        </p:nvSpPr>
        <p:spPr>
          <a:xfrm>
            <a:off x="1219200" y="7983141"/>
            <a:ext cx="15849600" cy="1389459"/>
          </a:xfrm>
          <a:prstGeom prst="roundRect">
            <a:avLst>
              <a:gd name="adj" fmla="val 10968"/>
            </a:avLst>
          </a:prstGeom>
          <a:solidFill>
            <a:srgbClr val="DDE9E2"/>
          </a:solidFill>
          <a:ln w="9525">
            <a:solidFill>
              <a:srgbClr val="1F5240">
                <a:alpha val="2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609725" y="8365034"/>
            <a:ext cx="2791772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b="1" spc="231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COLLEAGUES LOAD IT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609725" y="8706296"/>
            <a:ext cx="1552060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b="1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macOS / Windows </a:t>
            </a:r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Cowork → Plugins → Upload Plugin · </a:t>
            </a:r>
            <a:pPr algn="l" indent="0" marL="0">
              <a:lnSpc>
                <a:spcPct val="132000"/>
              </a:lnSpc>
              <a:buNone/>
            </a:pPr>
            <a:r>
              <a:rPr lang="en-US" sz="2100" b="1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Linux </a:t>
            </a:r>
            <a:pPr algn="l" indent="0" marL="0">
              <a:lnSpc>
                <a:spcPct val="132000"/>
              </a:lnSpc>
              <a:buNone/>
            </a:pPr>
            <a:r>
              <a:rPr lang="en-US" sz="2100" spc="-1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</a:t>
            </a:r>
            <a:pPr algn="l" indent="0" marL="0">
              <a:lnSpc>
                <a:spcPct val="132000"/>
              </a:lnSpc>
              <a:buNone/>
            </a:pPr>
            <a:r>
              <a:rPr lang="en-US" sz="1650" spc="-17" kern="0" dirty="0">
                <a:solidFill>
                  <a:srgbClr val="1F5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--plugin-dir ./level1-finops-basic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 / 40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998875" y="457200"/>
            <a:ext cx="1146125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WRAP · 37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19484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1, recap.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1219200" y="4797177"/>
            <a:ext cx="5232349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2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9900" dirty="0"/>
          </a:p>
        </p:txBody>
      </p:sp>
      <p:sp>
        <p:nvSpPr>
          <p:cNvPr id="11" name="Text 8"/>
          <p:cNvSpPr/>
          <p:nvPr/>
        </p:nvSpPr>
        <p:spPr>
          <a:xfrm>
            <a:off x="1219200" y="6068169"/>
            <a:ext cx="5232349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PLUGIN · FOLDER OF MARKDOWN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03950" y="4797177"/>
            <a:ext cx="5232349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2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9900" dirty="0"/>
          </a:p>
        </p:txBody>
      </p:sp>
      <p:sp>
        <p:nvSpPr>
          <p:cNvPr id="13" name="Text 10"/>
          <p:cNvSpPr/>
          <p:nvPr/>
        </p:nvSpPr>
        <p:spPr>
          <a:xfrm>
            <a:off x="6603950" y="6068169"/>
            <a:ext cx="5232349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 · AUTO-FIRE IN BACKGROUND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988701" y="4797177"/>
            <a:ext cx="5232349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2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3+</a:t>
            </a:r>
            <a:endParaRPr lang="en-US" sz="9900" dirty="0"/>
          </a:p>
        </p:txBody>
      </p:sp>
      <p:sp>
        <p:nvSpPr>
          <p:cNvPr id="15" name="Text 12"/>
          <p:cNvSpPr/>
          <p:nvPr/>
        </p:nvSpPr>
        <p:spPr>
          <a:xfrm>
            <a:off x="11988701" y="6068169"/>
            <a:ext cx="5232349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COMMANDS · SLASH-TRIGGERED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219200" y="6610648"/>
            <a:ext cx="5232349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2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9900" dirty="0"/>
          </a:p>
        </p:txBody>
      </p:sp>
      <p:sp>
        <p:nvSpPr>
          <p:cNvPr id="17" name="Text 14"/>
          <p:cNvSpPr/>
          <p:nvPr/>
        </p:nvSpPr>
        <p:spPr>
          <a:xfrm>
            <a:off x="1219200" y="7881640"/>
            <a:ext cx="5232349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SUB-AGENT · SCOPED SPECIALIST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603950" y="6610648"/>
            <a:ext cx="5232349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2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9900" dirty="0"/>
          </a:p>
        </p:txBody>
      </p:sp>
      <p:sp>
        <p:nvSpPr>
          <p:cNvPr id="19" name="Text 16"/>
          <p:cNvSpPr/>
          <p:nvPr/>
        </p:nvSpPr>
        <p:spPr>
          <a:xfrm>
            <a:off x="6603950" y="7881640"/>
            <a:ext cx="5232349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LINES OF CODE WRITTEN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988701" y="6610648"/>
            <a:ext cx="5232349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238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60m</a:t>
            </a:r>
            <a:endParaRPr lang="en-US" sz="9900" dirty="0"/>
          </a:p>
        </p:txBody>
      </p:sp>
      <p:sp>
        <p:nvSpPr>
          <p:cNvPr id="21" name="Text 18"/>
          <p:cNvSpPr/>
          <p:nvPr/>
        </p:nvSpPr>
        <p:spPr>
          <a:xfrm>
            <a:off x="11988701" y="7881640"/>
            <a:ext cx="5232349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IDEA TO PACKAGED PLUGIN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 / 40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998875" y="457200"/>
            <a:ext cx="1146125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WRAP · 38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234969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WHEN YOU'RE READY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2 picks up here.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1219200" y="5611118"/>
            <a:ext cx="387524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59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1219200" y="6277868"/>
            <a:ext cx="38752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50" b="1" spc="-27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MCP tools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219200" y="6685508"/>
            <a:ext cx="3875246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F4EF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your plugin into external systems your firm already runs.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5248275" y="5611118"/>
            <a:ext cx="387524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59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5248275" y="6277868"/>
            <a:ext cx="38752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50" b="1" spc="-27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market data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5248275" y="6685508"/>
            <a:ext cx="3875246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F4EF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 real prices, fundamentals, and news straight into your prompts.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9277350" y="5611118"/>
            <a:ext cx="387524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59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9277350" y="6277868"/>
            <a:ext cx="38752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50" b="1" spc="-27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Bash pipeline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277350" y="6685508"/>
            <a:ext cx="3875246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F4EF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data layer — your plugin can now read, transform, and write.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306425" y="5611118"/>
            <a:ext cx="387524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59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4200" dirty="0"/>
          </a:p>
        </p:txBody>
      </p:sp>
      <p:sp>
        <p:nvSpPr>
          <p:cNvPr id="20" name="Text 17"/>
          <p:cNvSpPr/>
          <p:nvPr/>
        </p:nvSpPr>
        <p:spPr>
          <a:xfrm>
            <a:off x="13306425" y="6277868"/>
            <a:ext cx="38752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50" b="1" spc="-27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Multi-agent orchestration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3306425" y="6685508"/>
            <a:ext cx="3875246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F4EF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Several specialists working in concert — coordinated by one command.</a:t>
            </a:r>
            <a:endParaRPr lang="en-US" sz="1575" dirty="0"/>
          </a:p>
        </p:txBody>
      </p:sp>
      <p:sp>
        <p:nvSpPr>
          <p:cNvPr id="22" name="Text 19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 / 40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68213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485775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580382" y="457200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793355" y="457200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998875" y="457200"/>
            <a:ext cx="1146125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16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WRAP · 39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9200" y="16957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8" name="Text 5"/>
          <p:cNvSpPr/>
          <p:nvPr/>
        </p:nvSpPr>
        <p:spPr>
          <a:xfrm>
            <a:off x="1409700" y="1619250"/>
            <a:ext cx="24833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 THIS WITH YOU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19200" y="2096244"/>
            <a:ext cx="163250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Resources.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1219200" y="3544044"/>
            <a:ext cx="7734300" cy="2723704"/>
          </a:xfrm>
          <a:prstGeom prst="roundRect">
            <a:avLst>
              <a:gd name="adj" fmla="val 489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47825" y="3934569"/>
            <a:ext cx="7083362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 MATERIALS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647825" y="4241899"/>
            <a:ext cx="708336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EDA-repository/finops-claude-plugins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647825" y="4684812"/>
            <a:ext cx="708336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Level 1 plugin files, the lab guide, and the Level 2 starter on github.com.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9334500" y="3544044"/>
            <a:ext cx="7734300" cy="2723704"/>
          </a:xfrm>
          <a:prstGeom prst="roundRect">
            <a:avLst>
              <a:gd name="adj" fmla="val 489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63125" y="3934569"/>
            <a:ext cx="7083362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ANTHROPIC EXAMPLES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9763125" y="4241899"/>
            <a:ext cx="708336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anthropics/knowledge-work-plugins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9763125" y="4684812"/>
            <a:ext cx="708336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patterns for skills, commands and sub-agents — useful for inspiration.</a:t>
            </a:r>
            <a:endParaRPr lang="en-US" sz="1425" dirty="0"/>
          </a:p>
        </p:txBody>
      </p:sp>
      <p:sp>
        <p:nvSpPr>
          <p:cNvPr id="18" name="Shape 15"/>
          <p:cNvSpPr/>
          <p:nvPr/>
        </p:nvSpPr>
        <p:spPr>
          <a:xfrm>
            <a:off x="1219200" y="6648748"/>
            <a:ext cx="7734300" cy="2723852"/>
          </a:xfrm>
          <a:prstGeom prst="roundRect">
            <a:avLst>
              <a:gd name="adj" fmla="val 489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47825" y="7039273"/>
            <a:ext cx="7083362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HELP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647825" y="7346603"/>
            <a:ext cx="708336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Workshop Slack channel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647825" y="7789515"/>
            <a:ext cx="708336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screenshots of your plugin output — fastest way to get unstuck.</a:t>
            </a:r>
            <a:endParaRPr lang="en-US" sz="1425" dirty="0"/>
          </a:p>
        </p:txBody>
      </p:sp>
      <p:sp>
        <p:nvSpPr>
          <p:cNvPr id="22" name="Shape 19"/>
          <p:cNvSpPr/>
          <p:nvPr/>
        </p:nvSpPr>
        <p:spPr>
          <a:xfrm>
            <a:off x="9334500" y="6648748"/>
            <a:ext cx="7734300" cy="2723852"/>
          </a:xfrm>
          <a:prstGeom prst="roundRect">
            <a:avLst>
              <a:gd name="adj" fmla="val 4896"/>
            </a:avLst>
          </a:prstGeom>
          <a:solidFill>
            <a:srgbClr val="FBF8F2"/>
          </a:solidFill>
          <a:ln w="9525">
            <a:solidFill>
              <a:srgbClr val="1F2329">
                <a:alpha val="6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63125" y="7039273"/>
            <a:ext cx="7083362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ISSUES &amp; FEEDBACK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9763125" y="7346603"/>
            <a:ext cx="708336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27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 issues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9763125" y="7789515"/>
            <a:ext cx="708336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spc="-7" kern="0" dirty="0">
                <a:solidFill>
                  <a:srgbClr val="1F23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 a bug in the sample plugin? Raise it on the workshop repo.</a:t>
            </a:r>
            <a:endParaRPr lang="en-US" sz="1425" dirty="0"/>
          </a:p>
        </p:txBody>
      </p:sp>
      <p:sp>
        <p:nvSpPr>
          <p:cNvPr id="26" name="Text 23"/>
          <p:cNvSpPr/>
          <p:nvPr/>
        </p:nvSpPr>
        <p:spPr>
          <a:xfrm>
            <a:off x="16257984" y="9592121"/>
            <a:ext cx="887016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192" kern="0" dirty="0">
                <a:solidFill>
                  <a:srgbClr val="7A73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 / 40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1238548"/>
            <a:ext cx="76200" cy="76200"/>
          </a:xfrm>
          <a:prstGeom prst="ellipse">
            <a:avLst/>
          </a:prstGeom>
          <a:solidFill>
            <a:srgbClr val="E36A2C"/>
          </a:solidFill>
          <a:ln/>
        </p:spPr>
      </p:sp>
      <p:sp>
        <p:nvSpPr>
          <p:cNvPr id="3" name="Text 1"/>
          <p:cNvSpPr/>
          <p:nvPr/>
        </p:nvSpPr>
        <p:spPr>
          <a:xfrm>
            <a:off x="1409700" y="1162050"/>
            <a:ext cx="24833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350" spc="243" kern="0" dirty="0">
                <a:solidFill>
                  <a:srgbClr val="F4EFE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 &amp; A · THEN BREAK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19200" y="3510707"/>
            <a:ext cx="8135105" cy="1434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1700" spc="-304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you.</a:t>
            </a:r>
            <a:endParaRPr lang="en-US" sz="11700" dirty="0"/>
          </a:p>
        </p:txBody>
      </p:sp>
      <p:sp>
        <p:nvSpPr>
          <p:cNvPr id="5" name="Text 3"/>
          <p:cNvSpPr/>
          <p:nvPr/>
        </p:nvSpPr>
        <p:spPr>
          <a:xfrm>
            <a:off x="1219200" y="5326410"/>
            <a:ext cx="7456170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spc="-12" kern="0" dirty="0">
                <a:solidFill>
                  <a:srgbClr val="F4EFE6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now have a working plugin, the design rules to extend it, and a clean path into Level 2 whenever you're ready.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8724900"/>
            <a:ext cx="419100" cy="419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43100" y="8799612"/>
            <a:ext cx="846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885182" y="8771037"/>
            <a:ext cx="117723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b="1" spc="-20" kern="0" dirty="0">
                <a:solidFill>
                  <a:srgbClr val="E36A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3098155" y="8771037"/>
            <a:ext cx="1341239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650" spc="-20" kern="0" dirty="0">
                <a:solidFill>
                  <a:srgbClr val="F4EF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452021" y="8837861"/>
            <a:ext cx="3775299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95" kern="0" dirty="0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 COMPLETE · SEE YOU IN LEVEL 2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10336560" y="0"/>
            <a:ext cx="7951440" cy="10287000"/>
          </a:xfrm>
          <a:prstGeom prst="rect">
            <a:avLst/>
          </a:prstGeom>
          <a:solidFill>
            <a:srgbClr val="E36A2C"/>
          </a:solidFill>
          <a:ln/>
        </p:spPr>
      </p:sp>
      <p:sp>
        <p:nvSpPr>
          <p:cNvPr id="12" name="Text 9"/>
          <p:cNvSpPr/>
          <p:nvPr/>
        </p:nvSpPr>
        <p:spPr>
          <a:xfrm>
            <a:off x="11250960" y="914400"/>
            <a:ext cx="1532483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0E111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 OF SESSION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7240250" y="914400"/>
            <a:ext cx="133350" cy="133350"/>
          </a:xfrm>
          <a:prstGeom prst="ellipse">
            <a:avLst/>
          </a:prstGeom>
          <a:solidFill>
            <a:srgbClr val="0E1116"/>
          </a:solidFill>
          <a:ln/>
        </p:spPr>
      </p:sp>
      <p:sp>
        <p:nvSpPr>
          <p:cNvPr id="14" name="Text 11"/>
          <p:cNvSpPr/>
          <p:nvPr/>
        </p:nvSpPr>
        <p:spPr>
          <a:xfrm>
            <a:off x="11250960" y="2177355"/>
            <a:ext cx="6306319" cy="275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200" spc="264" kern="0" dirty="0">
                <a:solidFill>
                  <a:srgbClr val="0E1116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01 · COMPLETE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250960" y="2719834"/>
            <a:ext cx="6306319" cy="462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1000" spc="-630" kern="0" dirty="0">
                <a:solidFill>
                  <a:srgbClr val="0E11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pPr algn="l" indent="0" marL="0">
              <a:lnSpc>
                <a:spcPct val="86000"/>
              </a:lnSpc>
              <a:buNone/>
            </a:pPr>
            <a:r>
              <a:rPr lang="en-US" sz="21000" spc="-630" kern="0" dirty="0">
                <a:solidFill>
                  <a:srgbClr val="0E1116">
                    <a:alpha val="3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 </a:t>
            </a:r>
            <a:pPr algn="l" indent="0" marL="0">
              <a:lnSpc>
                <a:spcPct val="86000"/>
              </a:lnSpc>
              <a:buNone/>
            </a:pPr>
            <a:r>
              <a:rPr lang="en-US" sz="21000" spc="-630" kern="0" dirty="0">
                <a:solidFill>
                  <a:srgbClr val="0E1116">
                    <a:alpha val="5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21000" dirty="0"/>
          </a:p>
        </p:txBody>
      </p:sp>
      <p:sp>
        <p:nvSpPr>
          <p:cNvPr id="16" name="Shape 13"/>
          <p:cNvSpPr/>
          <p:nvPr/>
        </p:nvSpPr>
        <p:spPr>
          <a:xfrm>
            <a:off x="11250960" y="7688014"/>
            <a:ext cx="809327" cy="57150"/>
          </a:xfrm>
          <a:prstGeom prst="rect">
            <a:avLst/>
          </a:prstGeom>
          <a:solidFill>
            <a:srgbClr val="0E1116"/>
          </a:solidFill>
          <a:ln/>
        </p:spPr>
      </p:sp>
      <p:sp>
        <p:nvSpPr>
          <p:cNvPr id="17" name="Shape 14"/>
          <p:cNvSpPr/>
          <p:nvPr/>
        </p:nvSpPr>
        <p:spPr>
          <a:xfrm>
            <a:off x="12136487" y="7688014"/>
            <a:ext cx="809476" cy="57150"/>
          </a:xfrm>
          <a:prstGeom prst="rect">
            <a:avLst/>
          </a:prstGeom>
          <a:solidFill>
            <a:srgbClr val="0E1116">
              <a:alpha val="1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3022163" y="7688014"/>
            <a:ext cx="809327" cy="57150"/>
          </a:xfrm>
          <a:prstGeom prst="rect">
            <a:avLst/>
          </a:prstGeom>
          <a:solidFill>
            <a:srgbClr val="0E1116">
              <a:alpha val="1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3907691" y="7688014"/>
            <a:ext cx="809327" cy="57150"/>
          </a:xfrm>
          <a:prstGeom prst="rect">
            <a:avLst/>
          </a:prstGeom>
          <a:solidFill>
            <a:srgbClr val="0E1116">
              <a:alpha val="1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4793218" y="7688014"/>
            <a:ext cx="809327" cy="57150"/>
          </a:xfrm>
          <a:prstGeom prst="rect">
            <a:avLst/>
          </a:prstGeom>
          <a:solidFill>
            <a:srgbClr val="0E1116">
              <a:alpha val="1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5678745" y="7688014"/>
            <a:ext cx="809327" cy="57150"/>
          </a:xfrm>
          <a:prstGeom prst="rect">
            <a:avLst/>
          </a:prstGeom>
          <a:solidFill>
            <a:srgbClr val="0E1116">
              <a:alpha val="1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6564273" y="7688014"/>
            <a:ext cx="809327" cy="57150"/>
          </a:xfrm>
          <a:prstGeom prst="rect">
            <a:avLst/>
          </a:prstGeom>
          <a:solidFill>
            <a:srgbClr val="0E1116">
              <a:alpha val="18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1250960" y="7916614"/>
            <a:ext cx="885527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76" kern="0" dirty="0">
                <a:solidFill>
                  <a:srgbClr val="0E111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1.1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12136487" y="7916614"/>
            <a:ext cx="885676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76" kern="0" dirty="0">
                <a:solidFill>
                  <a:srgbClr val="0E111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1.2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13022163" y="7916614"/>
            <a:ext cx="885527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76" kern="0" dirty="0">
                <a:solidFill>
                  <a:srgbClr val="0E111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1.3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13907691" y="7916614"/>
            <a:ext cx="885527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76" kern="0" dirty="0">
                <a:solidFill>
                  <a:srgbClr val="0E111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1.4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14793218" y="7916614"/>
            <a:ext cx="885527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76" kern="0" dirty="0">
                <a:solidFill>
                  <a:srgbClr val="0E111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1.5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15678745" y="7916614"/>
            <a:ext cx="885527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76" kern="0" dirty="0">
                <a:solidFill>
                  <a:srgbClr val="0E111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1.6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16564273" y="7916614"/>
            <a:ext cx="885527" cy="23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975" spc="176" kern="0" dirty="0">
                <a:solidFill>
                  <a:srgbClr val="0E111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1.7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11250960" y="9164687"/>
            <a:ext cx="2156520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0E111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STOP · LEVEL 02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6645384" y="9164687"/>
            <a:ext cx="804416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050" spc="189" kern="0" dirty="0">
                <a:solidFill>
                  <a:srgbClr val="0E1116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 / 40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2026-05-15T03:30:17Z</dcterms:created>
  <dcterms:modified xsi:type="dcterms:W3CDTF">2026-05-15T03:30:17Z</dcterms:modified>
</cp:coreProperties>
</file>