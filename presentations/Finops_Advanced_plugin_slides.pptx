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314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1238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WORKSHOP · 2 HOURS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9200" y="1591419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1514921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19200" y="1991916"/>
            <a:ext cx="7953146" cy="4550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600" spc="-32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FinOps Plugin.</a:t>
            </a:r>
            <a:endParaRPr lang="en-US" sz="12600" dirty="0"/>
          </a:p>
        </p:txBody>
      </p:sp>
      <p:sp>
        <p:nvSpPr>
          <p:cNvPr id="7" name="Text 5"/>
          <p:cNvSpPr/>
          <p:nvPr/>
        </p:nvSpPr>
        <p:spPr>
          <a:xfrm>
            <a:off x="1219200" y="6961287"/>
            <a:ext cx="7456170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Extending a Markdown plugin with MCP integrations — live market data, client documents from disk, and persistent memory across sessions.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8692455"/>
            <a:ext cx="419100" cy="4191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43100" y="8738592"/>
            <a:ext cx="2267694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</a:t>
            </a:r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</a:t>
            </a:r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59901" y="0"/>
            <a:ext cx="8127950" cy="10330755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0921901" y="914400"/>
            <a:ext cx="257264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WEALTH MANAGEMENT ·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901666" y="914400"/>
            <a:ext cx="70038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 · 02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921901" y="3311575"/>
            <a:ext cx="209550" cy="19050"/>
          </a:xfrm>
          <a:prstGeom prst="rect">
            <a:avLst/>
          </a:prstGeom>
          <a:solidFill>
            <a:srgbClr val="E36A2C"/>
          </a:solidFill>
          <a:ln/>
        </p:spPr>
      </p:sp>
      <p:sp>
        <p:nvSpPr>
          <p:cNvPr id="14" name="Text 11"/>
          <p:cNvSpPr/>
          <p:nvPr/>
        </p:nvSpPr>
        <p:spPr>
          <a:xfrm>
            <a:off x="11264801" y="3226743"/>
            <a:ext cx="13884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F4EFE6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 STACK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921901" y="3691830"/>
            <a:ext cx="4833327" cy="184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6500" spc="-495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</a:t>
            </a:r>
            <a:pPr algn="l" indent="0" marL="0">
              <a:lnSpc>
                <a:spcPct val="86000"/>
              </a:lnSpc>
              <a:buNone/>
            </a:pPr>
            <a:r>
              <a:rPr lang="en-US" sz="16500" spc="-495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6500" dirty="0"/>
          </a:p>
        </p:txBody>
      </p:sp>
      <p:sp>
        <p:nvSpPr>
          <p:cNvPr id="16" name="Shape 13"/>
          <p:cNvSpPr/>
          <p:nvPr/>
        </p:nvSpPr>
        <p:spPr>
          <a:xfrm>
            <a:off x="10921901" y="5922764"/>
            <a:ext cx="95250" cy="952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17" name="Text 14"/>
          <p:cNvSpPr/>
          <p:nvPr/>
        </p:nvSpPr>
        <p:spPr>
          <a:xfrm>
            <a:off x="11169551" y="5836741"/>
            <a:ext cx="73461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tavily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2056566" y="5836741"/>
            <a:ext cx="18603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395002" y="5836741"/>
            <a:ext cx="183192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market data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921901" y="6323558"/>
            <a:ext cx="95250" cy="952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21" name="Text 18"/>
          <p:cNvSpPr/>
          <p:nvPr/>
        </p:nvSpPr>
        <p:spPr>
          <a:xfrm>
            <a:off x="11169551" y="6237536"/>
            <a:ext cx="73461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056566" y="6237536"/>
            <a:ext cx="18603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2395002" y="6237536"/>
            <a:ext cx="183192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persistent graph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921901" y="6724352"/>
            <a:ext cx="95250" cy="95250"/>
          </a:xfrm>
          <a:prstGeom prst="ellipse">
            <a:avLst/>
          </a:prstGeom>
          <a:solidFill>
            <a:srgbClr val="F4EFE6">
              <a:alpha val="4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1169551" y="6638330"/>
            <a:ext cx="73461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native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056566" y="6638330"/>
            <a:ext cx="18603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2395002" y="6638330"/>
            <a:ext cx="2380506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54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tools (built-in)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0723782" y="9000530"/>
            <a:ext cx="6802069" cy="45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FINOPS-ADVANCED · V2.0 27 SLIDES · 5 EXERCISES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3496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OVERVIEW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of the session.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620244"/>
            <a:ext cx="5105400" cy="4934843"/>
          </a:xfrm>
          <a:prstGeom prst="roundRect">
            <a:avLst>
              <a:gd name="adj" fmla="val 270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972669"/>
            <a:ext cx="44540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609725" y="4487019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fully wired plugin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09725" y="4951809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finops-advanced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two MCP servers and Claude Code's native file tools threaded through every command.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591300" y="3620244"/>
            <a:ext cx="5105400" cy="4934843"/>
          </a:xfrm>
          <a:prstGeom prst="roundRect">
            <a:avLst>
              <a:gd name="adj" fmla="val 270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1825" y="3972669"/>
            <a:ext cx="44540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981825" y="4487019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new commands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81825" y="4951809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review, live market briefings, and compliant retirement projections — each grounded in real data, not the model's memory.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1963400" y="3620244"/>
            <a:ext cx="5105400" cy="4934843"/>
          </a:xfrm>
          <a:prstGeom prst="roundRect">
            <a:avLst>
              <a:gd name="adj" fmla="val 270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53925" y="3972669"/>
            <a:ext cx="44540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2353925" y="4487019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that remember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353925" y="4951809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checks verified against ASIC in real time. Client context carried from one session to the next.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19200" y="9012287"/>
            <a:ext cx="1876127" cy="360313"/>
          </a:xfrm>
          <a:prstGeom prst="roundRect">
            <a:avLst>
              <a:gd name="adj" fmla="val 5000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371600" y="9163794"/>
            <a:ext cx="57150" cy="571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23" name="Text 20"/>
          <p:cNvSpPr/>
          <p:nvPr/>
        </p:nvSpPr>
        <p:spPr>
          <a:xfrm>
            <a:off x="1524000" y="9098012"/>
            <a:ext cx="14951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 · 15 MIN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7727" y="9012287"/>
            <a:ext cx="2484239" cy="360313"/>
          </a:xfrm>
          <a:prstGeom prst="roundRect">
            <a:avLst>
              <a:gd name="adj" fmla="val 5000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400127" y="9163794"/>
            <a:ext cx="57150" cy="571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26" name="Text 23"/>
          <p:cNvSpPr/>
          <p:nvPr/>
        </p:nvSpPr>
        <p:spPr>
          <a:xfrm>
            <a:off x="3552527" y="9098012"/>
            <a:ext cx="21032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WALKTHROUGH · 25 MIN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84366" y="9012287"/>
            <a:ext cx="2281535" cy="360313"/>
          </a:xfrm>
          <a:prstGeom prst="roundRect">
            <a:avLst>
              <a:gd name="adj" fmla="val 5000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036766" y="9163794"/>
            <a:ext cx="57150" cy="571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29" name="Text 26"/>
          <p:cNvSpPr/>
          <p:nvPr/>
        </p:nvSpPr>
        <p:spPr>
          <a:xfrm>
            <a:off x="6189166" y="9098012"/>
            <a:ext cx="19005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· 60 MIN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318302" y="9012287"/>
            <a:ext cx="2686943" cy="360313"/>
          </a:xfrm>
          <a:prstGeom prst="roundRect">
            <a:avLst>
              <a:gd name="adj" fmla="val 50000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470702" y="9163794"/>
            <a:ext cx="57150" cy="5715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2" name="Text 29"/>
          <p:cNvSpPr/>
          <p:nvPr/>
        </p:nvSpPr>
        <p:spPr>
          <a:xfrm>
            <a:off x="8623102" y="9098012"/>
            <a:ext cx="23059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 + WRAP · 20 MIN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2159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DIFFERENT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1 → Level 2.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4013895"/>
            <a:ext cx="4754761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409700" y="3639294"/>
            <a:ext cx="4516404" cy="24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73961" y="4013895"/>
            <a:ext cx="4754761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164461" y="3639294"/>
            <a:ext cx="4516404" cy="24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FINOPS-BASIC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728722" y="4013895"/>
            <a:ext cx="6340078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919222" y="3639294"/>
            <a:ext cx="6149280" cy="24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68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FINOPS-ADVANCED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219200" y="4670078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409700" y="4194870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servers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973961" y="4670078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164461" y="4194870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728722" y="4670078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919222" y="4194870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 · memory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19200" y="5326261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409700" y="4851053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data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5973961" y="5326261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164461" y="4851053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Static, from Claude's training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728722" y="5326261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919222" y="4851053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via tavily with citations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219200" y="5982444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409700" y="5507236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documents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5973961" y="5982444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164461" y="5507236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paste only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0728722" y="5982444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0919222" y="5507236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disk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native tools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219200" y="6638627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409700" y="6163419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history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5973961" y="6638627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164461" y="6163419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Starts fresh each session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728722" y="6638627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10919222" y="6163419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memory MCP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219200" y="7294811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409700" y="6819602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check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5973961" y="7294811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164461" y="6819602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Knowledge-based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0728722" y="7294811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10919222" y="6819602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C95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against ASIC.gov.au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1219200" y="7950994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1409700" y="7475786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commands</a:t>
            </a:r>
            <a:endParaRPr lang="en-US" sz="1650" dirty="0"/>
          </a:p>
        </p:txBody>
      </p:sp>
      <p:sp>
        <p:nvSpPr>
          <p:cNvPr id="47" name="Shape 44"/>
          <p:cNvSpPr/>
          <p:nvPr/>
        </p:nvSpPr>
        <p:spPr>
          <a:xfrm>
            <a:off x="5973961" y="7950994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164461" y="7475786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10728722" y="7950994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0919222" y="7475786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portfolio-review · market-briefing · retirement-projection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1219200" y="8607177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1409700" y="8131969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agents</a:t>
            </a:r>
            <a:endParaRPr lang="en-US" sz="1650" dirty="0"/>
          </a:p>
        </p:txBody>
      </p:sp>
      <p:sp>
        <p:nvSpPr>
          <p:cNvPr id="53" name="Shape 50"/>
          <p:cNvSpPr/>
          <p:nvPr/>
        </p:nvSpPr>
        <p:spPr>
          <a:xfrm>
            <a:off x="5973961" y="8607177"/>
            <a:ext cx="4754761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6164461" y="8131969"/>
            <a:ext cx="451640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0728722" y="8607177"/>
            <a:ext cx="6340078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10919222" y="8131969"/>
            <a:ext cx="614928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portfolio-analyst · market-researcher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WE START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on your machine.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544044"/>
            <a:ext cx="5105400" cy="3609975"/>
          </a:xfrm>
          <a:prstGeom prst="roundRect">
            <a:avLst>
              <a:gd name="adj" fmla="val 369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9725" y="3896469"/>
            <a:ext cx="581918" cy="341263"/>
          </a:xfrm>
          <a:prstGeom prst="roundRect">
            <a:avLst>
              <a:gd name="adj" fmla="val 50000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752600" y="3963144"/>
            <a:ext cx="37236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F4EF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09725" y="4409182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9725" y="4873972"/>
            <a:ext cx="445408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print a version. If not, install it before we go further.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6591300" y="3544044"/>
            <a:ext cx="5105400" cy="3609975"/>
          </a:xfrm>
          <a:prstGeom prst="roundRect">
            <a:avLst>
              <a:gd name="adj" fmla="val 369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81825" y="3896469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6" name="Text 13"/>
          <p:cNvSpPr/>
          <p:nvPr/>
        </p:nvSpPr>
        <p:spPr>
          <a:xfrm>
            <a:off x="7124700" y="3963144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KEY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81825" y="4409182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Tavily, free tier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981825" y="4873972"/>
            <a:ext cx="445408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at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app.tavily.com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takes about two minutes. We'll set 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TAVILY_API_KEY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moment.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11963400" y="3544044"/>
            <a:ext cx="5105400" cy="3609975"/>
          </a:xfrm>
          <a:prstGeom prst="roundRect">
            <a:avLst>
              <a:gd name="adj" fmla="val 369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353925" y="3896469"/>
            <a:ext cx="1272629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21" name="Text 18"/>
          <p:cNvSpPr/>
          <p:nvPr/>
        </p:nvSpPr>
        <p:spPr>
          <a:xfrm>
            <a:off x="12496800" y="3963144"/>
            <a:ext cx="106307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2353925" y="4409182"/>
            <a:ext cx="4454081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Sample client docs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2353925" y="4873972"/>
            <a:ext cx="445408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PDFs, CSVs or text files. Real or fake — we'll generate a demo client folder in Exercise 1 either way.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1219200" y="7687419"/>
            <a:ext cx="15849600" cy="1685181"/>
          </a:xfrm>
          <a:prstGeom prst="roundRect">
            <a:avLst>
              <a:gd name="adj" fmla="val 9044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9725" y="8069312"/>
            <a:ext cx="125581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HEADS UP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476375" y="8410575"/>
            <a:ext cx="152781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code is required — this is configuration only. The plugin is plain Markdown.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runs locally; memory lives in your home directory, not the cloud.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5203683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7185720" y="369867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7376220" y="3622179"/>
            <a:ext cx="2892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ONE · 15 MINUTES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85720" y="4175373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Setup.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185720" y="5394573"/>
            <a:ext cx="8044815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steps. Register the MCP servers globally once, then launch Claude Code with the plugin directory on every session.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4833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ONE-TIME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the MCP servers.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177290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spc="-12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--plugin-dir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loads commands and agents but does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</a:t>
            </a:r>
            <a:pPr algn="l" indent="0" marL="0">
              <a:lnSpc>
                <a:spcPct val="142000"/>
              </a:lnSpc>
              <a:buNone/>
            </a:pPr>
            <a:r>
              <a:rPr lang="en-US" sz="1650" spc="-12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plugin folder. MCP servers must be registered globally.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19200" y="4485829"/>
            <a:ext cx="8005572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your API key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219200" y="5118199"/>
            <a:ext cx="7772400" cy="1935361"/>
          </a:xfrm>
          <a:prstGeom prst="roundRect">
            <a:avLst>
              <a:gd name="adj" fmla="val 4922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5384899"/>
            <a:ext cx="7395972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macOS / Linux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export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C7A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TAVILY_API_KEY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8C5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your_key_here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persist it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echo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8C5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'export TAVILY_API_KEY=...'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&gt;&gt; ~/.zshrc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9296400" y="4485829"/>
            <a:ext cx="8005572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globally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296400" y="5118199"/>
            <a:ext cx="7772400" cy="2776538"/>
          </a:xfrm>
          <a:prstGeom prst="roundRect">
            <a:avLst>
              <a:gd name="adj" fmla="val 3431"/>
            </a:avLst>
          </a:prstGeom>
          <a:solidFill>
            <a:srgbClr val="0E11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0" y="5384899"/>
            <a:ext cx="7395972" cy="2281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mcp add tavily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--scope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--env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TAVILY_API_KEY=$TAVILY_API_KEY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-- npx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-y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tavily-mcp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mcp add memory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--scope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-- npx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-y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@modelcontextprotocol/server-memory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1219200" y="8275737"/>
            <a:ext cx="15849600" cy="1348234"/>
          </a:xfrm>
          <a:prstGeom prst="roundRect">
            <a:avLst>
              <a:gd name="adj" fmla="val 11304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9725" y="8657630"/>
            <a:ext cx="70916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609725" y="8998893"/>
            <a:ext cx="15520607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servers run via </a:t>
            </a:r>
            <a:pPr algn="l" indent="0" marL="0">
              <a:lnSpc>
                <a:spcPct val="136000"/>
              </a:lnSpc>
              <a:buNone/>
            </a:pPr>
            <a:r>
              <a:rPr lang="en-US" sz="1575" spc="-14" kern="0" dirty="0">
                <a:solidFill>
                  <a:srgbClr val="0E1116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 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no global install, no Docker. Node must be on your PATH.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EVERY SESSION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 with the plugin.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467844"/>
            <a:ext cx="1568648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0" name="Text 7"/>
          <p:cNvSpPr/>
          <p:nvPr/>
        </p:nvSpPr>
        <p:spPr>
          <a:xfrm>
            <a:off x="1362075" y="3534519"/>
            <a:ext cx="135909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MACOS / LINUX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219200" y="3980557"/>
            <a:ext cx="7772400" cy="1374577"/>
          </a:xfrm>
          <a:prstGeom prst="roundRect">
            <a:avLst>
              <a:gd name="adj" fmla="val 6929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4247257"/>
            <a:ext cx="739597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--plugin-dir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/path/to/level2/\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plugin-level2/finops-advanced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9296400" y="3467844"/>
            <a:ext cx="225936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9439275" y="3534519"/>
            <a:ext cx="204981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WINDOWS · POWERSHELL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96400" y="3980557"/>
            <a:ext cx="7772400" cy="1374577"/>
          </a:xfrm>
          <a:prstGeom prst="roundRect">
            <a:avLst>
              <a:gd name="adj" fmla="val 6929"/>
            </a:avLst>
          </a:prstGeom>
          <a:solidFill>
            <a:srgbClr val="0E11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0" y="4247257"/>
            <a:ext cx="739597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`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--plugin-dir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C:\path\to\level2\`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plugin-level2\finops-advanced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219200" y="5812334"/>
            <a:ext cx="16325088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absolute path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219200" y="6236643"/>
            <a:ext cx="15849600" cy="655290"/>
          </a:xfrm>
          <a:prstGeom prst="roundRect">
            <a:avLst>
              <a:gd name="adj" fmla="val 14536"/>
            </a:avLst>
          </a:prstGeom>
          <a:solidFill>
            <a:srgbClr val="0E1116"/>
          </a:solidFill>
          <a:ln/>
        </p:spPr>
      </p:sp>
      <p:sp>
        <p:nvSpPr>
          <p:cNvPr id="19" name="Text 16"/>
          <p:cNvSpPr/>
          <p:nvPr/>
        </p:nvSpPr>
        <p:spPr>
          <a:xfrm>
            <a:off x="1466850" y="6446193"/>
            <a:ext cx="1582978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--plugin-dir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/media/daghan/DATA/Daghan/git/EDA-repository/agent-experiments/claudeplugin/level2/plugin-level2/finops-advanced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219200" y="7272933"/>
            <a:ext cx="15849600" cy="1686967"/>
          </a:xfrm>
          <a:prstGeom prst="roundRect">
            <a:avLst>
              <a:gd name="adj" fmla="val 9034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9725" y="7654826"/>
            <a:ext cx="245864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EVERY TIME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609725" y="7996089"/>
            <a:ext cx="155206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 commands and agents are loaded per session — the global registry only holds MCP servers.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876723" y="8386614"/>
            <a:ext cx="7243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Alias it: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658219" y="8367564"/>
            <a:ext cx="6221760" cy="278011"/>
          </a:xfrm>
          <a:prstGeom prst="roundRect">
            <a:avLst>
              <a:gd name="adj" fmla="val 1027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2734419" y="8386614"/>
            <a:ext cx="625601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alias finops="claude --plugin-dir /path/to/finops-advanced"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3059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CHECK IT WORKS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 the servers loaded.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467844"/>
            <a:ext cx="7887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the Claude Code session, run: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9200" y="4001244"/>
            <a:ext cx="7658100" cy="813792"/>
          </a:xfrm>
          <a:prstGeom prst="roundRect">
            <a:avLst>
              <a:gd name="adj" fmla="val 11704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4267944"/>
            <a:ext cx="727824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/mcp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19200" y="5119836"/>
            <a:ext cx="78878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should see both servers in the list. If either is missing, return to step 1 and check the registration scope.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410700" y="3467844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output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410700" y="4138315"/>
            <a:ext cx="7658100" cy="1352550"/>
          </a:xfrm>
          <a:prstGeom prst="roundRect">
            <a:avLst>
              <a:gd name="adj" fmla="val 9859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725025" y="4538365"/>
            <a:ext cx="95250" cy="95250"/>
          </a:xfrm>
          <a:prstGeom prst="ellipse">
            <a:avLst/>
          </a:prstGeom>
          <a:solidFill>
            <a:srgbClr val="1F5240"/>
          </a:solidFill>
          <a:ln/>
        </p:spPr>
      </p:sp>
      <p:sp>
        <p:nvSpPr>
          <p:cNvPr id="16" name="Text 13"/>
          <p:cNvSpPr/>
          <p:nvPr/>
        </p:nvSpPr>
        <p:spPr>
          <a:xfrm>
            <a:off x="9953625" y="441454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tavily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72775" y="4448770"/>
            <a:ext cx="10821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connected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725025" y="4995565"/>
            <a:ext cx="95250" cy="95250"/>
          </a:xfrm>
          <a:prstGeom prst="ellipse">
            <a:avLst/>
          </a:prstGeom>
          <a:solidFill>
            <a:srgbClr val="1F5240"/>
          </a:solidFill>
          <a:ln/>
        </p:spPr>
      </p:sp>
      <p:sp>
        <p:nvSpPr>
          <p:cNvPr id="19" name="Text 16"/>
          <p:cNvSpPr/>
          <p:nvPr/>
        </p:nvSpPr>
        <p:spPr>
          <a:xfrm>
            <a:off x="9953625" y="487174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772775" y="4905970"/>
            <a:ext cx="10821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connected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0700" y="5795665"/>
            <a:ext cx="2082254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TROUBLESHOOTING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791700" y="6196459"/>
            <a:ext cx="1781324" cy="291405"/>
          </a:xfrm>
          <a:prstGeom prst="roundRect">
            <a:avLst>
              <a:gd name="adj" fmla="val 9806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867900" y="6215509"/>
            <a:ext cx="1705124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11744474" y="6225034"/>
            <a:ext cx="23254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see what's registered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9791700" y="6620768"/>
            <a:ext cx="2758529" cy="291405"/>
          </a:xfrm>
          <a:prstGeom prst="roundRect">
            <a:avLst>
              <a:gd name="adj" fmla="val 9806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867900" y="6639818"/>
            <a:ext cx="268888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remove [name]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12721679" y="6649343"/>
            <a:ext cx="1855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remove &amp; re-add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035297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7993112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183612" y="3838575"/>
            <a:ext cx="2892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TWO · 10 MINUTES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93112" y="4391769"/>
            <a:ext cx="80448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 anatomy.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993112" y="5610969"/>
            <a:ext cx="804481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tour of the folder. What's new in v2, what's been enhanced, and what we left alone.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FOLDER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 structure.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391644"/>
            <a:ext cx="9309795" cy="7081838"/>
          </a:xfrm>
          <a:prstGeom prst="roundRect">
            <a:avLst>
              <a:gd name="adj" fmla="val 188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14475" y="3610719"/>
            <a:ext cx="8980822" cy="668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plugin-level2/finops-advanced/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.claude-plugin/plugin.json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 metadata (v2.0)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.mcp.json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 config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skills/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compliance-language/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tavily for ASIC lookups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client-meeting-prep/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native file + memory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email-tone/ 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unchanged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market-awareness/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· live context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commands/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draft-report.md     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reads portfolio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prep-meeting.md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memory recall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weekly-summary.md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memory x-ref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portfolio-review.md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market-briefing.md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retirement-projection.md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generate-report.md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· .docx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setup-test-client.md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· demo data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agents/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compliance-reviewer.md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live ASIC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meeting-summariser.md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memory write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portfolio-analyst.md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market-researcher.md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report-generator.md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scripts/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├──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fill_report.py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· .docx filler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sample_data.json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· test payload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11062395" y="3496419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36A2C"/>
          </a:solidFill>
          <a:ln/>
        </p:spPr>
      </p:sp>
      <p:sp>
        <p:nvSpPr>
          <p:cNvPr id="12" name="Text 9"/>
          <p:cNvSpPr/>
          <p:nvPr/>
        </p:nvSpPr>
        <p:spPr>
          <a:xfrm>
            <a:off x="11329095" y="3391644"/>
            <a:ext cx="22522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added in v2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062395" y="4048869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F5240"/>
          </a:solidFill>
          <a:ln/>
        </p:spPr>
      </p:sp>
      <p:sp>
        <p:nvSpPr>
          <p:cNvPr id="14" name="Text 11"/>
          <p:cNvSpPr/>
          <p:nvPr/>
        </p:nvSpPr>
        <p:spPr>
          <a:xfrm>
            <a:off x="11329095" y="3944094"/>
            <a:ext cx="30140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wired to MCP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062395" y="4601319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7A736A"/>
          </a:solidFill>
          <a:ln/>
        </p:spPr>
      </p:sp>
      <p:sp>
        <p:nvSpPr>
          <p:cNvPr id="16" name="Text 13"/>
          <p:cNvSpPr/>
          <p:nvPr/>
        </p:nvSpPr>
        <p:spPr>
          <a:xfrm>
            <a:off x="11329095" y="4496544"/>
            <a:ext cx="29099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Unchanged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same as v1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062395" y="5277594"/>
            <a:ext cx="6006405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062395" y="5725269"/>
            <a:ext cx="2082254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SHAPE OF V2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062395" y="6126063"/>
            <a:ext cx="6186598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new commands, 3 new agents, 1 new skill — all wired to the same two MCP servers and Claude Code's native file tools.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076073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8032700" y="324147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223200" y="3164979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THREE · 15 MINUTES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32700" y="3718173"/>
            <a:ext cx="804481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integrations.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8032700" y="5851773"/>
            <a:ext cx="8044815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on disk · live web · persistent memory. What each one does, who uses it, and what to run to see it work.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46832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 01 · NATIVE FILE TOOLS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documents from disk.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177290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reads files directly — no MCP needed. The Read tool is built in. We just point commands at absolute paths.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19200" y="4562029"/>
            <a:ext cx="8005572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by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600200" y="5213449"/>
            <a:ext cx="180885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/portfolio-review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504307" y="5242024"/>
            <a:ext cx="24153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reads statement files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00200" y="5694908"/>
            <a:ext cx="15621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/prep-meeting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257550" y="5723483"/>
            <a:ext cx="26285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fact-finds + SOA drafts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00200" y="6176367"/>
            <a:ext cx="1372046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/draft-report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067496" y="6204942"/>
            <a:ext cx="37242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portfolio data when path provided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219200" y="6829276"/>
            <a:ext cx="7772400" cy="1658987"/>
          </a:xfrm>
          <a:prstGeom prst="roundRect">
            <a:avLst>
              <a:gd name="adj" fmla="val 9186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09725" y="7211169"/>
            <a:ext cx="147458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 IT NOW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609725" y="7552432"/>
            <a:ext cx="7201091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Spin up the demo client folder so the next exercise has something to read.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296400" y="4562029"/>
            <a:ext cx="8005572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a test client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9296400" y="5213449"/>
            <a:ext cx="7772400" cy="1094184"/>
          </a:xfrm>
          <a:prstGeom prst="roundRect">
            <a:avLst>
              <a:gd name="adj" fmla="val 8705"/>
            </a:avLst>
          </a:prstGeom>
          <a:solidFill>
            <a:srgbClr val="0E1116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0" y="5480149"/>
            <a:ext cx="739597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/finops-advanced:setup-test-client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/clear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9296400" y="6460034"/>
            <a:ext cx="800557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7A736A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wipes context so the portfolio gets read fresh next call.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9296400" y="7074843"/>
            <a:ext cx="114612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RUN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296400" y="7456587"/>
            <a:ext cx="7772400" cy="1374577"/>
          </a:xfrm>
          <a:prstGeom prst="roundRect">
            <a:avLst>
              <a:gd name="adj" fmla="val 6929"/>
            </a:avLst>
          </a:prstGeom>
          <a:solidFill>
            <a:srgbClr val="0E1116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0" y="7723287"/>
            <a:ext cx="739597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/finops-advanced:portfolio-review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~/Documents/clients/smith-jane/portfolio.txt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balanced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 02 · TAVILY MCP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market data.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177290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Gives Claude the ability to search the web for current market information — with source URLs and dates next to every figure.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19200" y="4562029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by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600200" y="5213449"/>
            <a:ext cx="177685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/market-briefing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472309" y="5242024"/>
            <a:ext cx="26164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ASX, RBA, CPI, sectors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00200" y="5694908"/>
            <a:ext cx="2254448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compliance-reviewer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949898" y="5723483"/>
            <a:ext cx="2165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verifies ASIC rules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00200" y="6176367"/>
            <a:ext cx="200575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market-researcher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701207" y="6204942"/>
            <a:ext cx="21230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pulls briefing data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00200" y="6657826"/>
            <a:ext cx="200665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market-awareness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702100" y="6686401"/>
            <a:ext cx="24418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— surfaces context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219200" y="7310735"/>
            <a:ext cx="7658100" cy="2056656"/>
          </a:xfrm>
          <a:prstGeom prst="roundRect">
            <a:avLst>
              <a:gd name="adj" fmla="val 7410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09725" y="7692628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76375" y="8033891"/>
            <a:ext cx="7086600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figure carries a source URL and a date.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Talking points are grounded in retrieved data, not inferred.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gaps are noted — never estimated.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410700" y="4562029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it</a:t>
            </a:r>
            <a:endParaRPr lang="en-US" sz="3000" dirty="0"/>
          </a:p>
        </p:txBody>
      </p:sp>
      <p:sp>
        <p:nvSpPr>
          <p:cNvPr id="23" name="Shape 20"/>
          <p:cNvSpPr/>
          <p:nvPr/>
        </p:nvSpPr>
        <p:spPr>
          <a:xfrm>
            <a:off x="9410700" y="5213449"/>
            <a:ext cx="7658100" cy="1094184"/>
          </a:xfrm>
          <a:prstGeom prst="roundRect">
            <a:avLst>
              <a:gd name="adj" fmla="val 8705"/>
            </a:avLst>
          </a:prstGeom>
          <a:solidFill>
            <a:srgbClr val="0E1116"/>
          </a:solidFill>
          <a:ln/>
        </p:spPr>
      </p:sp>
      <p:sp>
        <p:nvSpPr>
          <p:cNvPr id="24" name="Text 21"/>
          <p:cNvSpPr/>
          <p:nvPr/>
        </p:nvSpPr>
        <p:spPr>
          <a:xfrm>
            <a:off x="9715500" y="5480149"/>
            <a:ext cx="7278243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/finops-advanced:market-briefing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healthcare and technology sectors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9410700" y="6764834"/>
            <a:ext cx="2097137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17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9410700" y="772031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SERVERS IN V2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660237" y="6764834"/>
            <a:ext cx="2693664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17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200" dirty="0"/>
          </a:p>
        </p:txBody>
      </p:sp>
      <p:sp>
        <p:nvSpPr>
          <p:cNvPr id="28" name="Text 25"/>
          <p:cNvSpPr/>
          <p:nvPr/>
        </p:nvSpPr>
        <p:spPr>
          <a:xfrm>
            <a:off x="11660237" y="7720310"/>
            <a:ext cx="2693664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PLACES TAVILY PLUGS IN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7190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 03 · MEMORY MCP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continuity.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239244"/>
            <a:ext cx="1177290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persistent knowledge graph that survives across sessions. Action items, risk profiles, and meeting context outlive a single chat.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19200" y="4562029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by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600200" y="5213449"/>
            <a:ext cx="223405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meeting-summariser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929509" y="5242024"/>
            <a:ext cx="36710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writes actions after each meeting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00200" y="5694908"/>
            <a:ext cx="275789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/prep-meeting Jane Smith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449217" y="5723483"/>
            <a:ext cx="22929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recalls prior actions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00200" y="6176367"/>
            <a:ext cx="194563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/weekly-summary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641080" y="6204942"/>
            <a:ext cx="29725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surfaces recurring themes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410700" y="4562029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shape of a memory write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9410700" y="5213449"/>
            <a:ext cx="7658100" cy="1600051"/>
          </a:xfrm>
          <a:prstGeom prst="roundRect">
            <a:avLst>
              <a:gd name="adj" fmla="val 5953"/>
            </a:avLst>
          </a:prstGeom>
          <a:solidFill>
            <a:srgbClr val="0E11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58350" y="5422999"/>
            <a:ext cx="7392543" cy="121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/finops-advanced:summarise-meeting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Jane Smith — meeting 3 Mar.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Discussed CBA concentration risk.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Action: adviser to prepare rebalancing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options by 10 Mar.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10700" y="7118300"/>
            <a:ext cx="4958721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…THEN, IN A BRAND-NEW CLAUDE SESSION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410700" y="7500045"/>
            <a:ext cx="7658100" cy="891480"/>
          </a:xfrm>
          <a:prstGeom prst="roundRect">
            <a:avLst>
              <a:gd name="adj" fmla="val 10684"/>
            </a:avLst>
          </a:prstGeom>
          <a:solidFill>
            <a:srgbClr val="0E1116"/>
          </a:solidFill>
          <a:ln/>
        </p:spPr>
      </p:sp>
      <p:sp>
        <p:nvSpPr>
          <p:cNvPr id="22" name="Text 19"/>
          <p:cNvSpPr/>
          <p:nvPr/>
        </p:nvSpPr>
        <p:spPr>
          <a:xfrm>
            <a:off x="9658350" y="7709595"/>
            <a:ext cx="739254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/finops-advanced:prep-meeting Jane Smith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/finops-advanced:weekly-summary Jane Smith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219200" y="8696325"/>
            <a:ext cx="12801600" cy="1348234"/>
          </a:xfrm>
          <a:prstGeom prst="roundRect">
            <a:avLst>
              <a:gd name="adj" fmla="val 11304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09725" y="9078218"/>
            <a:ext cx="245864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YOU'LL OBSERVE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9725" y="9419481"/>
            <a:ext cx="12381167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CBA concentration risk and 10 Mar action item are recalled — even though you closed the prior session.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198554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8151614" y="324147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342114" y="3164979"/>
            <a:ext cx="45455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FOUR · 60 MINUTES · HANDS-ON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51614" y="3718173"/>
            <a:ext cx="882967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exercises.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8151614" y="5851773"/>
            <a:ext cx="8829675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review · live market briefing · retirement projection · memory continuity across sessions · real-time compliance verification.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1485900"/>
            <a:ext cx="99119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2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2400895" y="2085975"/>
            <a:ext cx="531374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12 MIN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00895" y="2370088"/>
            <a:ext cx="5313747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Portfolio review.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3388072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219200" y="4020443"/>
            <a:ext cx="7658100" cy="1654969"/>
          </a:xfrm>
          <a:prstGeom prst="roundRect">
            <a:avLst>
              <a:gd name="adj" fmla="val 5755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4287143"/>
            <a:ext cx="7278243" cy="1159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/finops-advanced:portfolio-review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~/Documents/clients/smith-jane/\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portfolio.txt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balanced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19200" y="6018312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happening under the hood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219200" y="6650682"/>
            <a:ext cx="788784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reads the file with its native Read tool — no MCP call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00200" y="7094041"/>
            <a:ext cx="179665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portfolio-analyst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492103" y="7122616"/>
            <a:ext cx="36463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computes allocation vs target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219200" y="7537400"/>
            <a:ext cx="788784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 is queried for current RBA rate &amp; ASX 200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9410700" y="3388072"/>
            <a:ext cx="7658100" cy="2428131"/>
          </a:xfrm>
          <a:prstGeom prst="roundRect">
            <a:avLst>
              <a:gd name="adj" fmla="val 6276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01225" y="3769965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67875" y="4111228"/>
            <a:ext cx="70866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Allocation-vs-target table is generated cleanly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 flags appear for any holding over 10%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RBA rate and ASX 200 sit in the market-context block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cite both the file and live data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410700" y="6121003"/>
            <a:ext cx="7658100" cy="1660624"/>
          </a:xfrm>
          <a:prstGeom prst="roundRect">
            <a:avLst>
              <a:gd name="adj" fmla="val 9177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01225" y="6502896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STRETCH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01225" y="6844159"/>
            <a:ext cx="7083362" cy="661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Re-run with </a:t>
            </a:r>
            <a:pPr algn="l" indent="0" marL="0">
              <a:lnSpc>
                <a:spcPct val="136000"/>
              </a:lnSpc>
              <a:buNone/>
            </a:pPr>
            <a:r>
              <a:rPr lang="en-US" sz="1650" spc="-14" kern="0" dirty="0">
                <a:solidFill>
                  <a:srgbClr val="0E1116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growth 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 the risk profile and watch the rebalancing logic change.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1485900"/>
            <a:ext cx="113392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2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2543621" y="2085975"/>
            <a:ext cx="671285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10 MIN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43621" y="2370088"/>
            <a:ext cx="6712852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market briefing.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3388072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— broad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219200" y="4020443"/>
            <a:ext cx="7658100" cy="813792"/>
          </a:xfrm>
          <a:prstGeom prst="roundRect">
            <a:avLst>
              <a:gd name="adj" fmla="val 11704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4287143"/>
            <a:ext cx="727824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/finops-advanced:market-briefing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19200" y="5139035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…then with a sector focus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219200" y="5771406"/>
            <a:ext cx="7658100" cy="1094184"/>
          </a:xfrm>
          <a:prstGeom prst="roundRect">
            <a:avLst>
              <a:gd name="adj" fmla="val 8705"/>
            </a:avLst>
          </a:prstGeom>
          <a:solidFill>
            <a:srgbClr val="0E1116"/>
          </a:solidFill>
          <a:ln/>
        </p:spPr>
      </p:sp>
      <p:sp>
        <p:nvSpPr>
          <p:cNvPr id="14" name="Text 11"/>
          <p:cNvSpPr/>
          <p:nvPr/>
        </p:nvSpPr>
        <p:spPr>
          <a:xfrm>
            <a:off x="1524000" y="6038106"/>
            <a:ext cx="7278243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/finops-advanced:market-briefing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REITs and infrastructure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219200" y="7170390"/>
            <a:ext cx="1948458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 THE HOOD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19200" y="7552134"/>
            <a:ext cx="788784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market-researcher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fans out tavily queries — ASX 200, RBA, CPI, sector indices — then composes a briefing pack with inline citations.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9410700" y="3388072"/>
            <a:ext cx="7658100" cy="2428131"/>
          </a:xfrm>
          <a:prstGeom prst="roundRect">
            <a:avLst>
              <a:gd name="adj" fmla="val 6276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01225" y="3769965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67875" y="4111228"/>
            <a:ext cx="70866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 point includes a source URL and date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Adviser talking points are grounded in the retrieved data, not inferred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gaps are explicitly noted, never estimated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narrative reads like a real morning briefing, not a search dump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410700" y="6121003"/>
            <a:ext cx="7658100" cy="1969740"/>
          </a:xfrm>
          <a:prstGeom prst="roundRect">
            <a:avLst>
              <a:gd name="adj" fmla="val 7737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01225" y="6502896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STRETCH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01225" y="6844159"/>
            <a:ext cx="7083362" cy="970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a follow-up: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"Which sector has the most negative momentum this week?" 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note the agent re-runs tavily rather than guessing.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1485900"/>
            <a:ext cx="114091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2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2550616" y="2085975"/>
            <a:ext cx="743777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12 MIN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50616" y="2370088"/>
            <a:ext cx="74377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Retirement projection.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3388072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219200" y="4020443"/>
            <a:ext cx="7658100" cy="1094184"/>
          </a:xfrm>
          <a:prstGeom prst="roundRect">
            <a:avLst>
              <a:gd name="adj" fmla="val 8705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4287143"/>
            <a:ext cx="7278243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/finops-advanced:retirement-projection 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48 65 320000 18000 growth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19200" y="5381327"/>
            <a:ext cx="127977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ARGUMENTS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19200" y="5801171"/>
            <a:ext cx="52208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893689" y="5801171"/>
            <a:ext cx="719311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age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219200" y="6197650"/>
            <a:ext cx="52208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893689" y="6197650"/>
            <a:ext cx="719311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retirement age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219200" y="6594128"/>
            <a:ext cx="52208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320000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893689" y="6594128"/>
            <a:ext cx="719311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balance (AUD)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1219200" y="6990606"/>
            <a:ext cx="52208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18000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893689" y="6990606"/>
            <a:ext cx="719311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contribution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1219200" y="7387084"/>
            <a:ext cx="52208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growth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893689" y="7387084"/>
            <a:ext cx="7193119" cy="320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42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profile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9410700" y="3388072"/>
            <a:ext cx="7658100" cy="2428131"/>
          </a:xfrm>
          <a:prstGeom prst="roundRect">
            <a:avLst>
              <a:gd name="adj" fmla="val 6276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01225" y="3769965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667875" y="4111228"/>
            <a:ext cx="70866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scenarios — low, mid, high — with distinct return assumptions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projections in today's dollars (real terms)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disclaimers appear inline, not as an afterthought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Contribution-sensitivity table shows the impact of saving more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410700" y="6121003"/>
            <a:ext cx="7658100" cy="1969740"/>
          </a:xfrm>
          <a:prstGeom prst="roundRect">
            <a:avLst>
              <a:gd name="adj" fmla="val 7737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01225" y="6502896"/>
            <a:ext cx="213062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801225" y="6844159"/>
            <a:ext cx="7083362" cy="970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Notice how compliance language is woven into the projection — the agent doesn't bolt it on at the end. This is the </a:t>
            </a:r>
            <a:pPr algn="l" indent="0" marL="0">
              <a:lnSpc>
                <a:spcPct val="136000"/>
              </a:lnSpc>
              <a:buNone/>
            </a:pPr>
            <a:r>
              <a:rPr lang="en-US" sz="1800" i="1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compliance-language 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firing in the background.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1371600"/>
            <a:ext cx="11620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2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2571750" y="1971675"/>
            <a:ext cx="653043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14 MIN · ACROSS SESSIONS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71750" y="2255788"/>
            <a:ext cx="6530434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 continuity.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3235672"/>
            <a:ext cx="11239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2533650" y="3492847"/>
            <a:ext cx="1497120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Capture a meeting note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533650" y="3881438"/>
            <a:ext cx="1497120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/summarise-meeting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notes that include a client name (e.g. </a:t>
            </a:r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 Smith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explicit action items.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219200" y="4305746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19200" y="4429571"/>
            <a:ext cx="11239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2533650" y="4686746"/>
            <a:ext cx="1497120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Close Claude Code completely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533650" y="5075337"/>
            <a:ext cx="1497120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Quit the process. Open a fresh terminal. The memory MCP holds the graph on disk — it survives.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219200" y="5499646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219200" y="5623471"/>
            <a:ext cx="11239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2533650" y="5880646"/>
            <a:ext cx="1497120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Relaunch with the plugin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533650" y="6269236"/>
            <a:ext cx="1497120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--plugin-dir …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as before.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219200" y="6693545"/>
            <a:ext cx="158496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219200" y="6817370"/>
            <a:ext cx="11239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2533650" y="7074545"/>
            <a:ext cx="1497120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Prep for Jane Smith's next meeting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2533650" y="7463135"/>
            <a:ext cx="6477000" cy="488156"/>
          </a:xfrm>
          <a:prstGeom prst="roundRect">
            <a:avLst>
              <a:gd name="adj" fmla="val 19512"/>
            </a:avLst>
          </a:prstGeom>
          <a:solidFill>
            <a:srgbClr val="0E1116"/>
          </a:solidFill>
          <a:ln/>
        </p:spPr>
      </p:sp>
      <p:sp>
        <p:nvSpPr>
          <p:cNvPr id="24" name="Text 21"/>
          <p:cNvSpPr/>
          <p:nvPr/>
        </p:nvSpPr>
        <p:spPr>
          <a:xfrm>
            <a:off x="2724150" y="7596485"/>
            <a:ext cx="629031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/finops-advanced:prep-meeting Jane Smith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1219200" y="8198941"/>
            <a:ext cx="13182600" cy="1418481"/>
          </a:xfrm>
          <a:prstGeom prst="roundRect">
            <a:avLst>
              <a:gd name="adj" fmla="val 10744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5425" y="8447484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362075" y="8788747"/>
            <a:ext cx="128397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action items and client context are recalled — even from the previous session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carried-over items show up explicitly under "open follow-ups"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1485900"/>
            <a:ext cx="113481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2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2544514" y="2085975"/>
            <a:ext cx="7971541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12 MIN · REQUIRES TAVILY KEY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44514" y="2370088"/>
            <a:ext cx="7971541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verification.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219200" y="3388072"/>
            <a:ext cx="788784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000" b="1" spc="-3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219200" y="4020443"/>
            <a:ext cx="7658100" cy="1374577"/>
          </a:xfrm>
          <a:prstGeom prst="roundRect">
            <a:avLst>
              <a:gd name="adj" fmla="val 6929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4287143"/>
            <a:ext cx="7278243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/review-draft 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[paste a draft client                 email with some                 borderline language]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19200" y="5699820"/>
            <a:ext cx="2349698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 LANGUAGE LIKE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00200" y="6100614"/>
            <a:ext cx="216351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i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"guaranteed returns"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00200" y="6505873"/>
            <a:ext cx="303489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i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is the safest investment"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00200" y="6911132"/>
            <a:ext cx="232380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i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"low risk, high reward"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410700" y="3388072"/>
            <a:ext cx="7658100" cy="2332881"/>
          </a:xfrm>
          <a:prstGeom prst="roundRect">
            <a:avLst>
              <a:gd name="adj" fmla="val 6533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01225" y="3769965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67875" y="4111228"/>
            <a:ext cx="70866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compliance-reviewer first searches ASIC.gov.au to verify current requirements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report cites the search date and notes any regulatory updates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Issues are flagged with suggested replacement language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410700" y="6025753"/>
            <a:ext cx="7658100" cy="1658987"/>
          </a:xfrm>
          <a:prstGeom prst="roundRect">
            <a:avLst>
              <a:gd name="adj" fmla="val 9186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01225" y="6407646"/>
            <a:ext cx="213062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801225" y="6748909"/>
            <a:ext cx="7083362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doesn't rely on its training-data view of ASIC rules. It checks the live source — every time.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19200" y="3112740"/>
            <a:ext cx="6040356" cy="409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spc="-117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9000" dirty="0"/>
          </a:p>
        </p:txBody>
      </p:sp>
      <p:sp>
        <p:nvSpPr>
          <p:cNvPr id="7" name="Shape 4"/>
          <p:cNvSpPr/>
          <p:nvPr/>
        </p:nvSpPr>
        <p:spPr>
          <a:xfrm>
            <a:off x="7998023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8188523" y="3838575"/>
            <a:ext cx="30304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FIVE · 15 MINUTES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98023" y="4391769"/>
            <a:ext cx="88296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report.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998023" y="5610969"/>
            <a:ext cx="882967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three data sources — memory, disk, and live market — to a filled Word document a client can open in Office.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27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3059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GENERATE-REPORT PIPELINE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544044"/>
            <a:ext cx="3610421" cy="4097685"/>
          </a:xfrm>
          <a:prstGeom prst="roundRect">
            <a:avLst>
              <a:gd name="adj" fmla="val 369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896469"/>
            <a:ext cx="29142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609725" y="4372719"/>
            <a:ext cx="2914253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09725" y="4837509"/>
            <a:ext cx="29142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supply a </a:t>
            </a:r>
            <a:pPr algn="l" indent="0" marL="0">
              <a:lnSpc>
                <a:spcPct val="150000"/>
              </a:lnSpc>
              <a:buNone/>
            </a:pPr>
            <a:r>
              <a:rPr lang="en-US" sz="1275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.docx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with </a:t>
            </a:r>
            <a:pPr algn="l" indent="0" marL="0">
              <a:lnSpc>
                <a:spcPct val="150000"/>
              </a:lnSpc>
              <a:buNone/>
            </a:pPr>
            <a:r>
              <a:rPr lang="en-US" sz="1275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{{FIELD}}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placeholders.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5058221" y="3544044"/>
            <a:ext cx="3610421" cy="4097685"/>
          </a:xfrm>
          <a:prstGeom prst="roundRect">
            <a:avLst>
              <a:gd name="adj" fmla="val 3693"/>
            </a:avLst>
          </a:prstGeom>
          <a:solidFill>
            <a:srgbClr val="1F5240">
              <a:alpha val="6000"/>
            </a:srgbClr>
          </a:solidFill>
          <a:ln w="9525">
            <a:solidFill>
              <a:srgbClr val="1F5240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8746" y="3896469"/>
            <a:ext cx="29142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1F52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5448746" y="4372719"/>
            <a:ext cx="2914253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Gather data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448746" y="4837509"/>
            <a:ext cx="291425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risk profile ·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portfolio ·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RBA / ASX / CPI.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8897243" y="3544044"/>
            <a:ext cx="3610421" cy="4097685"/>
          </a:xfrm>
          <a:prstGeom prst="roundRect">
            <a:avLst>
              <a:gd name="adj" fmla="val 3693"/>
            </a:avLst>
          </a:prstGeom>
          <a:solidFill>
            <a:srgbClr val="1F5240">
              <a:alpha val="6000"/>
            </a:srgbClr>
          </a:solidFill>
          <a:ln w="9525">
            <a:solidFill>
              <a:srgbClr val="1F524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87768" y="3896469"/>
            <a:ext cx="29142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1F52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9287768" y="4372719"/>
            <a:ext cx="2914253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payload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287768" y="4837509"/>
            <a:ext cx="291425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report-generator agent assembles a JSON object keyed by placeholder name.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2736264" y="3544044"/>
            <a:ext cx="4332536" cy="4097685"/>
          </a:xfrm>
          <a:prstGeom prst="roundRect">
            <a:avLst>
              <a:gd name="adj" fmla="val 3254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26789" y="3896469"/>
            <a:ext cx="3658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3126789" y="4372719"/>
            <a:ext cx="365803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Fill &amp; save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3126789" y="4837509"/>
            <a:ext cx="3658030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7" kern="0" dirty="0">
                <a:solidFill>
                  <a:srgbClr val="1F2329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fill_report.py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every placeholder, names the output by client + period, writes the </a:t>
            </a:r>
            <a:pPr algn="l" indent="0" marL="0">
              <a:lnSpc>
                <a:spcPct val="150000"/>
              </a:lnSpc>
              <a:buNone/>
            </a:pPr>
            <a:r>
              <a:rPr lang="en-US" sz="1275" spc="-7" kern="0" dirty="0">
                <a:solidFill>
                  <a:srgbClr val="1F2329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.docx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1219200" y="8022729"/>
            <a:ext cx="15849600" cy="1349871"/>
          </a:xfrm>
          <a:prstGeom prst="roundRect">
            <a:avLst>
              <a:gd name="adj" fmla="val 1129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9725" y="8404622"/>
            <a:ext cx="224001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YOU RUN IT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609725" y="8745885"/>
            <a:ext cx="15520607" cy="35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Copy </a:t>
            </a:r>
            <a:pPr algn="l" indent="0" marL="0">
              <a:lnSpc>
                <a:spcPct val="136000"/>
              </a:lnSpc>
              <a:buNone/>
            </a:pPr>
            <a:r>
              <a:rPr lang="en-US" sz="1650" spc="-14" kern="0" dirty="0">
                <a:solidFill>
                  <a:srgbClr val="0E1116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NGC-2025-0041_Q4-2025_quarterly-review.docx 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into </a:t>
            </a:r>
            <a:pPr algn="l" indent="0" marL="0">
              <a:lnSpc>
                <a:spcPct val="136000"/>
              </a:lnSpc>
              <a:buNone/>
            </a:pPr>
            <a:r>
              <a:rPr lang="en-US" sz="1650" spc="-14" kern="0" dirty="0">
                <a:solidFill>
                  <a:srgbClr val="0E1116"/>
                </a:solidFill>
                <a:highlight>
                  <a:srgbClr val="0000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~/Documents/clients/templates/</a:t>
            </a:r>
            <a:pPr algn="l" indent="0" marL="0">
              <a:lnSpc>
                <a:spcPct val="13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27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 FORMAT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Placeholders.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19200" y="3163044"/>
            <a:ext cx="1177290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2000"/>
              </a:lnSpc>
              <a:buNone/>
            </a:pPr>
            <a:r>
              <a:rPr lang="en-US" sz="1950" spc="-12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{{UPPERCASE_WITH_UNDERSCORES}}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your Word document. The script replaces every match.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219200" y="4788396"/>
            <a:ext cx="4180136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90650" y="4466779"/>
            <a:ext cx="3962640" cy="22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b="1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PLACEHOLDER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5399336" y="4788396"/>
            <a:ext cx="3477964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570786" y="4466779"/>
            <a:ext cx="3239403" cy="22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b="1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 VALUE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219200" y="5332065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390650" y="4931271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{{CLIENT_NAME}}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399336" y="5332065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570786" y="4931271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James and Helen Nguyen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219200" y="5875734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390650" y="5474940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{{CLIENT_RISK_PROFILE}}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399336" y="5875734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570786" y="5474940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219200" y="6419404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90650" y="6018609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{{PORTFOLIO_TOTAL_VALUE}}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399336" y="6419404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570786" y="6018609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$842,300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219200" y="6963073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390650" y="6562279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{{RBA_CASH_RATE}}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399336" y="6963073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570786" y="6562279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4.10%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219200" y="7506742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390650" y="7105948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{{ASX200_LEVEL}}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399336" y="7506742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5570786" y="7105948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8,142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1219200" y="8050411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390650" y="7649617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{{REPORT_DATE}}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5399336" y="8050411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570786" y="7649617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March 2026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1219200" y="8594080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390650" y="8193286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{{ADVISER_NAME}}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399336" y="8594080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5570786" y="8193286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Chen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219200" y="9137749"/>
            <a:ext cx="4180136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390650" y="8736955"/>
            <a:ext cx="396264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{{DISCLAIMER}}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5399336" y="9137749"/>
            <a:ext cx="3477964" cy="9525"/>
          </a:xfrm>
          <a:prstGeom prst="rect">
            <a:avLst/>
          </a:prstGeom>
          <a:solidFill>
            <a:srgbClr val="1F2329">
              <a:alpha val="6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5570786" y="8736955"/>
            <a:ext cx="3239403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disclaimer text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9410700" y="4333429"/>
            <a:ext cx="7658100" cy="1891903"/>
          </a:xfrm>
          <a:prstGeom prst="roundRect">
            <a:avLst>
              <a:gd name="adj" fmla="val 704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801225" y="4685854"/>
            <a:ext cx="1814810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NAMING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9801225" y="5086648"/>
            <a:ext cx="4339679" cy="352425"/>
          </a:xfrm>
          <a:prstGeom prst="roundRect">
            <a:avLst>
              <a:gd name="adj" fmla="val 10811"/>
            </a:avLst>
          </a:prstGeom>
          <a:solidFill>
            <a:srgbClr val="1F2329">
              <a:alpha val="6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9896475" y="5124748"/>
            <a:ext cx="4279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[CLIENT_REF]_[PERIOD]_[TYPE].docx</a:t>
            </a:r>
            <a:endParaRPr lang="en-US" sz="1650" dirty="0"/>
          </a:p>
        </p:txBody>
      </p:sp>
      <p:sp>
        <p:nvSpPr>
          <p:cNvPr id="50" name="Text 47"/>
          <p:cNvSpPr/>
          <p:nvPr/>
        </p:nvSpPr>
        <p:spPr>
          <a:xfrm>
            <a:off x="9801225" y="5562898"/>
            <a:ext cx="708336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NGC-2025-0041_Q4-2025_quarterly-review.docx</a:t>
            </a:r>
            <a:endParaRPr lang="en-US" sz="1575" dirty="0"/>
          </a:p>
        </p:txBody>
      </p:sp>
      <p:sp>
        <p:nvSpPr>
          <p:cNvPr id="51" name="Shape 48"/>
          <p:cNvSpPr/>
          <p:nvPr/>
        </p:nvSpPr>
        <p:spPr>
          <a:xfrm>
            <a:off x="9410700" y="6492032"/>
            <a:ext cx="7658100" cy="1313706"/>
          </a:xfrm>
          <a:prstGeom prst="roundRect">
            <a:avLst>
              <a:gd name="adj" fmla="val 11601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01225" y="6873925"/>
            <a:ext cx="136520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LIST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10068223" y="7215188"/>
            <a:ext cx="2684313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scripts/sample_data.json</a:t>
            </a:r>
            <a:endParaRPr lang="en-US" sz="1425" dirty="0"/>
          </a:p>
        </p:txBody>
      </p:sp>
      <p:sp>
        <p:nvSpPr>
          <p:cNvPr id="54" name="Text 51"/>
          <p:cNvSpPr/>
          <p:nvPr/>
        </p:nvSpPr>
        <p:spPr>
          <a:xfrm>
            <a:off x="12807702" y="7234238"/>
            <a:ext cx="3058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the complete field reference.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12797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MODES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Running the report.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544044"/>
            <a:ext cx="7772400" cy="3762375"/>
          </a:xfrm>
          <a:prstGeom prst="roundRect">
            <a:avLst>
              <a:gd name="adj" fmla="val 3544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9725" y="3934569"/>
            <a:ext cx="1272629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1" name="Text 8"/>
          <p:cNvSpPr/>
          <p:nvPr/>
        </p:nvSpPr>
        <p:spPr>
          <a:xfrm>
            <a:off x="1752600" y="4001244"/>
            <a:ext cx="106307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QUICK MODE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09725" y="4485382"/>
            <a:ext cx="7201091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Pre-built JSON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609725" y="4993928"/>
            <a:ext cx="72010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Skips data collection. Useful to verify a new template before wiring up live data.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609725" y="5493990"/>
            <a:ext cx="6991350" cy="1363861"/>
          </a:xfrm>
          <a:prstGeom prst="roundRect">
            <a:avLst>
              <a:gd name="adj" fmla="val 6984"/>
            </a:avLst>
          </a:prstGeom>
          <a:solidFill>
            <a:srgbClr val="0E1116"/>
          </a:solidFill>
          <a:ln/>
        </p:spPr>
      </p:sp>
      <p:sp>
        <p:nvSpPr>
          <p:cNvPr id="15" name="Text 12"/>
          <p:cNvSpPr/>
          <p:nvPr/>
        </p:nvSpPr>
        <p:spPr>
          <a:xfrm>
            <a:off x="1857375" y="5703540"/>
            <a:ext cx="6705791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/finops-advanced:generate-report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~/Documents/clients/templates/\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NGC-2025-0041_Q4-2025_quarterly-review.docx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FC4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--data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scripts/sample_data.json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96400" y="3544044"/>
            <a:ext cx="7772400" cy="3762375"/>
          </a:xfrm>
          <a:prstGeom prst="roundRect">
            <a:avLst>
              <a:gd name="adj" fmla="val 3544"/>
            </a:avLst>
          </a:prstGeom>
          <a:solidFill>
            <a:srgbClr val="1F5240">
              <a:alpha val="6000"/>
            </a:srgbClr>
          </a:solidFill>
          <a:ln w="9525">
            <a:solidFill>
              <a:srgbClr val="1F5240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86925" y="3934569"/>
            <a:ext cx="1173956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8" name="Text 15"/>
          <p:cNvSpPr/>
          <p:nvPr/>
        </p:nvSpPr>
        <p:spPr>
          <a:xfrm>
            <a:off x="9829800" y="4001244"/>
            <a:ext cx="9644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MODE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86925" y="4485382"/>
            <a:ext cx="7201091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gathers everything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686925" y="4993928"/>
            <a:ext cx="72010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memory · disk · tavily into one pass. The slow path, but the production path.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9686925" y="5493990"/>
            <a:ext cx="6991350" cy="1363861"/>
          </a:xfrm>
          <a:prstGeom prst="roundRect">
            <a:avLst>
              <a:gd name="adj" fmla="val 6984"/>
            </a:avLst>
          </a:prstGeom>
          <a:solidFill>
            <a:srgbClr val="0E1116"/>
          </a:solidFill>
          <a:ln/>
        </p:spPr>
      </p:sp>
      <p:sp>
        <p:nvSpPr>
          <p:cNvPr id="22" name="Text 19"/>
          <p:cNvSpPr/>
          <p:nvPr/>
        </p:nvSpPr>
        <p:spPr>
          <a:xfrm>
            <a:off x="9934575" y="5703540"/>
            <a:ext cx="6705791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/finops-advanced:generate-report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~/Documents/clients/templates/\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NGC-2025-0041_Q4-2025_quarterly-review.docx \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Jane Smith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219200" y="7687419"/>
            <a:ext cx="15849600" cy="1685181"/>
          </a:xfrm>
          <a:prstGeom prst="roundRect">
            <a:avLst>
              <a:gd name="adj" fmla="val 9044"/>
            </a:avLst>
          </a:prstGeom>
          <a:solidFill>
            <a:srgbClr val="DDE9E2"/>
          </a:solidFill>
          <a:ln w="9525">
            <a:solidFill>
              <a:srgbClr val="1F5240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09725" y="8069312"/>
            <a:ext cx="213062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TO LOOK FOR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9725" y="8410575"/>
            <a:ext cx="155206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reports the output file path on completion.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876723" y="8801100"/>
            <a:ext cx="113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unfilled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073747" y="8782050"/>
            <a:ext cx="181362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0E11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{{PLACEHOLDERS}}</a:t>
            </a:r>
            <a:endParaRPr lang="en-US" sz="1425" dirty="0"/>
          </a:p>
        </p:txBody>
      </p:sp>
      <p:sp>
        <p:nvSpPr>
          <p:cNvPr id="28" name="Text 25"/>
          <p:cNvSpPr/>
          <p:nvPr/>
        </p:nvSpPr>
        <p:spPr>
          <a:xfrm>
            <a:off x="4944517" y="8801100"/>
            <a:ext cx="6648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listed so you can supply missing data — nothing silently goes blank.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27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THINGS GO SIDEWAYS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Troubleshooting.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544044"/>
            <a:ext cx="7791450" cy="3157538"/>
          </a:xfrm>
          <a:prstGeom prst="roundRect">
            <a:avLst>
              <a:gd name="adj" fmla="val 422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71625" y="3858369"/>
            <a:ext cx="7299198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"MCP server not found"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571625" y="4276427"/>
            <a:ext cx="7086600" cy="891480"/>
          </a:xfrm>
          <a:prstGeom prst="roundRect">
            <a:avLst>
              <a:gd name="adj" fmla="val 10684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819275" y="4485977"/>
            <a:ext cx="680389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mcp list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mcp remove [name]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71625" y="5301258"/>
            <a:ext cx="729919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what's registered. Remove and re-add if the entry is stale.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9277350" y="3544044"/>
            <a:ext cx="7791450" cy="3157538"/>
          </a:xfrm>
          <a:prstGeom prst="roundRect">
            <a:avLst>
              <a:gd name="adj" fmla="val 422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29775" y="3858369"/>
            <a:ext cx="7299198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Tavily returns nothing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9629775" y="4276427"/>
            <a:ext cx="7086600" cy="655290"/>
          </a:xfrm>
          <a:prstGeom prst="roundRect">
            <a:avLst>
              <a:gd name="adj" fmla="val 14536"/>
            </a:avLst>
          </a:prstGeom>
          <a:solidFill>
            <a:srgbClr val="0E1116"/>
          </a:solidFill>
          <a:ln/>
        </p:spPr>
      </p:sp>
      <p:sp>
        <p:nvSpPr>
          <p:cNvPr id="17" name="Text 14"/>
          <p:cNvSpPr/>
          <p:nvPr/>
        </p:nvSpPr>
        <p:spPr>
          <a:xfrm>
            <a:off x="9877425" y="4485977"/>
            <a:ext cx="680389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echo $TAVILY_API_KEY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29775" y="5065068"/>
            <a:ext cx="729919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key is exported in this shell. Check quota at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app.tavily.com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1219200" y="6968282"/>
            <a:ext cx="7791450" cy="2404318"/>
          </a:xfrm>
          <a:prstGeom prst="roundRect">
            <a:avLst>
              <a:gd name="adj" fmla="val 554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1625" y="7282607"/>
            <a:ext cx="7299198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Can't find a client file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571625" y="7700665"/>
            <a:ext cx="729919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spc="-7" kern="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absolute paths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~/Documents/...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Claude Code's Read tool needs read permissions for your user — no MCP involved.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9277350" y="6968282"/>
            <a:ext cx="7791450" cy="2404318"/>
          </a:xfrm>
          <a:prstGeom prst="roundRect">
            <a:avLst>
              <a:gd name="adj" fmla="val 554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29775" y="7282607"/>
            <a:ext cx="7299198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 doesn't persist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9629775" y="7700665"/>
            <a:ext cx="729919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memory is in </a:t>
            </a:r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highlight>
                  <a:srgbClr val="1F232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graph lives in the MCP server's data dir — if it's been wiped or reinstalled, you'll start fresh.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27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1619250"/>
            <a:ext cx="7448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built.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219200" y="3620244"/>
            <a:ext cx="3002161" cy="3710285"/>
          </a:xfrm>
          <a:prstGeom prst="roundRect">
            <a:avLst>
              <a:gd name="adj" fmla="val 44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9725" y="3972669"/>
            <a:ext cx="22973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09725" y="4410819"/>
            <a:ext cx="2297311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2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Markdown plugin extended with MCP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09725" y="5050780"/>
            <a:ext cx="229731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6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custom code. Just configuration.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4430911" y="3620244"/>
            <a:ext cx="3002310" cy="3710285"/>
          </a:xfrm>
          <a:prstGeom prst="roundRect">
            <a:avLst>
              <a:gd name="adj" fmla="val 44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1436" y="3972669"/>
            <a:ext cx="22974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821436" y="4410819"/>
            <a:ext cx="229746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2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market data via Tavily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21436" y="5050780"/>
            <a:ext cx="229746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6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 &amp; dates on every figure.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7642771" y="3620244"/>
            <a:ext cx="3002310" cy="3710285"/>
          </a:xfrm>
          <a:prstGeom prst="roundRect">
            <a:avLst>
              <a:gd name="adj" fmla="val 44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33296" y="3972669"/>
            <a:ext cx="22974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33296" y="4410819"/>
            <a:ext cx="229746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2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docs from disk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33296" y="5050780"/>
            <a:ext cx="229746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6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Read tool — no extra MCP.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10854630" y="3620244"/>
            <a:ext cx="3002310" cy="3710285"/>
          </a:xfrm>
          <a:prstGeom prst="roundRect">
            <a:avLst>
              <a:gd name="adj" fmla="val 44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45155" y="3972669"/>
            <a:ext cx="22974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245155" y="4410819"/>
            <a:ext cx="229746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2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Cross-session memory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245155" y="5050780"/>
            <a:ext cx="229746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6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items survive restart.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4066490" y="3620244"/>
            <a:ext cx="3002310" cy="3710285"/>
          </a:xfrm>
          <a:prstGeom prst="roundRect">
            <a:avLst>
              <a:gd name="adj" fmla="val 444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457015" y="3972669"/>
            <a:ext cx="22974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4457015" y="4410819"/>
            <a:ext cx="2297460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2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Compliant, grounded commands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457015" y="5313611"/>
            <a:ext cx="229746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spc="-6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· retirement · briefings.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1219200" y="7863929"/>
            <a:ext cx="1502718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900" dirty="0"/>
          </a:p>
        </p:txBody>
      </p:sp>
      <p:sp>
        <p:nvSpPr>
          <p:cNvPr id="30" name="Text 27"/>
          <p:cNvSpPr/>
          <p:nvPr/>
        </p:nvSpPr>
        <p:spPr>
          <a:xfrm>
            <a:off x="1219200" y="9134921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COMMANDS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255318" y="7863929"/>
            <a:ext cx="126503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900" dirty="0"/>
          </a:p>
        </p:txBody>
      </p:sp>
      <p:sp>
        <p:nvSpPr>
          <p:cNvPr id="32" name="Text 29"/>
          <p:cNvSpPr/>
          <p:nvPr/>
        </p:nvSpPr>
        <p:spPr>
          <a:xfrm>
            <a:off x="3255318" y="9134921"/>
            <a:ext cx="126503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AGENTS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53757" y="7863929"/>
            <a:ext cx="1383804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900" dirty="0"/>
          </a:p>
        </p:txBody>
      </p:sp>
      <p:sp>
        <p:nvSpPr>
          <p:cNvPr id="34" name="Text 31"/>
          <p:cNvSpPr/>
          <p:nvPr/>
        </p:nvSpPr>
        <p:spPr>
          <a:xfrm>
            <a:off x="5053757" y="9134921"/>
            <a:ext cx="1383804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970961" y="7863929"/>
            <a:ext cx="245372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9900" dirty="0"/>
          </a:p>
        </p:txBody>
      </p:sp>
      <p:sp>
        <p:nvSpPr>
          <p:cNvPr id="36" name="Text 33"/>
          <p:cNvSpPr/>
          <p:nvPr/>
        </p:nvSpPr>
        <p:spPr>
          <a:xfrm>
            <a:off x="6970961" y="9134921"/>
            <a:ext cx="245372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LINES OF CUSTOM CODE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27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314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1238250"/>
            <a:ext cx="18148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TAKE-HOME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725662"/>
            <a:ext cx="8476335" cy="461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add an MCP server when Claude doesn't already have the capability.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19200" y="6678662"/>
            <a:ext cx="7456170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access, bash execution, and code editing are built into Claude Code. MCP is for what Claude </a:t>
            </a:r>
            <a:pPr algn="l" indent="0" marL="0">
              <a:lnSpc>
                <a:spcPct val="142000"/>
              </a:lnSpc>
              <a:buNone/>
            </a:pPr>
            <a:r>
              <a:rPr lang="en-US" sz="2400" i="1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can't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natively — live web search, persistent cross-session memory, third-party services.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86487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3100" y="8694837"/>
            <a:ext cx="2267694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</a:t>
            </a:r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</a:t>
            </a:r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37836" y="8739336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27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667851" y="0"/>
            <a:ext cx="7620000" cy="10287000"/>
          </a:xfrm>
          <a:prstGeom prst="rect">
            <a:avLst/>
          </a:prstGeom>
          <a:solidFill>
            <a:srgbClr val="E36A2C"/>
          </a:solidFill>
          <a:ln/>
        </p:spPr>
      </p:sp>
      <p:sp>
        <p:nvSpPr>
          <p:cNvPr id="10" name="Text 7"/>
          <p:cNvSpPr/>
          <p:nvPr/>
        </p:nvSpPr>
        <p:spPr>
          <a:xfrm>
            <a:off x="11429851" y="914400"/>
            <a:ext cx="226055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OF SESSION ·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797635" y="914400"/>
            <a:ext cx="80441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27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429851" y="3415457"/>
            <a:ext cx="209550" cy="1905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3" name="Text 10"/>
          <p:cNvSpPr/>
          <p:nvPr/>
        </p:nvSpPr>
        <p:spPr>
          <a:xfrm>
            <a:off x="11772751" y="3330625"/>
            <a:ext cx="1935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COMPLETE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29851" y="3795713"/>
            <a:ext cx="4231039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5000" spc="-45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ship.</a:t>
            </a:r>
            <a:endParaRPr lang="en-US" sz="15000" dirty="0"/>
          </a:p>
        </p:txBody>
      </p:sp>
      <p:sp>
        <p:nvSpPr>
          <p:cNvPr id="15" name="Text 12"/>
          <p:cNvSpPr/>
          <p:nvPr/>
        </p:nvSpPr>
        <p:spPr>
          <a:xfrm>
            <a:off x="11429851" y="5815013"/>
            <a:ext cx="451294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E111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You've extended a Markdown plugin into a live-data, memory-aware adviser workflow.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lines of custom code.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246971" y="8956774"/>
            <a:ext cx="6278880" cy="45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QUESTIONS? FINOPS-ADVANCED · LEVEL 02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2026-05-15T07:17:53Z</dcterms:created>
  <dcterms:modified xsi:type="dcterms:W3CDTF">2026-05-15T07:17:53Z</dcterms:modified>
</cp:coreProperties>
</file>