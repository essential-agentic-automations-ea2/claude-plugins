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slides/_rels/slide2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13.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3.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2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8288000" cy="10287000"/>
  <p:notesSz cx="10287000" cy="1828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AU" sz="1800" spc="-1" strike="noStrike">
                <a:solidFill>
                  <a:schemeClr val="dk1"/>
                </a:solidFill>
                <a:latin typeface="Calibri"/>
              </a:rPr>
              <a:t>Click to move the </a:t>
            </a:r>
            <a:r>
              <a:rPr b="0" lang="en-AU" sz="1800" spc="-1" strike="noStrike">
                <a:solidFill>
                  <a:schemeClr val="dk1"/>
                </a:solidFill>
                <a:latin typeface="Calibri"/>
              </a:rPr>
              <a:t>slide</a:t>
            </a:r>
            <a:endParaRPr b="0" lang="en-AU"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AU" sz="2000" spc="-1" strike="noStrike">
                <a:solidFill>
                  <a:srgbClr val="000000"/>
                </a:solidFill>
                <a:latin typeface="Arial"/>
              </a:rPr>
              <a:t>Click to edit the notes format</a:t>
            </a:r>
            <a:endParaRPr b="0" lang="en-AU"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AU" sz="1400" spc="-1" strike="noStrike">
                <a:solidFill>
                  <a:srgbClr val="000000"/>
                </a:solidFill>
                <a:latin typeface="Times New Roman"/>
              </a:rPr>
              <a:t>&lt;header&gt;</a:t>
            </a:r>
            <a:endParaRPr b="0" lang="en-AU"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AU" sz="1400" spc="-1" strike="noStrike">
                <a:solidFill>
                  <a:srgbClr val="000000"/>
                </a:solidFill>
                <a:latin typeface="Times New Roman"/>
              </a:defRPr>
            </a:lvl1pPr>
          </a:lstStyle>
          <a:p>
            <a:pPr indent="0" algn="r">
              <a:buNone/>
            </a:pPr>
            <a:r>
              <a:rPr b="0" lang="en-AU" sz="1400" spc="-1" strike="noStrike">
                <a:solidFill>
                  <a:srgbClr val="000000"/>
                </a:solidFill>
                <a:latin typeface="Times New Roman"/>
              </a:rPr>
              <a:t>&lt;date/time&gt;</a:t>
            </a:r>
            <a:endParaRPr b="0" lang="en-AU"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AU" sz="1400" spc="-1" strike="noStrike">
                <a:solidFill>
                  <a:srgbClr val="000000"/>
                </a:solidFill>
                <a:latin typeface="Times New Roman"/>
              </a:defRPr>
            </a:lvl1pPr>
          </a:lstStyle>
          <a:p>
            <a:pPr indent="0">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AU" sz="1400" spc="-1" strike="noStrike">
                <a:solidFill>
                  <a:srgbClr val="000000"/>
                </a:solidFill>
                <a:latin typeface="Times New Roman"/>
              </a:defRPr>
            </a:lvl1pPr>
          </a:lstStyle>
          <a:p>
            <a:pPr indent="0" algn="r">
              <a:buNone/>
            </a:pPr>
            <a:fld id="{9EBC0F08-DED6-441A-8971-35518227C0F3}" type="slidenum">
              <a:rPr b="0" lang="en-AU" sz="1400" spc="-1" strike="noStrike">
                <a:solidFill>
                  <a:srgbClr val="000000"/>
                </a:solidFill>
                <a:latin typeface="Times New Roman"/>
              </a:rPr>
              <a:t>&lt;number&gt;</a:t>
            </a:fld>
            <a:endParaRPr b="0" lang="en-AU"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685800" y="1143000"/>
            <a:ext cx="5486040" cy="3085920"/>
          </a:xfrm>
          <a:prstGeom prst="rect">
            <a:avLst/>
          </a:prstGeom>
          <a:ln w="0">
            <a:noFill/>
          </a:ln>
        </p:spPr>
      </p:sp>
      <p:sp>
        <p:nvSpPr>
          <p:cNvPr id="7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31"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D1BB7F9-C9C0-45CA-97C8-658923473E1C}"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685800" y="1143000"/>
            <a:ext cx="5486040" cy="3085920"/>
          </a:xfrm>
          <a:prstGeom prst="rect">
            <a:avLst/>
          </a:prstGeom>
          <a:ln w="0">
            <a:noFill/>
          </a:ln>
        </p:spPr>
      </p:sp>
      <p:sp>
        <p:nvSpPr>
          <p:cNvPr id="7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34"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9F738BF-E895-476C-8424-EA33FA5E3443}"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685800" y="1143000"/>
            <a:ext cx="5486040" cy="3085920"/>
          </a:xfrm>
          <a:prstGeom prst="rect">
            <a:avLst/>
          </a:prstGeom>
          <a:ln w="0">
            <a:noFill/>
          </a:ln>
        </p:spPr>
      </p:sp>
      <p:sp>
        <p:nvSpPr>
          <p:cNvPr id="7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3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8C35D70-E146-4D80-9F64-D5085B2E3942}"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685800" y="1143000"/>
            <a:ext cx="5486040" cy="3085920"/>
          </a:xfrm>
          <a:prstGeom prst="rect">
            <a:avLst/>
          </a:prstGeom>
          <a:ln w="0">
            <a:noFill/>
          </a:ln>
        </p:spPr>
      </p:sp>
      <p:sp>
        <p:nvSpPr>
          <p:cNvPr id="7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40"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03207E8-3886-4F4F-BDDD-E6FEA2B41C06}"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685800" y="1143000"/>
            <a:ext cx="5486040" cy="3085920"/>
          </a:xfrm>
          <a:prstGeom prst="rect">
            <a:avLst/>
          </a:prstGeom>
          <a:ln w="0">
            <a:noFill/>
          </a:ln>
        </p:spPr>
      </p:sp>
      <p:sp>
        <p:nvSpPr>
          <p:cNvPr id="7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43"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6458A9A-FDB8-4CD2-B6DF-FBF888E248DD}"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685800" y="1143000"/>
            <a:ext cx="5486040" cy="3085920"/>
          </a:xfrm>
          <a:prstGeom prst="rect">
            <a:avLst/>
          </a:prstGeom>
          <a:ln w="0">
            <a:noFill/>
          </a:ln>
        </p:spPr>
      </p:sp>
      <p:sp>
        <p:nvSpPr>
          <p:cNvPr id="7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4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5118670-F347-4A9A-88E9-537BA5D933F6}"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685800" y="1143000"/>
            <a:ext cx="5486040" cy="3085920"/>
          </a:xfrm>
          <a:prstGeom prst="rect">
            <a:avLst/>
          </a:prstGeom>
          <a:ln w="0">
            <a:noFill/>
          </a:ln>
        </p:spPr>
      </p:sp>
      <p:sp>
        <p:nvSpPr>
          <p:cNvPr id="7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49"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7DD74EB-E705-4E27-95EF-E3BC8DBF8148}"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685800" y="1143000"/>
            <a:ext cx="5486040" cy="3085920"/>
          </a:xfrm>
          <a:prstGeom prst="rect">
            <a:avLst/>
          </a:prstGeom>
          <a:ln w="0">
            <a:noFill/>
          </a:ln>
        </p:spPr>
      </p:sp>
      <p:sp>
        <p:nvSpPr>
          <p:cNvPr id="7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52"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60C0A7E-9BBB-4001-AB05-BF7B77C60CBC}"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685800" y="1143000"/>
            <a:ext cx="5486040" cy="3085920"/>
          </a:xfrm>
          <a:prstGeom prst="rect">
            <a:avLst/>
          </a:prstGeom>
          <a:ln w="0">
            <a:noFill/>
          </a:ln>
        </p:spPr>
      </p:sp>
      <p:sp>
        <p:nvSpPr>
          <p:cNvPr id="7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55"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46DAB2F-032D-460A-96FD-0B92E8FD0824}"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685800" y="1143000"/>
            <a:ext cx="5486040" cy="3085920"/>
          </a:xfrm>
          <a:prstGeom prst="rect">
            <a:avLst/>
          </a:prstGeom>
          <a:ln w="0">
            <a:noFill/>
          </a:ln>
        </p:spPr>
      </p:sp>
      <p:sp>
        <p:nvSpPr>
          <p:cNvPr id="7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58"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56B0CCB-BDCE-482C-932C-040D3190362F}"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685800" y="1143000"/>
            <a:ext cx="5486040" cy="3085920"/>
          </a:xfrm>
          <a:prstGeom prst="rect">
            <a:avLst/>
          </a:prstGeom>
          <a:ln w="0">
            <a:noFill/>
          </a:ln>
        </p:spPr>
      </p:sp>
      <p:sp>
        <p:nvSpPr>
          <p:cNvPr id="7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61"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1918A28-C2C1-48EB-AA4F-DDECF7300B90}"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685800" y="1143000"/>
            <a:ext cx="5486040" cy="3085920"/>
          </a:xfrm>
          <a:prstGeom prst="rect">
            <a:avLst/>
          </a:prstGeom>
          <a:ln w="0">
            <a:noFill/>
          </a:ln>
        </p:spPr>
      </p:sp>
      <p:sp>
        <p:nvSpPr>
          <p:cNvPr id="7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64"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9476F48-7802-467A-ADFF-87758941783F}"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685800" y="1143000"/>
            <a:ext cx="5486040" cy="3085920"/>
          </a:xfrm>
          <a:prstGeom prst="rect">
            <a:avLst/>
          </a:prstGeom>
          <a:ln w="0">
            <a:noFill/>
          </a:ln>
        </p:spPr>
      </p:sp>
      <p:sp>
        <p:nvSpPr>
          <p:cNvPr id="76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67"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580B583-58A1-4AE7-B0C5-A16BB28BE0EB}"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685800" y="1143000"/>
            <a:ext cx="5486040" cy="3085920"/>
          </a:xfrm>
          <a:prstGeom prst="rect">
            <a:avLst/>
          </a:prstGeom>
          <a:ln w="0">
            <a:noFill/>
          </a:ln>
        </p:spPr>
      </p:sp>
      <p:sp>
        <p:nvSpPr>
          <p:cNvPr id="7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70"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67A096C-958F-4A3C-B0FF-A58F3587B69C}"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685800" y="1143000"/>
            <a:ext cx="5486040" cy="3085920"/>
          </a:xfrm>
          <a:prstGeom prst="rect">
            <a:avLst/>
          </a:prstGeom>
          <a:ln w="0">
            <a:noFill/>
          </a:ln>
        </p:spPr>
      </p:sp>
      <p:sp>
        <p:nvSpPr>
          <p:cNvPr id="7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73"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4FC9D4C-43ED-4BB8-BCB7-E7031FFA5079}"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685800" y="1143000"/>
            <a:ext cx="5486040" cy="3085920"/>
          </a:xfrm>
          <a:prstGeom prst="rect">
            <a:avLst/>
          </a:prstGeom>
          <a:ln w="0">
            <a:noFill/>
          </a:ln>
        </p:spPr>
      </p:sp>
      <p:sp>
        <p:nvSpPr>
          <p:cNvPr id="7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76"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5D821DB-BC42-495D-8B17-EADD22B9DD2B}"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685800" y="1143000"/>
            <a:ext cx="5486040" cy="3085920"/>
          </a:xfrm>
          <a:prstGeom prst="rect">
            <a:avLst/>
          </a:prstGeom>
          <a:ln w="0">
            <a:noFill/>
          </a:ln>
        </p:spPr>
      </p:sp>
      <p:sp>
        <p:nvSpPr>
          <p:cNvPr id="7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79"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9578435-9FCB-4725-91BF-6924AFFF8F06}"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685800" y="1143000"/>
            <a:ext cx="5486040" cy="3085920"/>
          </a:xfrm>
          <a:prstGeom prst="rect">
            <a:avLst/>
          </a:prstGeom>
          <a:ln w="0">
            <a:noFill/>
          </a:ln>
        </p:spPr>
      </p:sp>
      <p:sp>
        <p:nvSpPr>
          <p:cNvPr id="7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82"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DBDB294-279B-429D-AE9B-2AD378B60414}"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685800" y="1143000"/>
            <a:ext cx="5486040" cy="3085920"/>
          </a:xfrm>
          <a:prstGeom prst="rect">
            <a:avLst/>
          </a:prstGeom>
          <a:ln w="0">
            <a:noFill/>
          </a:ln>
        </p:spPr>
      </p:sp>
      <p:sp>
        <p:nvSpPr>
          <p:cNvPr id="7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85"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DF17069-9B85-44EA-835F-0D71D489AAB7}"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685800" y="1143000"/>
            <a:ext cx="5486040" cy="3085920"/>
          </a:xfrm>
          <a:prstGeom prst="rect">
            <a:avLst/>
          </a:prstGeom>
          <a:ln w="0">
            <a:noFill/>
          </a:ln>
        </p:spPr>
      </p:sp>
      <p:sp>
        <p:nvSpPr>
          <p:cNvPr id="7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88"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5F9C8F1-E3B1-4123-BD1C-6AF825B2BA6B}"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685800" y="1143000"/>
            <a:ext cx="5486040" cy="3085920"/>
          </a:xfrm>
          <a:prstGeom prst="rect">
            <a:avLst/>
          </a:prstGeom>
          <a:ln w="0">
            <a:noFill/>
          </a:ln>
        </p:spPr>
      </p:sp>
      <p:sp>
        <p:nvSpPr>
          <p:cNvPr id="7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91"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1A24E9F-C959-41BB-B0E8-F6D3B199023D}"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685800" y="1143000"/>
            <a:ext cx="5486040" cy="3085920"/>
          </a:xfrm>
          <a:prstGeom prst="rect">
            <a:avLst/>
          </a:prstGeom>
          <a:ln w="0">
            <a:noFill/>
          </a:ln>
        </p:spPr>
      </p:sp>
      <p:sp>
        <p:nvSpPr>
          <p:cNvPr id="79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94"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F41D06C-BCEB-4B97-95AF-A67665DE289D}"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685800" y="1143000"/>
            <a:ext cx="5486040" cy="3085920"/>
          </a:xfrm>
          <a:prstGeom prst="rect">
            <a:avLst/>
          </a:prstGeom>
          <a:ln w="0">
            <a:noFill/>
          </a:ln>
        </p:spPr>
      </p:sp>
      <p:sp>
        <p:nvSpPr>
          <p:cNvPr id="79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797"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69F5C94-F7EF-49EC-9F4A-4EA877CC7288}"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685800" y="1143000"/>
            <a:ext cx="5486040" cy="3085920"/>
          </a:xfrm>
          <a:prstGeom prst="rect">
            <a:avLst/>
          </a:prstGeom>
          <a:ln w="0">
            <a:noFill/>
          </a:ln>
        </p:spPr>
      </p:sp>
      <p:sp>
        <p:nvSpPr>
          <p:cNvPr id="79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800"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9156093-589C-489C-AB96-09096F85C5C3}"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685800" y="1143000"/>
            <a:ext cx="5486040" cy="3085920"/>
          </a:xfrm>
          <a:prstGeom prst="rect">
            <a:avLst/>
          </a:prstGeom>
          <a:ln w="0">
            <a:noFill/>
          </a:ln>
        </p:spPr>
      </p:sp>
      <p:sp>
        <p:nvSpPr>
          <p:cNvPr id="80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803"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CE943EF-1915-4841-BF50-6874DD00B044}"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685800" y="1143000"/>
            <a:ext cx="5486040" cy="3085920"/>
          </a:xfrm>
          <a:prstGeom prst="rect">
            <a:avLst/>
          </a:prstGeom>
          <a:ln w="0">
            <a:noFill/>
          </a:ln>
        </p:spPr>
      </p:sp>
      <p:sp>
        <p:nvSpPr>
          <p:cNvPr id="8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806"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CDAFF89-F3EE-4648-880B-B73F90FF78DB}"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sldImg"/>
          </p:nvPr>
        </p:nvSpPr>
        <p:spPr>
          <a:xfrm>
            <a:off x="685800" y="1143000"/>
            <a:ext cx="5486040" cy="3085920"/>
          </a:xfrm>
          <a:prstGeom prst="rect">
            <a:avLst/>
          </a:prstGeom>
          <a:ln w="0">
            <a:noFill/>
          </a:ln>
        </p:spPr>
      </p:sp>
      <p:sp>
        <p:nvSpPr>
          <p:cNvPr id="8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809"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CFF524B-9BE2-45C2-A785-DC2639FEFF89}"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sldImg"/>
          </p:nvPr>
        </p:nvSpPr>
        <p:spPr>
          <a:xfrm>
            <a:off x="685800" y="1143000"/>
            <a:ext cx="5486040" cy="308592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812"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B00F37D-F3CD-413E-A932-76AD32655DEE}"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Img"/>
          </p:nvPr>
        </p:nvSpPr>
        <p:spPr>
          <a:xfrm>
            <a:off x="685800" y="1143000"/>
            <a:ext cx="5486040" cy="308592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815"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5BC7C41-6831-4CCF-9EEA-C30128D739DE}"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sldImg"/>
          </p:nvPr>
        </p:nvSpPr>
        <p:spPr>
          <a:xfrm>
            <a:off x="685800" y="1143000"/>
            <a:ext cx="5486040" cy="308592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818"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72D820C-5A6A-4530-86B2-4C625091BF1B}"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6040" cy="3085920"/>
          </a:xfrm>
          <a:prstGeom prst="rect">
            <a:avLst/>
          </a:prstGeom>
          <a:ln w="0">
            <a:noFill/>
          </a:ln>
        </p:spPr>
      </p:sp>
      <p:sp>
        <p:nvSpPr>
          <p:cNvPr id="8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821" name="PlaceHolder 3"/>
          <p:cNvSpPr>
            <a:spLocks noGrp="1"/>
          </p:cNvSpPr>
          <p:nvPr>
            <p:ph type="sldNum" idx="3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37F005E-0866-41AA-ACFF-EDA3E8AB8D18}"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AU" sz="1800" spc="-1" strike="noStrike">
                <a:solidFill>
                  <a:schemeClr val="dk1"/>
                </a:solidFill>
                <a:latin typeface="Calibri"/>
              </a:rPr>
              <a:t>Click to edit the title text format</a:t>
            </a:r>
            <a:endParaRPr b="0" lang="en-AU" sz="1800" spc="-1" strike="noStrike">
              <a:solidFill>
                <a:schemeClr val="dk1"/>
              </a:solidFill>
              <a:latin typeface="Calibri"/>
            </a:endParaRPr>
          </a:p>
        </p:txBody>
      </p:sp>
      <p:sp>
        <p:nvSpPr>
          <p:cNvPr id="1" name="PlaceHolder 2"/>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AU" sz="3200" spc="-1" strike="noStrike">
                <a:solidFill>
                  <a:schemeClr val="dk1"/>
                </a:solidFill>
                <a:latin typeface="Calibri"/>
              </a:rPr>
              <a:t>Click to edit the outline text format</a:t>
            </a:r>
            <a:endParaRPr b="0" lang="en-AU"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AU" sz="2400" spc="-1" strike="noStrike">
                <a:solidFill>
                  <a:schemeClr val="dk1"/>
                </a:solidFill>
                <a:latin typeface="Calibri"/>
              </a:rPr>
              <a:t>Second Outline Level</a:t>
            </a:r>
            <a:endParaRPr b="0" lang="en-AU"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AU" sz="2000" spc="-1" strike="noStrike">
                <a:solidFill>
                  <a:schemeClr val="dk1"/>
                </a:solidFill>
                <a:latin typeface="Calibri"/>
              </a:rPr>
              <a:t>Third Outline Level</a:t>
            </a:r>
            <a:endParaRPr b="0" lang="en-AU"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AU" sz="2000" spc="-1" strike="noStrike">
                <a:solidFill>
                  <a:schemeClr val="dk1"/>
                </a:solidFill>
                <a:latin typeface="Calibri"/>
              </a:rPr>
              <a:t>Fourth Outline Level</a:t>
            </a:r>
            <a:endParaRPr b="0" lang="en-AU"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AU" sz="2000" spc="-1" strike="noStrike">
                <a:solidFill>
                  <a:schemeClr val="dk1"/>
                </a:solidFill>
                <a:latin typeface="Calibri"/>
              </a:rPr>
              <a:t>Fifth Outline Level</a:t>
            </a:r>
            <a:endParaRPr b="0" lang="en-AU"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AU" sz="2000" spc="-1" strike="noStrike">
                <a:solidFill>
                  <a:schemeClr val="dk1"/>
                </a:solidFill>
                <a:latin typeface="Calibri"/>
              </a:rPr>
              <a:t>Sixth Outline Level</a:t>
            </a:r>
            <a:endParaRPr b="0" lang="en-AU"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AU" sz="2000" spc="-1" strike="noStrike">
                <a:solidFill>
                  <a:schemeClr val="dk1"/>
                </a:solidFill>
                <a:latin typeface="Calibri"/>
              </a:rPr>
              <a:t>Seventh Outline Level</a:t>
            </a:r>
            <a:endParaRPr b="0" lang="en-AU"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slideLayout" Target="../slideLayouts/slideLayout1.xml"/><Relationship Id="rId7"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3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8" name="Shape 0"/>
          <p:cNvSpPr/>
          <p:nvPr/>
        </p:nvSpPr>
        <p:spPr>
          <a:xfrm>
            <a:off x="1219320" y="131472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9" name="Text 1"/>
          <p:cNvSpPr/>
          <p:nvPr/>
        </p:nvSpPr>
        <p:spPr>
          <a:xfrm>
            <a:off x="1409760" y="1238400"/>
            <a:ext cx="509616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INTERNAL TRAINING · 45 MINUTES · 2026</a:t>
            </a:r>
            <a:endParaRPr b="0" lang="en-AU" sz="1350" spc="-1" strike="noStrike">
              <a:solidFill>
                <a:srgbClr val="000000"/>
              </a:solidFill>
              <a:latin typeface="Arial"/>
            </a:endParaRPr>
          </a:p>
        </p:txBody>
      </p:sp>
      <p:sp>
        <p:nvSpPr>
          <p:cNvPr id="10" name="Text 2"/>
          <p:cNvSpPr/>
          <p:nvPr/>
        </p:nvSpPr>
        <p:spPr>
          <a:xfrm>
            <a:off x="1219320" y="2685960"/>
            <a:ext cx="8134920" cy="3045960"/>
          </a:xfrm>
          <a:prstGeom prst="rect">
            <a:avLst/>
          </a:prstGeom>
          <a:noFill/>
          <a:ln w="0">
            <a:noFill/>
          </a:ln>
        </p:spPr>
        <p:style>
          <a:lnRef idx="0"/>
          <a:fillRef idx="0"/>
          <a:effectRef idx="0"/>
          <a:fontRef idx="minor"/>
        </p:style>
        <p:txBody>
          <a:bodyPr lIns="25560" rIns="25560" tIns="25560" bIns="25560" anchor="t">
            <a:normAutofit fontScale="83333"/>
          </a:bodyPr>
          <a:p>
            <a:pPr defTabSz="914400">
              <a:lnSpc>
                <a:spcPct val="94000"/>
              </a:lnSpc>
              <a:tabLst>
                <a:tab algn="l" pos="0"/>
              </a:tabLst>
            </a:pPr>
            <a:r>
              <a:rPr b="0" lang="en-US" sz="12600" spc="-330" strike="noStrike">
                <a:solidFill>
                  <a:srgbClr val="0e1116"/>
                </a:solidFill>
                <a:latin typeface="Space Grotesk"/>
                <a:ea typeface="Space Grotesk"/>
              </a:rPr>
              <a:t>Agentic AI in 2026.</a:t>
            </a:r>
            <a:endParaRPr b="0" lang="en-AU" sz="12600" spc="-1" strike="noStrike">
              <a:solidFill>
                <a:srgbClr val="000000"/>
              </a:solidFill>
              <a:latin typeface="Arial"/>
            </a:endParaRPr>
          </a:p>
        </p:txBody>
      </p:sp>
      <p:sp>
        <p:nvSpPr>
          <p:cNvPr id="11" name="Text 3"/>
          <p:cNvSpPr/>
          <p:nvPr/>
        </p:nvSpPr>
        <p:spPr>
          <a:xfrm>
            <a:off x="1219320" y="6151320"/>
            <a:ext cx="7063560" cy="133596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42000"/>
              </a:lnSpc>
              <a:tabLst>
                <a:tab algn="l" pos="0"/>
              </a:tabLst>
            </a:pPr>
            <a:r>
              <a:rPr b="0" lang="en-US" sz="2400" spc="-12" strike="noStrike">
                <a:solidFill>
                  <a:srgbClr val="1f2329"/>
                </a:solidFill>
                <a:latin typeface="Inter"/>
                <a:ea typeface="Inter"/>
              </a:rPr>
              <a:t>A working tour of Claude in 2026 — the capabilities, the surfaces, and how to pick the right one for the work in front of you.</a:t>
            </a:r>
            <a:endParaRPr b="0" lang="en-AU" sz="2400" spc="-1" strike="noStrike">
              <a:solidFill>
                <a:srgbClr val="000000"/>
              </a:solidFill>
              <a:latin typeface="Arial"/>
            </a:endParaRPr>
          </a:p>
        </p:txBody>
      </p:sp>
      <p:pic>
        <p:nvPicPr>
          <p:cNvPr id="12" name="Image 0" descr="preencoded.png"/>
          <p:cNvPicPr/>
          <p:nvPr/>
        </p:nvPicPr>
        <p:blipFill>
          <a:blip r:embed="rId1"/>
          <a:stretch/>
        </p:blipFill>
        <p:spPr>
          <a:xfrm>
            <a:off x="1219320" y="8648640"/>
            <a:ext cx="418680" cy="418680"/>
          </a:xfrm>
          <a:prstGeom prst="rect">
            <a:avLst/>
          </a:prstGeom>
          <a:ln w="0">
            <a:noFill/>
          </a:ln>
        </p:spPr>
      </p:pic>
      <p:sp>
        <p:nvSpPr>
          <p:cNvPr id="13" name="Text 4"/>
          <p:cNvSpPr/>
          <p:nvPr/>
        </p:nvSpPr>
        <p:spPr>
          <a:xfrm>
            <a:off x="1943280" y="8694720"/>
            <a:ext cx="226728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 </a:t>
            </a:r>
            <a:r>
              <a:rPr b="1" lang="en-US" sz="1650" spc="-21" strike="noStrike">
                <a:solidFill>
                  <a:srgbClr val="e36a2c"/>
                </a:solidFill>
                <a:latin typeface="Space Grotesk"/>
                <a:ea typeface="Space Grotesk"/>
              </a:rPr>
              <a:t>· </a:t>
            </a: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14" name="Shape 5"/>
          <p:cNvSpPr/>
          <p:nvPr/>
        </p:nvSpPr>
        <p:spPr>
          <a:xfrm>
            <a:off x="10336680" y="0"/>
            <a:ext cx="7950960" cy="10286640"/>
          </a:xfrm>
          <a:prstGeom prst="rect">
            <a:avLst/>
          </a:prstGeom>
          <a:solidFill>
            <a:srgbClr val="0e1116"/>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5" name="Text 6"/>
          <p:cNvSpPr/>
          <p:nvPr/>
        </p:nvSpPr>
        <p:spPr>
          <a:xfrm>
            <a:off x="15494040" y="609480"/>
            <a:ext cx="2260080" cy="2455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6000"/>
              </a:lnSpc>
              <a:tabLst>
                <a:tab algn="l" pos="0"/>
              </a:tabLst>
            </a:pPr>
            <a:r>
              <a:rPr b="0" lang="en-US" sz="1050" spc="188" strike="noStrike">
                <a:solidFill>
                  <a:srgbClr val="f4efe6">
                    <a:alpha val="40000"/>
                  </a:srgbClr>
                </a:solidFill>
                <a:latin typeface="JetBrains Mono"/>
                <a:ea typeface="JetBrains Mono"/>
              </a:rPr>
              <a:t>SESSION · SPRING 2026</a:t>
            </a:r>
            <a:endParaRPr b="0" lang="en-AU" sz="1050" spc="-1" strike="noStrike">
              <a:solidFill>
                <a:srgbClr val="000000"/>
              </a:solidFill>
              <a:latin typeface="Arial"/>
            </a:endParaRPr>
          </a:p>
        </p:txBody>
      </p:sp>
      <p:pic>
        <p:nvPicPr>
          <p:cNvPr id="16" name="Image 1" descr="preencoded.png"/>
          <p:cNvPicPr/>
          <p:nvPr/>
        </p:nvPicPr>
        <p:blipFill>
          <a:blip r:embed="rId2"/>
          <a:stretch/>
        </p:blipFill>
        <p:spPr>
          <a:xfrm>
            <a:off x="11645280" y="2476440"/>
            <a:ext cx="5333760" cy="5333760"/>
          </a:xfrm>
          <a:prstGeom prst="rect">
            <a:avLst/>
          </a:prstGeom>
          <a:ln w="0">
            <a:noFill/>
          </a:ln>
        </p:spPr>
      </p:pic>
      <p:sp>
        <p:nvSpPr>
          <p:cNvPr id="17" name="Text 7"/>
          <p:cNvSpPr/>
          <p:nvPr/>
        </p:nvSpPr>
        <p:spPr>
          <a:xfrm>
            <a:off x="15209640" y="9261720"/>
            <a:ext cx="2468520" cy="453600"/>
          </a:xfrm>
          <a:prstGeom prst="rect">
            <a:avLst/>
          </a:prstGeom>
          <a:noFill/>
          <a:ln w="0">
            <a:noFill/>
          </a:ln>
        </p:spPr>
        <p:style>
          <a:lnRef idx="0"/>
          <a:fillRef idx="0"/>
          <a:effectRef idx="0"/>
          <a:fontRef idx="minor"/>
        </p:style>
        <p:txBody>
          <a:bodyPr lIns="25560" rIns="25560" tIns="25560" bIns="25560" anchor="t">
            <a:normAutofit fontScale="87222" lnSpcReduction="10000"/>
          </a:bodyPr>
          <a:p>
            <a:pPr algn="r" defTabSz="914400">
              <a:lnSpc>
                <a:spcPct val="156000"/>
              </a:lnSpc>
              <a:tabLst>
                <a:tab algn="l" pos="0"/>
              </a:tabLst>
            </a:pPr>
            <a:r>
              <a:rPr b="0" lang="en-US" sz="1050" spc="188" strike="noStrike">
                <a:solidFill>
                  <a:srgbClr val="f4efe6">
                    <a:alpha val="40000"/>
                  </a:srgbClr>
                </a:solidFill>
                <a:latin typeface="JetBrains Mono"/>
                <a:ea typeface="JetBrains Mono"/>
              </a:rPr>
              <a:t>BEGINNER → INTERMEDIATE 13 TOPICS · 30 SLIDES</a:t>
            </a:r>
            <a:endParaRPr b="0" lang="en-AU"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18" name="Image 0" descr="preencoded.png"/>
          <p:cNvPicPr/>
          <p:nvPr/>
        </p:nvPicPr>
        <p:blipFill>
          <a:blip r:embed="rId1"/>
          <a:stretch/>
        </p:blipFill>
        <p:spPr>
          <a:xfrm>
            <a:off x="1219320" y="468360"/>
            <a:ext cx="304560" cy="304560"/>
          </a:xfrm>
          <a:prstGeom prst="rect">
            <a:avLst/>
          </a:prstGeom>
          <a:ln w="0">
            <a:noFill/>
          </a:ln>
        </p:spPr>
      </p:pic>
      <p:sp>
        <p:nvSpPr>
          <p:cNvPr id="19"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20"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21"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22"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23" name="Text 4"/>
          <p:cNvSpPr/>
          <p:nvPr/>
        </p:nvSpPr>
        <p:spPr>
          <a:xfrm>
            <a:off x="1409760" y="1619280"/>
            <a:ext cx="20818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TODAY'S SESSION</a:t>
            </a:r>
            <a:endParaRPr b="0" lang="en-AU" sz="1350" spc="-1" strike="noStrike">
              <a:solidFill>
                <a:srgbClr val="000000"/>
              </a:solidFill>
              <a:latin typeface="Arial"/>
            </a:endParaRPr>
          </a:p>
        </p:txBody>
      </p:sp>
      <p:sp>
        <p:nvSpPr>
          <p:cNvPr id="24"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What we'll cover.</a:t>
            </a:r>
            <a:endParaRPr b="0" lang="en-AU" sz="7200" spc="-1" strike="noStrike">
              <a:solidFill>
                <a:srgbClr val="000000"/>
              </a:solidFill>
              <a:latin typeface="Arial"/>
            </a:endParaRPr>
          </a:p>
        </p:txBody>
      </p:sp>
      <p:sp>
        <p:nvSpPr>
          <p:cNvPr id="25" name="Text 6"/>
          <p:cNvSpPr/>
          <p:nvPr/>
        </p:nvSpPr>
        <p:spPr>
          <a:xfrm>
            <a:off x="1219320" y="3772800"/>
            <a:ext cx="990720" cy="914040"/>
          </a:xfrm>
          <a:prstGeom prst="rect">
            <a:avLst/>
          </a:prstGeom>
          <a:noFill/>
          <a:ln w="0">
            <a:noFill/>
          </a:ln>
        </p:spPr>
        <p:style>
          <a:lnRef idx="0"/>
          <a:fillRef idx="0"/>
          <a:effectRef idx="0"/>
          <a:fontRef idx="minor"/>
        </p:style>
        <p:txBody>
          <a:bodyPr lIns="25560" rIns="25560" tIns="25560" bIns="25560" anchor="t">
            <a:normAutofit fontScale="82222"/>
          </a:bodyPr>
          <a:p>
            <a:pPr defTabSz="914400">
              <a:lnSpc>
                <a:spcPct val="100000"/>
              </a:lnSpc>
              <a:tabLst>
                <a:tab algn="l" pos="0"/>
              </a:tabLst>
            </a:pPr>
            <a:r>
              <a:rPr b="0" lang="en-US" sz="6900" spc="-126" strike="noStrike">
                <a:solidFill>
                  <a:srgbClr val="a8a097"/>
                </a:solidFill>
                <a:latin typeface="Space Grotesk"/>
                <a:ea typeface="Space Grotesk"/>
              </a:rPr>
              <a:t>01</a:t>
            </a:r>
            <a:endParaRPr b="0" lang="en-AU" sz="6900" spc="-1" strike="noStrike">
              <a:solidFill>
                <a:srgbClr val="000000"/>
              </a:solidFill>
              <a:latin typeface="Arial"/>
            </a:endParaRPr>
          </a:p>
        </p:txBody>
      </p:sp>
      <p:sp>
        <p:nvSpPr>
          <p:cNvPr id="26" name="Text 7"/>
          <p:cNvSpPr/>
          <p:nvPr/>
        </p:nvSpPr>
        <p:spPr>
          <a:xfrm>
            <a:off x="2362680" y="4172760"/>
            <a:ext cx="2321280" cy="4795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6000"/>
              </a:lnSpc>
              <a:tabLst>
                <a:tab algn="l" pos="0"/>
              </a:tabLst>
            </a:pPr>
            <a:r>
              <a:rPr b="1" lang="en-US" sz="3000" spc="-38" strike="noStrike">
                <a:solidFill>
                  <a:srgbClr val="0e1116"/>
                </a:solidFill>
                <a:latin typeface="Space Grotesk"/>
                <a:ea typeface="Space Grotesk"/>
              </a:rPr>
              <a:t>Foundations</a:t>
            </a:r>
            <a:endParaRPr b="0" lang="en-AU" sz="3000" spc="-1" strike="noStrike">
              <a:solidFill>
                <a:srgbClr val="000000"/>
              </a:solidFill>
              <a:latin typeface="Arial"/>
            </a:endParaRPr>
          </a:p>
        </p:txBody>
      </p:sp>
      <p:sp>
        <p:nvSpPr>
          <p:cNvPr id="27" name="Text 8"/>
          <p:cNvSpPr/>
          <p:nvPr/>
        </p:nvSpPr>
        <p:spPr>
          <a:xfrm>
            <a:off x="1072440" y="4915800"/>
            <a:ext cx="7766280" cy="123444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650" spc="-1" strike="noStrike">
                <a:solidFill>
                  <a:srgbClr val="1f2329"/>
                </a:solidFill>
                <a:latin typeface="Inter"/>
                <a:ea typeface="Inter"/>
              </a:rPr>
              <a:t>What Claude can do well</a:t>
            </a:r>
            <a:endParaRPr b="0" lang="en-AU" sz="1650" spc="-1" strike="noStrike">
              <a:solidFill>
                <a:srgbClr val="000000"/>
              </a:solidFill>
              <a:latin typeface="Arial"/>
            </a:endParaRPr>
          </a:p>
          <a:p>
            <a:pPr defTabSz="914400">
              <a:lnSpc>
                <a:spcPct val="148000"/>
              </a:lnSpc>
              <a:tabLst>
                <a:tab algn="l" pos="0"/>
              </a:tabLst>
            </a:pPr>
            <a:r>
              <a:rPr b="0" lang="en-US" sz="1650" spc="-1" strike="noStrike">
                <a:solidFill>
                  <a:srgbClr val="1f2329"/>
                </a:solidFill>
                <a:latin typeface="Inter"/>
                <a:ea typeface="Inter"/>
              </a:rPr>
              <a:t>Where Claude shows up — products + surfaces</a:t>
            </a:r>
            <a:endParaRPr b="0" lang="en-AU" sz="1650" spc="-1" strike="noStrike">
              <a:solidFill>
                <a:srgbClr val="000000"/>
              </a:solidFill>
              <a:latin typeface="Arial"/>
            </a:endParaRPr>
          </a:p>
          <a:p>
            <a:pPr defTabSz="914400">
              <a:lnSpc>
                <a:spcPct val="148000"/>
              </a:lnSpc>
              <a:tabLst>
                <a:tab algn="l" pos="0"/>
              </a:tabLst>
            </a:pPr>
            <a:r>
              <a:rPr b="0" lang="en-US" sz="1650" spc="-1" strike="noStrike">
                <a:solidFill>
                  <a:srgbClr val="1f2329"/>
                </a:solidFill>
                <a:latin typeface="Inter"/>
                <a:ea typeface="Inter"/>
              </a:rPr>
              <a:t>Cowork · Claude Code · Chat · Projects</a:t>
            </a:r>
            <a:endParaRPr b="0" lang="en-AU" sz="1650" spc="-1" strike="noStrike">
              <a:solidFill>
                <a:srgbClr val="000000"/>
              </a:solidFill>
              <a:latin typeface="Arial"/>
            </a:endParaRPr>
          </a:p>
        </p:txBody>
      </p:sp>
      <p:sp>
        <p:nvSpPr>
          <p:cNvPr id="28" name="Text 11"/>
          <p:cNvSpPr/>
          <p:nvPr/>
        </p:nvSpPr>
        <p:spPr>
          <a:xfrm>
            <a:off x="9524880" y="3772800"/>
            <a:ext cx="1133640" cy="914040"/>
          </a:xfrm>
          <a:prstGeom prst="rect">
            <a:avLst/>
          </a:prstGeom>
          <a:noFill/>
          <a:ln w="0">
            <a:noFill/>
          </a:ln>
        </p:spPr>
        <p:style>
          <a:lnRef idx="0"/>
          <a:fillRef idx="0"/>
          <a:effectRef idx="0"/>
          <a:fontRef idx="minor"/>
        </p:style>
        <p:txBody>
          <a:bodyPr lIns="25560" rIns="25560" tIns="25560" bIns="25560" anchor="t">
            <a:normAutofit fontScale="82222"/>
          </a:bodyPr>
          <a:p>
            <a:pPr defTabSz="914400">
              <a:lnSpc>
                <a:spcPct val="100000"/>
              </a:lnSpc>
              <a:tabLst>
                <a:tab algn="l" pos="0"/>
              </a:tabLst>
            </a:pPr>
            <a:r>
              <a:rPr b="0" lang="en-US" sz="6900" spc="-126" strike="noStrike">
                <a:solidFill>
                  <a:srgbClr val="a8a097"/>
                </a:solidFill>
                <a:latin typeface="Space Grotesk"/>
                <a:ea typeface="Space Grotesk"/>
              </a:rPr>
              <a:t>02</a:t>
            </a:r>
            <a:endParaRPr b="0" lang="en-AU" sz="6900" spc="-1" strike="noStrike">
              <a:solidFill>
                <a:srgbClr val="000000"/>
              </a:solidFill>
              <a:latin typeface="Arial"/>
            </a:endParaRPr>
          </a:p>
        </p:txBody>
      </p:sp>
      <p:sp>
        <p:nvSpPr>
          <p:cNvPr id="29" name="Text 12"/>
          <p:cNvSpPr/>
          <p:nvPr/>
        </p:nvSpPr>
        <p:spPr>
          <a:xfrm>
            <a:off x="10811160" y="4172760"/>
            <a:ext cx="2371680" cy="4795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6000"/>
              </a:lnSpc>
              <a:tabLst>
                <a:tab algn="l" pos="0"/>
              </a:tabLst>
            </a:pPr>
            <a:r>
              <a:rPr b="1" lang="en-US" sz="3000" spc="-38" strike="noStrike">
                <a:solidFill>
                  <a:srgbClr val="0e1116"/>
                </a:solidFill>
                <a:latin typeface="Space Grotesk"/>
                <a:ea typeface="Space Grotesk"/>
              </a:rPr>
              <a:t>Intermediate</a:t>
            </a:r>
            <a:endParaRPr b="0" lang="en-AU" sz="3000" spc="-1" strike="noStrike">
              <a:solidFill>
                <a:srgbClr val="000000"/>
              </a:solidFill>
              <a:latin typeface="Arial"/>
            </a:endParaRPr>
          </a:p>
        </p:txBody>
      </p:sp>
      <p:sp>
        <p:nvSpPr>
          <p:cNvPr id="30" name="Text 13"/>
          <p:cNvSpPr/>
          <p:nvPr/>
        </p:nvSpPr>
        <p:spPr>
          <a:xfrm>
            <a:off x="9378360" y="4915800"/>
            <a:ext cx="7766280" cy="123444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650" spc="-1" strike="noStrike">
                <a:solidFill>
                  <a:srgbClr val="1f2329"/>
                </a:solidFill>
                <a:latin typeface="Inter"/>
                <a:ea typeface="Inter"/>
              </a:rPr>
              <a:t>Skills · Connectors · Enterprise Search · Research</a:t>
            </a:r>
            <a:endParaRPr b="0" lang="en-AU" sz="1650" spc="-1" strike="noStrike">
              <a:solidFill>
                <a:srgbClr val="000000"/>
              </a:solidFill>
              <a:latin typeface="Arial"/>
            </a:endParaRPr>
          </a:p>
          <a:p>
            <a:pPr defTabSz="914400">
              <a:lnSpc>
                <a:spcPct val="148000"/>
              </a:lnSpc>
              <a:tabLst>
                <a:tab algn="l" pos="0"/>
              </a:tabLst>
            </a:pPr>
            <a:r>
              <a:rPr b="0" lang="en-US" sz="1650" spc="-1" strike="noStrike">
                <a:solidFill>
                  <a:srgbClr val="1f2329"/>
                </a:solidFill>
                <a:latin typeface="Inter"/>
                <a:ea typeface="Inter"/>
              </a:rPr>
              <a:t>When to reach for which surface</a:t>
            </a:r>
            <a:endParaRPr b="0" lang="en-AU" sz="1650" spc="-1" strike="noStrike">
              <a:solidFill>
                <a:srgbClr val="000000"/>
              </a:solidFill>
              <a:latin typeface="Arial"/>
            </a:endParaRPr>
          </a:p>
          <a:p>
            <a:pPr defTabSz="914400">
              <a:lnSpc>
                <a:spcPct val="148000"/>
              </a:lnSpc>
              <a:tabLst>
                <a:tab algn="l" pos="0"/>
              </a:tabLst>
            </a:pPr>
            <a:r>
              <a:rPr b="0" lang="en-US" sz="1650" spc="-1" strike="noStrike">
                <a:solidFill>
                  <a:srgbClr val="1f2329"/>
                </a:solidFill>
                <a:latin typeface="Inter"/>
                <a:ea typeface="Inter"/>
              </a:rPr>
              <a:t>Practical exercises &amp; Q&amp;A</a:t>
            </a:r>
            <a:endParaRPr b="0" lang="en-AU" sz="1650" spc="-1" strike="noStrike">
              <a:solidFill>
                <a:srgbClr val="000000"/>
              </a:solidFill>
              <a:latin typeface="Arial"/>
            </a:endParaRPr>
          </a:p>
        </p:txBody>
      </p:sp>
      <p:sp>
        <p:nvSpPr>
          <p:cNvPr id="31" name="Shape 14"/>
          <p:cNvSpPr/>
          <p:nvPr/>
        </p:nvSpPr>
        <p:spPr>
          <a:xfrm>
            <a:off x="9524880" y="6379200"/>
            <a:ext cx="107496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32" name="Text 16"/>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02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116"/>
        </a:solidFill>
      </p:bgPr>
    </p:bg>
    <p:spTree>
      <p:nvGrpSpPr>
        <p:cNvPr id="1" name=""/>
        <p:cNvGrpSpPr/>
        <p:nvPr/>
      </p:nvGrpSpPr>
      <p:grpSpPr>
        <a:xfrm>
          <a:off x="0" y="0"/>
          <a:ext cx="0" cy="0"/>
          <a:chOff x="0" y="0"/>
          <a:chExt cx="0" cy="0"/>
        </a:xfrm>
      </p:grpSpPr>
      <p:pic>
        <p:nvPicPr>
          <p:cNvPr id="33" name="Image 0" descr="preencoded.png"/>
          <p:cNvPicPr/>
          <p:nvPr/>
        </p:nvPicPr>
        <p:blipFill>
          <a:blip r:embed="rId1"/>
          <a:stretch/>
        </p:blipFill>
        <p:spPr>
          <a:xfrm>
            <a:off x="1219320" y="468360"/>
            <a:ext cx="304560" cy="304560"/>
          </a:xfrm>
          <a:prstGeom prst="rect">
            <a:avLst/>
          </a:prstGeom>
          <a:ln w="0">
            <a:noFill/>
          </a:ln>
        </p:spPr>
      </p:pic>
      <p:sp>
        <p:nvSpPr>
          <p:cNvPr id="34"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f4efe6"/>
                </a:solidFill>
                <a:latin typeface="Space Grotesk"/>
                <a:ea typeface="Space Grotesk"/>
              </a:rPr>
              <a:t>Agentic</a:t>
            </a:r>
            <a:endParaRPr b="0" lang="en-AU" sz="1650" spc="-1" strike="noStrike">
              <a:solidFill>
                <a:srgbClr val="ffffff"/>
              </a:solidFill>
              <a:latin typeface="Arial"/>
            </a:endParaRPr>
          </a:p>
        </p:txBody>
      </p:sp>
      <p:sp>
        <p:nvSpPr>
          <p:cNvPr id="35"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ffffff"/>
              </a:solidFill>
              <a:latin typeface="Arial"/>
            </a:endParaRPr>
          </a:p>
        </p:txBody>
      </p:sp>
      <p:sp>
        <p:nvSpPr>
          <p:cNvPr id="36"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f4efe6"/>
                </a:solidFill>
                <a:latin typeface="Space Grotesk"/>
                <a:ea typeface="Space Grotesk"/>
              </a:rPr>
              <a:t>Automations</a:t>
            </a:r>
            <a:endParaRPr b="0" lang="en-AU" sz="1650" spc="-1" strike="noStrike">
              <a:solidFill>
                <a:srgbClr val="ffffff"/>
              </a:solidFill>
              <a:latin typeface="Arial"/>
            </a:endParaRPr>
          </a:p>
        </p:txBody>
      </p:sp>
      <p:sp>
        <p:nvSpPr>
          <p:cNvPr id="37" name="Text 3"/>
          <p:cNvSpPr/>
          <p:nvPr/>
        </p:nvSpPr>
        <p:spPr>
          <a:xfrm>
            <a:off x="1219320" y="3112920"/>
            <a:ext cx="5203440" cy="4098960"/>
          </a:xfrm>
          <a:prstGeom prst="rect">
            <a:avLst/>
          </a:prstGeom>
          <a:noFill/>
          <a:ln w="0">
            <a:noFill/>
          </a:ln>
        </p:spPr>
        <p:style>
          <a:lnRef idx="0"/>
          <a:fillRef idx="0"/>
          <a:effectRef idx="0"/>
          <a:fontRef idx="minor"/>
        </p:style>
        <p:txBody>
          <a:bodyPr lIns="25560" rIns="25560" tIns="25560" bIns="25560" anchor="t">
            <a:normAutofit fontScale="83333"/>
          </a:bodyPr>
          <a:p>
            <a:pPr defTabSz="914400">
              <a:lnSpc>
                <a:spcPct val="82000"/>
              </a:lnSpc>
              <a:tabLst>
                <a:tab algn="l" pos="0"/>
              </a:tabLst>
            </a:pPr>
            <a:r>
              <a:rPr b="0" lang="en-US" sz="39000" spc="-1172" strike="noStrike">
                <a:solidFill>
                  <a:srgbClr val="e36a2c"/>
                </a:solidFill>
                <a:latin typeface="Space Grotesk"/>
                <a:ea typeface="Space Grotesk"/>
              </a:rPr>
              <a:t>01</a:t>
            </a:r>
            <a:endParaRPr b="0" lang="en-AU" sz="39000" spc="-1" strike="noStrike">
              <a:solidFill>
                <a:srgbClr val="ffffff"/>
              </a:solidFill>
              <a:latin typeface="Arial"/>
            </a:endParaRPr>
          </a:p>
        </p:txBody>
      </p:sp>
      <p:sp>
        <p:nvSpPr>
          <p:cNvPr id="38" name="Shape 4"/>
          <p:cNvSpPr/>
          <p:nvPr/>
        </p:nvSpPr>
        <p:spPr>
          <a:xfrm>
            <a:off x="7185600" y="39150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39" name="Text 5"/>
          <p:cNvSpPr/>
          <p:nvPr/>
        </p:nvSpPr>
        <p:spPr>
          <a:xfrm>
            <a:off x="7376400" y="3838680"/>
            <a:ext cx="11458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f4efe6">
                    <a:alpha val="70000"/>
                  </a:srgbClr>
                </a:solidFill>
                <a:latin typeface="JetBrains Mono"/>
                <a:ea typeface="JetBrains Mono"/>
              </a:rPr>
              <a:t>PART ONE</a:t>
            </a:r>
            <a:endParaRPr b="0" lang="en-AU" sz="1350" spc="-1" strike="noStrike">
              <a:solidFill>
                <a:srgbClr val="ffffff"/>
              </a:solidFill>
              <a:latin typeface="Arial"/>
            </a:endParaRPr>
          </a:p>
        </p:txBody>
      </p:sp>
      <p:sp>
        <p:nvSpPr>
          <p:cNvPr id="40" name="Text 6"/>
          <p:cNvSpPr/>
          <p:nvPr/>
        </p:nvSpPr>
        <p:spPr>
          <a:xfrm>
            <a:off x="7185600" y="4391640"/>
            <a:ext cx="78483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f4efe6"/>
                </a:solidFill>
                <a:latin typeface="Space Grotesk"/>
                <a:ea typeface="Space Grotesk"/>
              </a:rPr>
              <a:t>Foundations.</a:t>
            </a:r>
            <a:endParaRPr b="0" lang="en-AU" sz="7200" spc="-1" strike="noStrike">
              <a:solidFill>
                <a:srgbClr val="ffffff"/>
              </a:solidFill>
              <a:latin typeface="Arial"/>
            </a:endParaRPr>
          </a:p>
        </p:txBody>
      </p:sp>
      <p:sp>
        <p:nvSpPr>
          <p:cNvPr id="41" name="Text 7"/>
          <p:cNvSpPr/>
          <p:nvPr/>
        </p:nvSpPr>
        <p:spPr>
          <a:xfrm>
            <a:off x="7185600" y="5610960"/>
            <a:ext cx="7848360" cy="90324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42000"/>
              </a:lnSpc>
              <a:tabLst>
                <a:tab algn="l" pos="0"/>
              </a:tabLst>
            </a:pPr>
            <a:r>
              <a:rPr b="0" lang="en-US" sz="2400" spc="-12" strike="noStrike">
                <a:solidFill>
                  <a:srgbClr val="f4efe6">
                    <a:alpha val="78000"/>
                  </a:srgbClr>
                </a:solidFill>
                <a:latin typeface="Inter"/>
                <a:ea typeface="Inter"/>
              </a:rPr>
              <a:t>Five things Claude does well · Where Claude lives · The four main surfaces you'll use day-to-day.</a:t>
            </a:r>
            <a:endParaRPr b="0" lang="en-AU" sz="2400" spc="-1" strike="noStrike">
              <a:solidFill>
                <a:srgbClr val="ffffff"/>
              </a:solidFill>
              <a:latin typeface="Arial"/>
            </a:endParaRPr>
          </a:p>
        </p:txBody>
      </p:sp>
      <p:sp>
        <p:nvSpPr>
          <p:cNvPr id="42" name="Text 8"/>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f4efe6">
                    <a:alpha val="50000"/>
                  </a:srgbClr>
                </a:solidFill>
                <a:latin typeface="JetBrains Mono"/>
                <a:ea typeface="JetBrains Mono"/>
              </a:rPr>
              <a:t>03 / 30</a:t>
            </a:r>
            <a:endParaRPr b="0" lang="en-AU"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43" name="Image 0" descr="preencoded.png"/>
          <p:cNvPicPr/>
          <p:nvPr/>
        </p:nvPicPr>
        <p:blipFill>
          <a:blip r:embed="rId1"/>
          <a:stretch/>
        </p:blipFill>
        <p:spPr>
          <a:xfrm>
            <a:off x="1219320" y="468360"/>
            <a:ext cx="304560" cy="304560"/>
          </a:xfrm>
          <a:prstGeom prst="rect">
            <a:avLst/>
          </a:prstGeom>
          <a:ln w="0">
            <a:noFill/>
          </a:ln>
        </p:spPr>
      </p:pic>
      <p:sp>
        <p:nvSpPr>
          <p:cNvPr id="44"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45"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46"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47"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48" name="Text 4"/>
          <p:cNvSpPr/>
          <p:nvPr/>
        </p:nvSpPr>
        <p:spPr>
          <a:xfrm>
            <a:off x="1409760" y="1619280"/>
            <a:ext cx="31676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01 · CAPABILITIES</a:t>
            </a:r>
            <a:endParaRPr b="0" lang="en-AU" sz="1350" spc="-1" strike="noStrike">
              <a:solidFill>
                <a:srgbClr val="000000"/>
              </a:solidFill>
              <a:latin typeface="Arial"/>
            </a:endParaRPr>
          </a:p>
        </p:txBody>
      </p:sp>
      <p:sp>
        <p:nvSpPr>
          <p:cNvPr id="49" name="Text 5"/>
          <p:cNvSpPr/>
          <p:nvPr/>
        </p:nvSpPr>
        <p:spPr>
          <a:xfrm>
            <a:off x="1219320" y="2096280"/>
            <a:ext cx="16324560" cy="186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7200" spc="-145" strike="noStrike">
                <a:solidFill>
                  <a:srgbClr val="0e1116"/>
                </a:solidFill>
                <a:latin typeface="Space Grotesk"/>
                <a:ea typeface="Space Grotesk"/>
              </a:rPr>
              <a:t>Five things Claude does well.</a:t>
            </a:r>
            <a:endParaRPr b="0" lang="en-AU" sz="7200" spc="-1" strike="noStrike">
              <a:solidFill>
                <a:srgbClr val="000000"/>
              </a:solidFill>
              <a:latin typeface="Arial"/>
            </a:endParaRPr>
          </a:p>
        </p:txBody>
      </p:sp>
      <p:sp>
        <p:nvSpPr>
          <p:cNvPr id="50" name="Shape 6"/>
          <p:cNvSpPr/>
          <p:nvPr/>
        </p:nvSpPr>
        <p:spPr>
          <a:xfrm>
            <a:off x="1219320" y="4534560"/>
            <a:ext cx="5130360" cy="2498040"/>
          </a:xfrm>
          <a:prstGeom prst="roundRect">
            <a:avLst>
              <a:gd name="adj" fmla="val 5337"/>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1" name="Text 7"/>
          <p:cNvSpPr/>
          <p:nvPr/>
        </p:nvSpPr>
        <p:spPr>
          <a:xfrm>
            <a:off x="1609560" y="4887000"/>
            <a:ext cx="4479840" cy="3805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700" spc="-38" strike="noStrike">
                <a:solidFill>
                  <a:srgbClr val="e36a2c"/>
                </a:solidFill>
                <a:latin typeface="Space Grotesk"/>
                <a:ea typeface="Space Grotesk"/>
              </a:rPr>
              <a:t>01</a:t>
            </a:r>
            <a:endParaRPr b="0" lang="en-AU" sz="2700" spc="-1" strike="noStrike">
              <a:solidFill>
                <a:srgbClr val="000000"/>
              </a:solidFill>
              <a:latin typeface="Arial"/>
            </a:endParaRPr>
          </a:p>
        </p:txBody>
      </p:sp>
      <p:sp>
        <p:nvSpPr>
          <p:cNvPr id="52" name="Text 8"/>
          <p:cNvSpPr/>
          <p:nvPr/>
        </p:nvSpPr>
        <p:spPr>
          <a:xfrm>
            <a:off x="1609560" y="5401440"/>
            <a:ext cx="447984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Writing &amp; content</a:t>
            </a:r>
            <a:endParaRPr b="0" lang="en-AU" sz="2400" spc="-1" strike="noStrike">
              <a:solidFill>
                <a:srgbClr val="000000"/>
              </a:solidFill>
              <a:latin typeface="Arial"/>
            </a:endParaRPr>
          </a:p>
        </p:txBody>
      </p:sp>
      <p:sp>
        <p:nvSpPr>
          <p:cNvPr id="53" name="Text 9"/>
          <p:cNvSpPr/>
          <p:nvPr/>
        </p:nvSpPr>
        <p:spPr>
          <a:xfrm>
            <a:off x="1609560" y="5866200"/>
            <a:ext cx="4479840" cy="852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50000"/>
              </a:lnSpc>
              <a:tabLst>
                <a:tab algn="l" pos="0"/>
              </a:tabLst>
            </a:pPr>
            <a:r>
              <a:rPr b="0" lang="en-US" sz="1430" spc="-7" strike="noStrike">
                <a:solidFill>
                  <a:srgbClr val="1f2329"/>
                </a:solidFill>
                <a:latin typeface="Inter"/>
                <a:ea typeface="Inter"/>
              </a:rPr>
              <a:t>Social posts, emails, reports. Iterates on tone, voice and structure with you until it sounds like you.</a:t>
            </a:r>
            <a:endParaRPr b="0" lang="en-AU" sz="1430" spc="-1" strike="noStrike">
              <a:solidFill>
                <a:srgbClr val="000000"/>
              </a:solidFill>
              <a:latin typeface="Arial"/>
            </a:endParaRPr>
          </a:p>
        </p:txBody>
      </p:sp>
      <p:sp>
        <p:nvSpPr>
          <p:cNvPr id="54" name="Shape 10"/>
          <p:cNvSpPr/>
          <p:nvPr/>
        </p:nvSpPr>
        <p:spPr>
          <a:xfrm>
            <a:off x="6578640" y="4534560"/>
            <a:ext cx="5130360" cy="2498040"/>
          </a:xfrm>
          <a:prstGeom prst="roundRect">
            <a:avLst>
              <a:gd name="adj" fmla="val 5337"/>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5" name="Text 11"/>
          <p:cNvSpPr/>
          <p:nvPr/>
        </p:nvSpPr>
        <p:spPr>
          <a:xfrm>
            <a:off x="6968880" y="4887000"/>
            <a:ext cx="4479840" cy="3805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700" spc="-38" strike="noStrike">
                <a:solidFill>
                  <a:srgbClr val="e36a2c"/>
                </a:solidFill>
                <a:latin typeface="Space Grotesk"/>
                <a:ea typeface="Space Grotesk"/>
              </a:rPr>
              <a:t>02</a:t>
            </a:r>
            <a:endParaRPr b="0" lang="en-AU" sz="2700" spc="-1" strike="noStrike">
              <a:solidFill>
                <a:srgbClr val="000000"/>
              </a:solidFill>
              <a:latin typeface="Arial"/>
            </a:endParaRPr>
          </a:p>
        </p:txBody>
      </p:sp>
      <p:sp>
        <p:nvSpPr>
          <p:cNvPr id="56" name="Text 12"/>
          <p:cNvSpPr/>
          <p:nvPr/>
        </p:nvSpPr>
        <p:spPr>
          <a:xfrm>
            <a:off x="6968880" y="5401440"/>
            <a:ext cx="447984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Research &amp; analysis</a:t>
            </a:r>
            <a:endParaRPr b="0" lang="en-AU" sz="2400" spc="-1" strike="noStrike">
              <a:solidFill>
                <a:srgbClr val="000000"/>
              </a:solidFill>
              <a:latin typeface="Arial"/>
            </a:endParaRPr>
          </a:p>
        </p:txBody>
      </p:sp>
      <p:sp>
        <p:nvSpPr>
          <p:cNvPr id="57" name="Text 13"/>
          <p:cNvSpPr/>
          <p:nvPr/>
        </p:nvSpPr>
        <p:spPr>
          <a:xfrm>
            <a:off x="6968880" y="5866200"/>
            <a:ext cx="4479840" cy="8521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430" spc="-7" strike="noStrike">
                <a:solidFill>
                  <a:srgbClr val="1f2329"/>
                </a:solidFill>
                <a:latin typeface="Inter"/>
                <a:ea typeface="Inter"/>
              </a:rPr>
              <a:t>Upload documents and Claude makes sense of them. 200K+ token context — up to 1M on Pro / Max / Team / Enterprise with Opus 4.7.</a:t>
            </a:r>
            <a:endParaRPr b="0" lang="en-AU" sz="1430" spc="-1" strike="noStrike">
              <a:solidFill>
                <a:srgbClr val="000000"/>
              </a:solidFill>
              <a:latin typeface="Arial"/>
            </a:endParaRPr>
          </a:p>
        </p:txBody>
      </p:sp>
      <p:sp>
        <p:nvSpPr>
          <p:cNvPr id="58" name="Shape 14"/>
          <p:cNvSpPr/>
          <p:nvPr/>
        </p:nvSpPr>
        <p:spPr>
          <a:xfrm>
            <a:off x="11937960" y="4534560"/>
            <a:ext cx="5130360" cy="2498040"/>
          </a:xfrm>
          <a:prstGeom prst="roundRect">
            <a:avLst>
              <a:gd name="adj" fmla="val 5337"/>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9" name="Text 15"/>
          <p:cNvSpPr/>
          <p:nvPr/>
        </p:nvSpPr>
        <p:spPr>
          <a:xfrm>
            <a:off x="12328560" y="4887000"/>
            <a:ext cx="4479840" cy="3805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700" spc="-38" strike="noStrike">
                <a:solidFill>
                  <a:srgbClr val="e36a2c"/>
                </a:solidFill>
                <a:latin typeface="Space Grotesk"/>
                <a:ea typeface="Space Grotesk"/>
              </a:rPr>
              <a:t>03</a:t>
            </a:r>
            <a:endParaRPr b="0" lang="en-AU" sz="2700" spc="-1" strike="noStrike">
              <a:solidFill>
                <a:srgbClr val="000000"/>
              </a:solidFill>
              <a:latin typeface="Arial"/>
            </a:endParaRPr>
          </a:p>
        </p:txBody>
      </p:sp>
      <p:sp>
        <p:nvSpPr>
          <p:cNvPr id="60" name="Text 16"/>
          <p:cNvSpPr/>
          <p:nvPr/>
        </p:nvSpPr>
        <p:spPr>
          <a:xfrm>
            <a:off x="12328560" y="5401440"/>
            <a:ext cx="447984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Coding assistance</a:t>
            </a:r>
            <a:endParaRPr b="0" lang="en-AU" sz="2400" spc="-1" strike="noStrike">
              <a:solidFill>
                <a:srgbClr val="000000"/>
              </a:solidFill>
              <a:latin typeface="Arial"/>
            </a:endParaRPr>
          </a:p>
        </p:txBody>
      </p:sp>
      <p:sp>
        <p:nvSpPr>
          <p:cNvPr id="61" name="Text 17"/>
          <p:cNvSpPr/>
          <p:nvPr/>
        </p:nvSpPr>
        <p:spPr>
          <a:xfrm>
            <a:off x="12328560" y="5866200"/>
            <a:ext cx="4479840" cy="852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50000"/>
              </a:lnSpc>
              <a:tabLst>
                <a:tab algn="l" pos="0"/>
              </a:tabLst>
            </a:pPr>
            <a:r>
              <a:rPr b="0" lang="en-US" sz="1430" spc="-7" strike="noStrike">
                <a:solidFill>
                  <a:srgbClr val="1f2329"/>
                </a:solidFill>
                <a:latin typeface="Inter"/>
                <a:ea typeface="Inter"/>
              </a:rPr>
              <a:t>Opus 4.7 is our most powerful coding model. Write, debug, and explain code across multiple languages.</a:t>
            </a:r>
            <a:endParaRPr b="0" lang="en-AU" sz="1430" spc="-1" strike="noStrike">
              <a:solidFill>
                <a:srgbClr val="000000"/>
              </a:solidFill>
              <a:latin typeface="Arial"/>
            </a:endParaRPr>
          </a:p>
        </p:txBody>
      </p:sp>
      <p:sp>
        <p:nvSpPr>
          <p:cNvPr id="62" name="Shape 18"/>
          <p:cNvSpPr/>
          <p:nvPr/>
        </p:nvSpPr>
        <p:spPr>
          <a:xfrm>
            <a:off x="1219320" y="7261560"/>
            <a:ext cx="5130360" cy="2498040"/>
          </a:xfrm>
          <a:prstGeom prst="roundRect">
            <a:avLst>
              <a:gd name="adj" fmla="val 5337"/>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3" name="Text 19"/>
          <p:cNvSpPr/>
          <p:nvPr/>
        </p:nvSpPr>
        <p:spPr>
          <a:xfrm>
            <a:off x="1609560" y="7614000"/>
            <a:ext cx="4479840" cy="3805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700" spc="-38" strike="noStrike">
                <a:solidFill>
                  <a:srgbClr val="e36a2c"/>
                </a:solidFill>
                <a:latin typeface="Space Grotesk"/>
                <a:ea typeface="Space Grotesk"/>
              </a:rPr>
              <a:t>04</a:t>
            </a:r>
            <a:endParaRPr b="0" lang="en-AU" sz="2700" spc="-1" strike="noStrike">
              <a:solidFill>
                <a:srgbClr val="000000"/>
              </a:solidFill>
              <a:latin typeface="Arial"/>
            </a:endParaRPr>
          </a:p>
        </p:txBody>
      </p:sp>
      <p:sp>
        <p:nvSpPr>
          <p:cNvPr id="64" name="Text 20"/>
          <p:cNvSpPr/>
          <p:nvPr/>
        </p:nvSpPr>
        <p:spPr>
          <a:xfrm>
            <a:off x="1609560" y="8128440"/>
            <a:ext cx="447984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Problem-solving &amp; reasoning</a:t>
            </a:r>
            <a:endParaRPr b="0" lang="en-AU" sz="2400" spc="-1" strike="noStrike">
              <a:solidFill>
                <a:srgbClr val="000000"/>
              </a:solidFill>
              <a:latin typeface="Arial"/>
            </a:endParaRPr>
          </a:p>
        </p:txBody>
      </p:sp>
      <p:sp>
        <p:nvSpPr>
          <p:cNvPr id="65" name="Text 21"/>
          <p:cNvSpPr/>
          <p:nvPr/>
        </p:nvSpPr>
        <p:spPr>
          <a:xfrm>
            <a:off x="1609560" y="8593200"/>
            <a:ext cx="4479840" cy="852120"/>
          </a:xfrm>
          <a:prstGeom prst="rect">
            <a:avLst/>
          </a:prstGeom>
          <a:noFill/>
          <a:ln w="0">
            <a:noFill/>
          </a:ln>
        </p:spPr>
        <p:style>
          <a:lnRef idx="0"/>
          <a:fillRef idx="0"/>
          <a:effectRef idx="0"/>
          <a:fontRef idx="minor"/>
        </p:style>
        <p:txBody>
          <a:bodyPr lIns="25560" rIns="25560" tIns="25560" bIns="25560" anchor="t">
            <a:normAutofit fontScale="96666" lnSpcReduction="20000"/>
          </a:bodyPr>
          <a:p>
            <a:pPr defTabSz="914400">
              <a:lnSpc>
                <a:spcPct val="150000"/>
              </a:lnSpc>
              <a:tabLst>
                <a:tab algn="l" pos="0"/>
              </a:tabLst>
            </a:pPr>
            <a:r>
              <a:rPr b="0" lang="en-US" sz="1430" spc="-7" strike="noStrike">
                <a:solidFill>
                  <a:srgbClr val="1f2329"/>
                </a:solidFill>
                <a:latin typeface="Inter"/>
                <a:ea typeface="Inter"/>
              </a:rPr>
              <a:t>Hybrid models — near-instant answers or extended thinking for step-by-step analysis on complex problems.</a:t>
            </a:r>
            <a:endParaRPr b="0" lang="en-AU" sz="1430" spc="-1" strike="noStrike">
              <a:solidFill>
                <a:srgbClr val="000000"/>
              </a:solidFill>
              <a:latin typeface="Arial"/>
            </a:endParaRPr>
          </a:p>
        </p:txBody>
      </p:sp>
      <p:sp>
        <p:nvSpPr>
          <p:cNvPr id="66" name="Shape 22"/>
          <p:cNvSpPr/>
          <p:nvPr/>
        </p:nvSpPr>
        <p:spPr>
          <a:xfrm>
            <a:off x="6578640" y="7261560"/>
            <a:ext cx="5130360" cy="2498040"/>
          </a:xfrm>
          <a:prstGeom prst="roundRect">
            <a:avLst>
              <a:gd name="adj" fmla="val 5337"/>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7" name="Text 23"/>
          <p:cNvSpPr/>
          <p:nvPr/>
        </p:nvSpPr>
        <p:spPr>
          <a:xfrm>
            <a:off x="6968880" y="7614000"/>
            <a:ext cx="4479840" cy="3805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700" spc="-38" strike="noStrike">
                <a:solidFill>
                  <a:srgbClr val="e36a2c"/>
                </a:solidFill>
                <a:latin typeface="Space Grotesk"/>
                <a:ea typeface="Space Grotesk"/>
              </a:rPr>
              <a:t>05</a:t>
            </a:r>
            <a:endParaRPr b="0" lang="en-AU" sz="2700" spc="-1" strike="noStrike">
              <a:solidFill>
                <a:srgbClr val="000000"/>
              </a:solidFill>
              <a:latin typeface="Arial"/>
            </a:endParaRPr>
          </a:p>
        </p:txBody>
      </p:sp>
      <p:sp>
        <p:nvSpPr>
          <p:cNvPr id="68" name="Text 24"/>
          <p:cNvSpPr/>
          <p:nvPr/>
        </p:nvSpPr>
        <p:spPr>
          <a:xfrm>
            <a:off x="6968880" y="8128440"/>
            <a:ext cx="447984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Learning new things</a:t>
            </a:r>
            <a:endParaRPr b="0" lang="en-AU" sz="2400" spc="-1" strike="noStrike">
              <a:solidFill>
                <a:srgbClr val="000000"/>
              </a:solidFill>
              <a:latin typeface="Arial"/>
            </a:endParaRPr>
          </a:p>
        </p:txBody>
      </p:sp>
      <p:sp>
        <p:nvSpPr>
          <p:cNvPr id="69" name="Text 25"/>
          <p:cNvSpPr/>
          <p:nvPr/>
        </p:nvSpPr>
        <p:spPr>
          <a:xfrm>
            <a:off x="6968880" y="8593200"/>
            <a:ext cx="4479840" cy="852120"/>
          </a:xfrm>
          <a:prstGeom prst="rect">
            <a:avLst/>
          </a:prstGeom>
          <a:noFill/>
          <a:ln w="0">
            <a:noFill/>
          </a:ln>
        </p:spPr>
        <p:style>
          <a:lnRef idx="0"/>
          <a:fillRef idx="0"/>
          <a:effectRef idx="0"/>
          <a:fontRef idx="minor"/>
        </p:style>
        <p:txBody>
          <a:bodyPr lIns="25560" rIns="25560" tIns="25560" bIns="25560" anchor="t">
            <a:normAutofit fontScale="96666" lnSpcReduction="20000"/>
          </a:bodyPr>
          <a:p>
            <a:pPr defTabSz="914400">
              <a:lnSpc>
                <a:spcPct val="150000"/>
              </a:lnSpc>
              <a:tabLst>
                <a:tab algn="l" pos="0"/>
              </a:tabLst>
            </a:pPr>
            <a:r>
              <a:rPr b="0" lang="en-US" sz="1430" spc="-7" strike="noStrike">
                <a:solidFill>
                  <a:srgbClr val="1f2329"/>
                </a:solidFill>
                <a:latin typeface="Inter"/>
                <a:ea typeface="Inter"/>
              </a:rPr>
              <a:t>Adapts to your pace. </a:t>
            </a:r>
            <a:r>
              <a:rPr b="1" lang="en-US" sz="1430" spc="-7" strike="noStrike">
                <a:solidFill>
                  <a:srgbClr val="1f2329"/>
                </a:solidFill>
                <a:latin typeface="Inter"/>
                <a:ea typeface="Inter"/>
              </a:rPr>
              <a:t>Learning mode </a:t>
            </a:r>
            <a:r>
              <a:rPr b="0" lang="en-US" sz="1430" spc="-7" strike="noStrike">
                <a:solidFill>
                  <a:srgbClr val="1f2329"/>
                </a:solidFill>
                <a:latin typeface="Inter"/>
                <a:ea typeface="Inter"/>
              </a:rPr>
              <a:t>guides your reasoning process rather than handing over answers.</a:t>
            </a:r>
            <a:endParaRPr b="0" lang="en-AU" sz="1430" spc="-1" strike="noStrike">
              <a:solidFill>
                <a:srgbClr val="000000"/>
              </a:solidFill>
              <a:latin typeface="Arial"/>
            </a:endParaRPr>
          </a:p>
        </p:txBody>
      </p:sp>
      <p:sp>
        <p:nvSpPr>
          <p:cNvPr id="70" name="Text 26"/>
          <p:cNvSpPr/>
          <p:nvPr/>
        </p:nvSpPr>
        <p:spPr>
          <a:xfrm>
            <a:off x="12318840" y="7644600"/>
            <a:ext cx="4499640" cy="305280"/>
          </a:xfrm>
          <a:prstGeom prst="rect">
            <a:avLst/>
          </a:prstGeom>
          <a:noFill/>
          <a:ln w="0">
            <a:noFill/>
          </a:ln>
        </p:spPr>
        <p:style>
          <a:lnRef idx="0"/>
          <a:fillRef idx="0"/>
          <a:effectRef idx="0"/>
          <a:fontRef idx="minor"/>
        </p:style>
        <p:txBody>
          <a:bodyPr lIns="25560" rIns="25560" tIns="25560" bIns="25560" anchor="ctr">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REMEMBER</a:t>
            </a:r>
            <a:endParaRPr b="0" lang="en-AU" sz="1350" spc="-1" strike="noStrike">
              <a:solidFill>
                <a:srgbClr val="000000"/>
              </a:solidFill>
              <a:latin typeface="Arial"/>
            </a:endParaRPr>
          </a:p>
        </p:txBody>
      </p:sp>
      <p:sp>
        <p:nvSpPr>
          <p:cNvPr id="71" name="Text 27"/>
          <p:cNvSpPr/>
          <p:nvPr/>
        </p:nvSpPr>
        <p:spPr>
          <a:xfrm>
            <a:off x="12318840" y="8045640"/>
            <a:ext cx="4499640" cy="1409400"/>
          </a:xfrm>
          <a:prstGeom prst="rect">
            <a:avLst/>
          </a:prstGeom>
          <a:noFill/>
          <a:ln w="0">
            <a:noFill/>
          </a:ln>
        </p:spPr>
        <p:style>
          <a:lnRef idx="0"/>
          <a:fillRef idx="0"/>
          <a:effectRef idx="0"/>
          <a:fontRef idx="minor"/>
        </p:style>
        <p:txBody>
          <a:bodyPr lIns="25560" rIns="25560" tIns="25560" bIns="25560" anchor="t">
            <a:normAutofit fontScale="96666" lnSpcReduction="20000"/>
          </a:bodyPr>
          <a:p>
            <a:pPr defTabSz="914400">
              <a:lnSpc>
                <a:spcPct val="120000"/>
              </a:lnSpc>
              <a:tabLst>
                <a:tab algn="l" pos="0"/>
              </a:tabLst>
            </a:pPr>
            <a:r>
              <a:rPr b="1" lang="en-US" sz="3000" spc="-38" strike="noStrike">
                <a:solidFill>
                  <a:srgbClr val="0e1116"/>
                </a:solidFill>
                <a:latin typeface="Space Grotesk"/>
                <a:ea typeface="Space Grotesk"/>
              </a:rPr>
              <a:t>The right surface matters as much as the right ask.</a:t>
            </a:r>
            <a:endParaRPr b="0" lang="en-AU" sz="3000" spc="-1" strike="noStrike">
              <a:solidFill>
                <a:srgbClr val="000000"/>
              </a:solidFill>
              <a:latin typeface="Arial"/>
            </a:endParaRPr>
          </a:p>
        </p:txBody>
      </p:sp>
      <p:sp>
        <p:nvSpPr>
          <p:cNvPr id="72" name="Text 28"/>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04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73" name="Image 0" descr="preencoded.png"/>
          <p:cNvPicPr/>
          <p:nvPr/>
        </p:nvPicPr>
        <p:blipFill>
          <a:blip r:embed="rId1"/>
          <a:stretch/>
        </p:blipFill>
        <p:spPr>
          <a:xfrm>
            <a:off x="1219320" y="468360"/>
            <a:ext cx="304560" cy="304560"/>
          </a:xfrm>
          <a:prstGeom prst="rect">
            <a:avLst/>
          </a:prstGeom>
          <a:ln w="0">
            <a:noFill/>
          </a:ln>
        </p:spPr>
      </p:pic>
      <p:sp>
        <p:nvSpPr>
          <p:cNvPr id="74"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75"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76"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77"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78" name="Text 4"/>
          <p:cNvSpPr/>
          <p:nvPr/>
        </p:nvSpPr>
        <p:spPr>
          <a:xfrm>
            <a:off x="1409760" y="1619280"/>
            <a:ext cx="194796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BY THE NUMBERS</a:t>
            </a:r>
            <a:endParaRPr b="0" lang="en-AU" sz="1350" spc="-1" strike="noStrike">
              <a:solidFill>
                <a:srgbClr val="000000"/>
              </a:solidFill>
              <a:latin typeface="Arial"/>
            </a:endParaRPr>
          </a:p>
        </p:txBody>
      </p:sp>
      <p:sp>
        <p:nvSpPr>
          <p:cNvPr id="79" name="Text 5"/>
          <p:cNvSpPr/>
          <p:nvPr/>
        </p:nvSpPr>
        <p:spPr>
          <a:xfrm>
            <a:off x="1219320" y="2096280"/>
            <a:ext cx="11772720" cy="75096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4000"/>
              </a:lnSpc>
              <a:tabLst>
                <a:tab algn="l" pos="0"/>
              </a:tabLst>
            </a:pPr>
            <a:r>
              <a:rPr b="0" lang="en-US" sz="5400" spc="-86" strike="noStrike">
                <a:solidFill>
                  <a:srgbClr val="0e1116"/>
                </a:solidFill>
                <a:latin typeface="Space Grotesk"/>
                <a:ea typeface="Space Grotesk"/>
              </a:rPr>
              <a:t>Why context window matters.</a:t>
            </a:r>
            <a:endParaRPr b="0" lang="en-AU" sz="5400" spc="-1" strike="noStrike">
              <a:solidFill>
                <a:srgbClr val="000000"/>
              </a:solidFill>
              <a:latin typeface="Arial"/>
            </a:endParaRPr>
          </a:p>
        </p:txBody>
      </p:sp>
      <p:sp>
        <p:nvSpPr>
          <p:cNvPr id="80" name="Text 6"/>
          <p:cNvSpPr/>
          <p:nvPr/>
        </p:nvSpPr>
        <p:spPr>
          <a:xfrm>
            <a:off x="1219320" y="5803560"/>
            <a:ext cx="5127120" cy="1194480"/>
          </a:xfrm>
          <a:prstGeom prst="rect">
            <a:avLst/>
          </a:prstGeom>
          <a:noFill/>
          <a:ln w="0">
            <a:noFill/>
          </a:ln>
        </p:spPr>
        <p:style>
          <a:lnRef idx="0"/>
          <a:fillRef idx="0"/>
          <a:effectRef idx="0"/>
          <a:fontRef idx="minor"/>
        </p:style>
        <p:txBody>
          <a:bodyPr lIns="25560" rIns="25560" tIns="25560" bIns="25560" anchor="t">
            <a:normAutofit fontScale="82777"/>
          </a:bodyPr>
          <a:p>
            <a:pPr defTabSz="914400">
              <a:lnSpc>
                <a:spcPct val="92000"/>
              </a:lnSpc>
              <a:tabLst>
                <a:tab algn="l" pos="0"/>
              </a:tabLst>
            </a:pPr>
            <a:r>
              <a:rPr b="0" lang="en-US" sz="9900" spc="-239" strike="noStrike">
                <a:solidFill>
                  <a:srgbClr val="0e1116"/>
                </a:solidFill>
                <a:latin typeface="Space Grotesk"/>
                <a:ea typeface="Space Grotesk"/>
              </a:rPr>
              <a:t>200K+</a:t>
            </a:r>
            <a:endParaRPr b="0" lang="en-AU" sz="9900" spc="-1" strike="noStrike">
              <a:solidFill>
                <a:srgbClr val="000000"/>
              </a:solidFill>
              <a:latin typeface="Arial"/>
            </a:endParaRPr>
          </a:p>
        </p:txBody>
      </p:sp>
      <p:sp>
        <p:nvSpPr>
          <p:cNvPr id="81" name="Text 7"/>
          <p:cNvSpPr/>
          <p:nvPr/>
        </p:nvSpPr>
        <p:spPr>
          <a:xfrm>
            <a:off x="1219320" y="7074720"/>
            <a:ext cx="512712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214" strike="noStrike">
                <a:solidFill>
                  <a:srgbClr val="7a736a"/>
                </a:solidFill>
                <a:latin typeface="JetBrains Mono"/>
                <a:ea typeface="JetBrains Mono"/>
              </a:rPr>
              <a:t>TOKENS · STANDARD</a:t>
            </a:r>
            <a:endParaRPr b="0" lang="en-AU" sz="1200" spc="-1" strike="noStrike">
              <a:solidFill>
                <a:srgbClr val="000000"/>
              </a:solidFill>
              <a:latin typeface="Arial"/>
            </a:endParaRPr>
          </a:p>
        </p:txBody>
      </p:sp>
      <p:sp>
        <p:nvSpPr>
          <p:cNvPr id="82" name="Text 8"/>
          <p:cNvSpPr/>
          <p:nvPr/>
        </p:nvSpPr>
        <p:spPr>
          <a:xfrm>
            <a:off x="6654600" y="5565960"/>
            <a:ext cx="5127480" cy="1194480"/>
          </a:xfrm>
          <a:prstGeom prst="rect">
            <a:avLst/>
          </a:prstGeom>
          <a:noFill/>
          <a:ln w="0">
            <a:noFill/>
          </a:ln>
        </p:spPr>
        <p:style>
          <a:lnRef idx="0"/>
          <a:fillRef idx="0"/>
          <a:effectRef idx="0"/>
          <a:fontRef idx="minor"/>
        </p:style>
        <p:txBody>
          <a:bodyPr lIns="25560" rIns="25560" tIns="25560" bIns="25560" anchor="t">
            <a:normAutofit fontScale="82777"/>
          </a:bodyPr>
          <a:p>
            <a:pPr defTabSz="914400">
              <a:lnSpc>
                <a:spcPct val="92000"/>
              </a:lnSpc>
              <a:tabLst>
                <a:tab algn="l" pos="0"/>
              </a:tabLst>
            </a:pPr>
            <a:r>
              <a:rPr b="0" lang="en-US" sz="9900" spc="-239" strike="noStrike">
                <a:solidFill>
                  <a:srgbClr val="0e1116"/>
                </a:solidFill>
                <a:latin typeface="Space Grotesk"/>
                <a:ea typeface="Space Grotesk"/>
              </a:rPr>
              <a:t>1M</a:t>
            </a:r>
            <a:endParaRPr b="0" lang="en-AU" sz="9900" spc="-1" strike="noStrike">
              <a:solidFill>
                <a:srgbClr val="000000"/>
              </a:solidFill>
              <a:latin typeface="Arial"/>
            </a:endParaRPr>
          </a:p>
        </p:txBody>
      </p:sp>
      <p:sp>
        <p:nvSpPr>
          <p:cNvPr id="83" name="Text 9"/>
          <p:cNvSpPr/>
          <p:nvPr/>
        </p:nvSpPr>
        <p:spPr>
          <a:xfrm>
            <a:off x="6654600" y="6836760"/>
            <a:ext cx="5127480" cy="513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56000"/>
              </a:lnSpc>
              <a:tabLst>
                <a:tab algn="l" pos="0"/>
              </a:tabLst>
            </a:pPr>
            <a:r>
              <a:rPr b="0" lang="en-US" sz="1200" spc="214" strike="noStrike">
                <a:solidFill>
                  <a:srgbClr val="7a736a"/>
                </a:solidFill>
                <a:latin typeface="JetBrains Mono"/>
                <a:ea typeface="JetBrains Mono"/>
              </a:rPr>
              <a:t>ON PRO / MAX / TEAM / ENTERPRISE · OPUS 4.7</a:t>
            </a:r>
            <a:endParaRPr b="0" lang="en-AU" sz="1200" spc="-1" strike="noStrike">
              <a:solidFill>
                <a:srgbClr val="000000"/>
              </a:solidFill>
              <a:latin typeface="Arial"/>
            </a:endParaRPr>
          </a:p>
        </p:txBody>
      </p:sp>
      <p:sp>
        <p:nvSpPr>
          <p:cNvPr id="84" name="Text 10"/>
          <p:cNvSpPr/>
          <p:nvPr/>
        </p:nvSpPr>
        <p:spPr>
          <a:xfrm>
            <a:off x="12090240" y="5803560"/>
            <a:ext cx="5127480" cy="1194480"/>
          </a:xfrm>
          <a:prstGeom prst="rect">
            <a:avLst/>
          </a:prstGeom>
          <a:noFill/>
          <a:ln w="0">
            <a:noFill/>
          </a:ln>
        </p:spPr>
        <p:style>
          <a:lnRef idx="0"/>
          <a:fillRef idx="0"/>
          <a:effectRef idx="0"/>
          <a:fontRef idx="minor"/>
        </p:style>
        <p:txBody>
          <a:bodyPr lIns="25560" rIns="25560" tIns="25560" bIns="25560" anchor="t">
            <a:normAutofit fontScale="82777"/>
          </a:bodyPr>
          <a:p>
            <a:pPr defTabSz="914400">
              <a:lnSpc>
                <a:spcPct val="92000"/>
              </a:lnSpc>
              <a:tabLst>
                <a:tab algn="l" pos="0"/>
              </a:tabLst>
            </a:pPr>
            <a:r>
              <a:rPr b="0" lang="en-US" sz="9900" spc="-239" strike="noStrike">
                <a:solidFill>
                  <a:srgbClr val="0e1116"/>
                </a:solidFill>
                <a:latin typeface="Space Grotesk"/>
                <a:ea typeface="Space Grotesk"/>
              </a:rPr>
              <a:t>500+</a:t>
            </a:r>
            <a:endParaRPr b="0" lang="en-AU" sz="9900" spc="-1" strike="noStrike">
              <a:solidFill>
                <a:srgbClr val="000000"/>
              </a:solidFill>
              <a:latin typeface="Arial"/>
            </a:endParaRPr>
          </a:p>
        </p:txBody>
      </p:sp>
      <p:sp>
        <p:nvSpPr>
          <p:cNvPr id="85" name="Text 11"/>
          <p:cNvSpPr/>
          <p:nvPr/>
        </p:nvSpPr>
        <p:spPr>
          <a:xfrm>
            <a:off x="12090240" y="7074720"/>
            <a:ext cx="51274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214" strike="noStrike">
                <a:solidFill>
                  <a:srgbClr val="7a736a"/>
                </a:solidFill>
                <a:latin typeface="JetBrains Mono"/>
                <a:ea typeface="JetBrains Mono"/>
              </a:rPr>
              <a:t>PAGES IN A SINGLE CONVERSATION</a:t>
            </a:r>
            <a:endParaRPr b="0" lang="en-AU" sz="1200" spc="-1" strike="noStrike">
              <a:solidFill>
                <a:srgbClr val="000000"/>
              </a:solidFill>
              <a:latin typeface="Arial"/>
            </a:endParaRPr>
          </a:p>
        </p:txBody>
      </p:sp>
      <p:sp>
        <p:nvSpPr>
          <p:cNvPr id="86" name="Text 12"/>
          <p:cNvSpPr/>
          <p:nvPr/>
        </p:nvSpPr>
        <p:spPr>
          <a:xfrm>
            <a:off x="1219320" y="8074080"/>
            <a:ext cx="10791360" cy="13359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2000"/>
              </a:lnSpc>
              <a:tabLst>
                <a:tab algn="l" pos="0"/>
              </a:tabLst>
            </a:pPr>
            <a:r>
              <a:rPr b="0" lang="en-US" sz="2400" spc="-12" strike="noStrike">
                <a:solidFill>
                  <a:srgbClr val="1f2329"/>
                </a:solidFill>
                <a:latin typeface="Inter"/>
                <a:ea typeface="Inter"/>
              </a:rPr>
              <a:t>Big context means Claude can hold an entire codebase, a quarter of meeting notes, or a stack of contracts in mind at once — and reason across all of it without losing the thread.</a:t>
            </a:r>
            <a:endParaRPr b="0" lang="en-AU" sz="2400" spc="-1" strike="noStrike">
              <a:solidFill>
                <a:srgbClr val="000000"/>
              </a:solidFill>
              <a:latin typeface="Arial"/>
            </a:endParaRPr>
          </a:p>
        </p:txBody>
      </p:sp>
      <p:sp>
        <p:nvSpPr>
          <p:cNvPr id="87" name="Text 13"/>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05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88" name="Image 0" descr="preencoded.png"/>
          <p:cNvPicPr/>
          <p:nvPr/>
        </p:nvPicPr>
        <p:blipFill>
          <a:blip r:embed="rId1"/>
          <a:stretch/>
        </p:blipFill>
        <p:spPr>
          <a:xfrm>
            <a:off x="1219320" y="468360"/>
            <a:ext cx="304560" cy="304560"/>
          </a:xfrm>
          <a:prstGeom prst="rect">
            <a:avLst/>
          </a:prstGeom>
          <a:ln w="0">
            <a:noFill/>
          </a:ln>
        </p:spPr>
      </p:pic>
      <p:sp>
        <p:nvSpPr>
          <p:cNvPr id="89"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90"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91"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92"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93" name="Text 4"/>
          <p:cNvSpPr/>
          <p:nvPr/>
        </p:nvSpPr>
        <p:spPr>
          <a:xfrm>
            <a:off x="1409760" y="1619280"/>
            <a:ext cx="26168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02 · SURFACES</a:t>
            </a:r>
            <a:endParaRPr b="0" lang="en-AU" sz="1350" spc="-1" strike="noStrike">
              <a:solidFill>
                <a:srgbClr val="000000"/>
              </a:solidFill>
              <a:latin typeface="Arial"/>
            </a:endParaRPr>
          </a:p>
        </p:txBody>
      </p:sp>
      <p:sp>
        <p:nvSpPr>
          <p:cNvPr id="94"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Where Claude lives.</a:t>
            </a:r>
            <a:endParaRPr b="0" lang="en-AU" sz="7200" spc="-1" strike="noStrike">
              <a:solidFill>
                <a:srgbClr val="000000"/>
              </a:solidFill>
              <a:latin typeface="Arial"/>
            </a:endParaRPr>
          </a:p>
        </p:txBody>
      </p:sp>
      <p:sp>
        <p:nvSpPr>
          <p:cNvPr id="95" name="Shape 6"/>
          <p:cNvSpPr/>
          <p:nvPr/>
        </p:nvSpPr>
        <p:spPr>
          <a:xfrm>
            <a:off x="1219320" y="3544200"/>
            <a:ext cx="3790440" cy="2624400"/>
          </a:xfrm>
          <a:prstGeom prst="roundRect">
            <a:avLst>
              <a:gd name="adj" fmla="val 5081"/>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96" name="Shape 7"/>
          <p:cNvSpPr/>
          <p:nvPr/>
        </p:nvSpPr>
        <p:spPr>
          <a:xfrm>
            <a:off x="1609560" y="3896640"/>
            <a:ext cx="58140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97" name="Text 8"/>
          <p:cNvSpPr/>
          <p:nvPr/>
        </p:nvSpPr>
        <p:spPr>
          <a:xfrm>
            <a:off x="1752480" y="3963240"/>
            <a:ext cx="3718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WEB</a:t>
            </a:r>
            <a:endParaRPr b="0" lang="en-AU" sz="1050" spc="-1" strike="noStrike">
              <a:solidFill>
                <a:srgbClr val="000000"/>
              </a:solidFill>
              <a:latin typeface="Arial"/>
            </a:endParaRPr>
          </a:p>
        </p:txBody>
      </p:sp>
      <p:sp>
        <p:nvSpPr>
          <p:cNvPr id="98" name="Text 9"/>
          <p:cNvSpPr/>
          <p:nvPr/>
        </p:nvSpPr>
        <p:spPr>
          <a:xfrm>
            <a:off x="1609560" y="4409280"/>
            <a:ext cx="309996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Claude.ai</a:t>
            </a:r>
            <a:endParaRPr b="0" lang="en-AU" sz="2400" spc="-1" strike="noStrike">
              <a:solidFill>
                <a:srgbClr val="000000"/>
              </a:solidFill>
              <a:latin typeface="Arial"/>
            </a:endParaRPr>
          </a:p>
        </p:txBody>
      </p:sp>
      <p:sp>
        <p:nvSpPr>
          <p:cNvPr id="99" name="Text 10"/>
          <p:cNvSpPr/>
          <p:nvPr/>
        </p:nvSpPr>
        <p:spPr>
          <a:xfrm>
            <a:off x="1609560" y="4874040"/>
            <a:ext cx="3099960" cy="8521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430" spc="-7" strike="noStrike">
                <a:solidFill>
                  <a:srgbClr val="1f2329"/>
                </a:solidFill>
                <a:latin typeface="Inter"/>
                <a:ea typeface="Inter"/>
              </a:rPr>
              <a:t>Browser-based chat — best for conversations, writing, research, file creation.</a:t>
            </a:r>
            <a:endParaRPr b="0" lang="en-AU" sz="1430" spc="-1" strike="noStrike">
              <a:solidFill>
                <a:srgbClr val="000000"/>
              </a:solidFill>
              <a:latin typeface="Arial"/>
            </a:endParaRPr>
          </a:p>
        </p:txBody>
      </p:sp>
      <p:sp>
        <p:nvSpPr>
          <p:cNvPr id="100" name="Shape 11"/>
          <p:cNvSpPr/>
          <p:nvPr/>
        </p:nvSpPr>
        <p:spPr>
          <a:xfrm>
            <a:off x="5238720" y="3544200"/>
            <a:ext cx="3790440" cy="2624400"/>
          </a:xfrm>
          <a:prstGeom prst="roundRect">
            <a:avLst>
              <a:gd name="adj" fmla="val 5081"/>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01" name="Shape 12"/>
          <p:cNvSpPr/>
          <p:nvPr/>
        </p:nvSpPr>
        <p:spPr>
          <a:xfrm>
            <a:off x="5629320" y="3896640"/>
            <a:ext cx="58140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02" name="Text 13"/>
          <p:cNvSpPr/>
          <p:nvPr/>
        </p:nvSpPr>
        <p:spPr>
          <a:xfrm>
            <a:off x="5772240" y="3963240"/>
            <a:ext cx="3718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WEB</a:t>
            </a:r>
            <a:endParaRPr b="0" lang="en-AU" sz="1050" spc="-1" strike="noStrike">
              <a:solidFill>
                <a:srgbClr val="000000"/>
              </a:solidFill>
              <a:latin typeface="Arial"/>
            </a:endParaRPr>
          </a:p>
        </p:txBody>
      </p:sp>
      <p:sp>
        <p:nvSpPr>
          <p:cNvPr id="103" name="Text 14"/>
          <p:cNvSpPr/>
          <p:nvPr/>
        </p:nvSpPr>
        <p:spPr>
          <a:xfrm>
            <a:off x="5629320" y="4409280"/>
            <a:ext cx="309996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claude.ai/design</a:t>
            </a:r>
            <a:endParaRPr b="0" lang="en-AU" sz="2400" spc="-1" strike="noStrike">
              <a:solidFill>
                <a:srgbClr val="000000"/>
              </a:solidFill>
              <a:latin typeface="Arial"/>
            </a:endParaRPr>
          </a:p>
        </p:txBody>
      </p:sp>
      <p:sp>
        <p:nvSpPr>
          <p:cNvPr id="104" name="Text 15"/>
          <p:cNvSpPr/>
          <p:nvPr/>
        </p:nvSpPr>
        <p:spPr>
          <a:xfrm>
            <a:off x="5629320" y="4874040"/>
            <a:ext cx="3099960" cy="580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430" spc="-7" strike="noStrike">
                <a:solidFill>
                  <a:srgbClr val="1f2329"/>
                </a:solidFill>
                <a:latin typeface="Inter"/>
                <a:ea typeface="Inter"/>
              </a:rPr>
              <a:t>Full design framework for marketing material and web pages.</a:t>
            </a:r>
            <a:endParaRPr b="0" lang="en-AU" sz="1430" spc="-1" strike="noStrike">
              <a:solidFill>
                <a:srgbClr val="000000"/>
              </a:solidFill>
              <a:latin typeface="Arial"/>
            </a:endParaRPr>
          </a:p>
        </p:txBody>
      </p:sp>
      <p:sp>
        <p:nvSpPr>
          <p:cNvPr id="105" name="Shape 16"/>
          <p:cNvSpPr/>
          <p:nvPr/>
        </p:nvSpPr>
        <p:spPr>
          <a:xfrm>
            <a:off x="9258480" y="3544200"/>
            <a:ext cx="3790440" cy="2624400"/>
          </a:xfrm>
          <a:prstGeom prst="roundRect">
            <a:avLst>
              <a:gd name="adj" fmla="val 5081"/>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06" name="Shape 17"/>
          <p:cNvSpPr/>
          <p:nvPr/>
        </p:nvSpPr>
        <p:spPr>
          <a:xfrm>
            <a:off x="9648720" y="3896640"/>
            <a:ext cx="117360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07" name="Text 18"/>
          <p:cNvSpPr/>
          <p:nvPr/>
        </p:nvSpPr>
        <p:spPr>
          <a:xfrm>
            <a:off x="9791640" y="3963240"/>
            <a:ext cx="9640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WORKSPACE</a:t>
            </a:r>
            <a:endParaRPr b="0" lang="en-AU" sz="1050" spc="-1" strike="noStrike">
              <a:solidFill>
                <a:srgbClr val="000000"/>
              </a:solidFill>
              <a:latin typeface="Arial"/>
            </a:endParaRPr>
          </a:p>
        </p:txBody>
      </p:sp>
      <p:sp>
        <p:nvSpPr>
          <p:cNvPr id="108" name="Text 19"/>
          <p:cNvSpPr/>
          <p:nvPr/>
        </p:nvSpPr>
        <p:spPr>
          <a:xfrm>
            <a:off x="9648720" y="4409280"/>
            <a:ext cx="309996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Slack</a:t>
            </a:r>
            <a:endParaRPr b="0" lang="en-AU" sz="2400" spc="-1" strike="noStrike">
              <a:solidFill>
                <a:srgbClr val="000000"/>
              </a:solidFill>
              <a:latin typeface="Arial"/>
            </a:endParaRPr>
          </a:p>
        </p:txBody>
      </p:sp>
      <p:sp>
        <p:nvSpPr>
          <p:cNvPr id="109" name="Text 20"/>
          <p:cNvSpPr/>
          <p:nvPr/>
        </p:nvSpPr>
        <p:spPr>
          <a:xfrm>
            <a:off x="9648720" y="4874040"/>
            <a:ext cx="3099960" cy="8521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430" spc="-7" strike="noStrike">
                <a:solidFill>
                  <a:srgbClr val="1f2329"/>
                </a:solidFill>
                <a:latin typeface="Inter"/>
                <a:ea typeface="Inter"/>
              </a:rPr>
              <a:t>@Claude in any thread. Searches your workspace's channels, DMs and shared files.</a:t>
            </a:r>
            <a:endParaRPr b="0" lang="en-AU" sz="1430" spc="-1" strike="noStrike">
              <a:solidFill>
                <a:srgbClr val="000000"/>
              </a:solidFill>
              <a:latin typeface="Arial"/>
            </a:endParaRPr>
          </a:p>
        </p:txBody>
      </p:sp>
      <p:sp>
        <p:nvSpPr>
          <p:cNvPr id="110" name="Shape 21"/>
          <p:cNvSpPr/>
          <p:nvPr/>
        </p:nvSpPr>
        <p:spPr>
          <a:xfrm>
            <a:off x="13277880" y="3544200"/>
            <a:ext cx="3790440" cy="2624400"/>
          </a:xfrm>
          <a:prstGeom prst="roundRect">
            <a:avLst>
              <a:gd name="adj" fmla="val 5081"/>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11" name="Shape 22"/>
          <p:cNvSpPr/>
          <p:nvPr/>
        </p:nvSpPr>
        <p:spPr>
          <a:xfrm>
            <a:off x="13668480" y="3896640"/>
            <a:ext cx="117360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12" name="Text 23"/>
          <p:cNvSpPr/>
          <p:nvPr/>
        </p:nvSpPr>
        <p:spPr>
          <a:xfrm>
            <a:off x="13811400" y="3963240"/>
            <a:ext cx="9640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WORKSPACE</a:t>
            </a:r>
            <a:endParaRPr b="0" lang="en-AU" sz="1050" spc="-1" strike="noStrike">
              <a:solidFill>
                <a:srgbClr val="000000"/>
              </a:solidFill>
              <a:latin typeface="Arial"/>
            </a:endParaRPr>
          </a:p>
        </p:txBody>
      </p:sp>
      <p:sp>
        <p:nvSpPr>
          <p:cNvPr id="113" name="Text 24"/>
          <p:cNvSpPr/>
          <p:nvPr/>
        </p:nvSpPr>
        <p:spPr>
          <a:xfrm>
            <a:off x="13668480" y="4409280"/>
            <a:ext cx="309996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Excel · PowerPoint</a:t>
            </a:r>
            <a:endParaRPr b="0" lang="en-AU" sz="2400" spc="-1" strike="noStrike">
              <a:solidFill>
                <a:srgbClr val="000000"/>
              </a:solidFill>
              <a:latin typeface="Arial"/>
            </a:endParaRPr>
          </a:p>
        </p:txBody>
      </p:sp>
      <p:sp>
        <p:nvSpPr>
          <p:cNvPr id="114" name="Text 25"/>
          <p:cNvSpPr/>
          <p:nvPr/>
        </p:nvSpPr>
        <p:spPr>
          <a:xfrm>
            <a:off x="13668480" y="4874040"/>
            <a:ext cx="3099960" cy="8521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430" spc="-7" strike="noStrike">
                <a:solidFill>
                  <a:srgbClr val="1f2329"/>
                </a:solidFill>
                <a:latin typeface="Inter"/>
                <a:ea typeface="Inter"/>
              </a:rPr>
              <a:t>Sidebar in Microsoft Office. Reads, analyzes, modifies, creates workbooks &amp; decks.</a:t>
            </a:r>
            <a:endParaRPr b="0" lang="en-AU" sz="1430" spc="-1" strike="noStrike">
              <a:solidFill>
                <a:srgbClr val="000000"/>
              </a:solidFill>
              <a:latin typeface="Arial"/>
            </a:endParaRPr>
          </a:p>
        </p:txBody>
      </p:sp>
      <p:sp>
        <p:nvSpPr>
          <p:cNvPr id="115" name="Shape 26"/>
          <p:cNvSpPr/>
          <p:nvPr/>
        </p:nvSpPr>
        <p:spPr>
          <a:xfrm>
            <a:off x="1219320" y="6397200"/>
            <a:ext cx="3790440" cy="2975040"/>
          </a:xfrm>
          <a:prstGeom prst="roundRect">
            <a:avLst>
              <a:gd name="adj" fmla="val 448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16" name="Shape 27"/>
          <p:cNvSpPr/>
          <p:nvPr/>
        </p:nvSpPr>
        <p:spPr>
          <a:xfrm>
            <a:off x="1609560" y="6749640"/>
            <a:ext cx="97632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17" name="Text 28"/>
          <p:cNvSpPr/>
          <p:nvPr/>
        </p:nvSpPr>
        <p:spPr>
          <a:xfrm>
            <a:off x="1752480" y="6816600"/>
            <a:ext cx="76680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DESKTOP</a:t>
            </a:r>
            <a:endParaRPr b="0" lang="en-AU" sz="1050" spc="-1" strike="noStrike">
              <a:solidFill>
                <a:srgbClr val="000000"/>
              </a:solidFill>
              <a:latin typeface="Arial"/>
            </a:endParaRPr>
          </a:p>
        </p:txBody>
      </p:sp>
      <p:sp>
        <p:nvSpPr>
          <p:cNvPr id="118" name="Text 29"/>
          <p:cNvSpPr/>
          <p:nvPr/>
        </p:nvSpPr>
        <p:spPr>
          <a:xfrm>
            <a:off x="1609560" y="7262640"/>
            <a:ext cx="309996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Cowork</a:t>
            </a:r>
            <a:endParaRPr b="0" lang="en-AU" sz="2400" spc="-1" strike="noStrike">
              <a:solidFill>
                <a:srgbClr val="000000"/>
              </a:solidFill>
              <a:latin typeface="Arial"/>
            </a:endParaRPr>
          </a:p>
        </p:txBody>
      </p:sp>
      <p:sp>
        <p:nvSpPr>
          <p:cNvPr id="119" name="Text 30"/>
          <p:cNvSpPr/>
          <p:nvPr/>
        </p:nvSpPr>
        <p:spPr>
          <a:xfrm>
            <a:off x="1609560" y="7727400"/>
            <a:ext cx="3099960" cy="8521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430" spc="-7" strike="noStrike">
                <a:solidFill>
                  <a:srgbClr val="1f2329"/>
                </a:solidFill>
                <a:latin typeface="Inter"/>
                <a:ea typeface="Inter"/>
              </a:rPr>
              <a:t>For accessing &amp; manipulating documents on your desktop. The day-to-day work driver.</a:t>
            </a:r>
            <a:endParaRPr b="0" lang="en-AU" sz="1430" spc="-1" strike="noStrike">
              <a:solidFill>
                <a:srgbClr val="000000"/>
              </a:solidFill>
              <a:latin typeface="Arial"/>
            </a:endParaRPr>
          </a:p>
        </p:txBody>
      </p:sp>
      <p:sp>
        <p:nvSpPr>
          <p:cNvPr id="120" name="Shape 31"/>
          <p:cNvSpPr/>
          <p:nvPr/>
        </p:nvSpPr>
        <p:spPr>
          <a:xfrm>
            <a:off x="5238720" y="6397200"/>
            <a:ext cx="3790440" cy="2975040"/>
          </a:xfrm>
          <a:prstGeom prst="roundRect">
            <a:avLst>
              <a:gd name="adj" fmla="val 448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21" name="Shape 32"/>
          <p:cNvSpPr/>
          <p:nvPr/>
        </p:nvSpPr>
        <p:spPr>
          <a:xfrm>
            <a:off x="5629320" y="6749640"/>
            <a:ext cx="97632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22" name="Text 33"/>
          <p:cNvSpPr/>
          <p:nvPr/>
        </p:nvSpPr>
        <p:spPr>
          <a:xfrm>
            <a:off x="5772240" y="6816600"/>
            <a:ext cx="76680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DESKTOP</a:t>
            </a:r>
            <a:endParaRPr b="0" lang="en-AU" sz="1050" spc="-1" strike="noStrike">
              <a:solidFill>
                <a:srgbClr val="000000"/>
              </a:solidFill>
              <a:latin typeface="Arial"/>
            </a:endParaRPr>
          </a:p>
        </p:txBody>
      </p:sp>
      <p:sp>
        <p:nvSpPr>
          <p:cNvPr id="123" name="Text 34"/>
          <p:cNvSpPr/>
          <p:nvPr/>
        </p:nvSpPr>
        <p:spPr>
          <a:xfrm>
            <a:off x="5629320" y="7262640"/>
            <a:ext cx="309996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Claude Code</a:t>
            </a:r>
            <a:endParaRPr b="0" lang="en-AU" sz="2400" spc="-1" strike="noStrike">
              <a:solidFill>
                <a:srgbClr val="000000"/>
              </a:solidFill>
              <a:latin typeface="Arial"/>
            </a:endParaRPr>
          </a:p>
        </p:txBody>
      </p:sp>
      <p:sp>
        <p:nvSpPr>
          <p:cNvPr id="124" name="Text 35"/>
          <p:cNvSpPr/>
          <p:nvPr/>
        </p:nvSpPr>
        <p:spPr>
          <a:xfrm>
            <a:off x="5629320" y="7727400"/>
            <a:ext cx="3099960" cy="852120"/>
          </a:xfrm>
          <a:prstGeom prst="rect">
            <a:avLst/>
          </a:prstGeom>
          <a:noFill/>
          <a:ln w="0">
            <a:noFill/>
          </a:ln>
        </p:spPr>
        <p:style>
          <a:lnRef idx="0"/>
          <a:fillRef idx="0"/>
          <a:effectRef idx="0"/>
          <a:fontRef idx="minor"/>
        </p:style>
        <p:txBody>
          <a:bodyPr lIns="25560" rIns="25560" tIns="25560" bIns="25560" anchor="t">
            <a:normAutofit fontScale="93333" lnSpcReduction="10000"/>
          </a:bodyPr>
          <a:p>
            <a:pPr defTabSz="914400">
              <a:lnSpc>
                <a:spcPct val="150000"/>
              </a:lnSpc>
              <a:tabLst>
                <a:tab algn="l" pos="0"/>
              </a:tabLst>
            </a:pPr>
            <a:r>
              <a:rPr b="0" lang="en-US" sz="1430" spc="-7" strike="noStrike">
                <a:solidFill>
                  <a:srgbClr val="1f2329"/>
                </a:solidFill>
                <a:latin typeface="Inter"/>
                <a:ea typeface="Inter"/>
              </a:rPr>
              <a:t>Agentic coding tool. Reads your codebase, writes &amp; modifies code, runs commands.</a:t>
            </a:r>
            <a:endParaRPr b="0" lang="en-AU" sz="1430" spc="-1" strike="noStrike">
              <a:solidFill>
                <a:srgbClr val="000000"/>
              </a:solidFill>
              <a:latin typeface="Arial"/>
            </a:endParaRPr>
          </a:p>
        </p:txBody>
      </p:sp>
      <p:sp>
        <p:nvSpPr>
          <p:cNvPr id="125" name="Shape 36"/>
          <p:cNvSpPr/>
          <p:nvPr/>
        </p:nvSpPr>
        <p:spPr>
          <a:xfrm>
            <a:off x="9258480" y="6397200"/>
            <a:ext cx="3790440" cy="2975040"/>
          </a:xfrm>
          <a:prstGeom prst="roundRect">
            <a:avLst>
              <a:gd name="adj" fmla="val 448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26" name="Shape 37"/>
          <p:cNvSpPr/>
          <p:nvPr/>
        </p:nvSpPr>
        <p:spPr>
          <a:xfrm>
            <a:off x="9648720" y="6749640"/>
            <a:ext cx="97632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27" name="Text 38"/>
          <p:cNvSpPr/>
          <p:nvPr/>
        </p:nvSpPr>
        <p:spPr>
          <a:xfrm>
            <a:off x="9791640" y="6816600"/>
            <a:ext cx="76680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DESKTOP</a:t>
            </a:r>
            <a:endParaRPr b="0" lang="en-AU" sz="1050" spc="-1" strike="noStrike">
              <a:solidFill>
                <a:srgbClr val="000000"/>
              </a:solidFill>
              <a:latin typeface="Arial"/>
            </a:endParaRPr>
          </a:p>
        </p:txBody>
      </p:sp>
      <p:sp>
        <p:nvSpPr>
          <p:cNvPr id="128" name="Text 39"/>
          <p:cNvSpPr/>
          <p:nvPr/>
        </p:nvSpPr>
        <p:spPr>
          <a:xfrm>
            <a:off x="9648720" y="7262640"/>
            <a:ext cx="309996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Chat</a:t>
            </a:r>
            <a:endParaRPr b="0" lang="en-AU" sz="2400" spc="-1" strike="noStrike">
              <a:solidFill>
                <a:srgbClr val="000000"/>
              </a:solidFill>
              <a:latin typeface="Arial"/>
            </a:endParaRPr>
          </a:p>
        </p:txBody>
      </p:sp>
      <p:sp>
        <p:nvSpPr>
          <p:cNvPr id="129" name="Text 40"/>
          <p:cNvSpPr/>
          <p:nvPr/>
        </p:nvSpPr>
        <p:spPr>
          <a:xfrm>
            <a:off x="9648720" y="7727400"/>
            <a:ext cx="3099960" cy="852120"/>
          </a:xfrm>
          <a:prstGeom prst="rect">
            <a:avLst/>
          </a:prstGeom>
          <a:noFill/>
          <a:ln w="0">
            <a:noFill/>
          </a:ln>
        </p:spPr>
        <p:style>
          <a:lnRef idx="0"/>
          <a:fillRef idx="0"/>
          <a:effectRef idx="0"/>
          <a:fontRef idx="minor"/>
        </p:style>
        <p:txBody>
          <a:bodyPr lIns="25560" rIns="25560" tIns="25560" bIns="25560" anchor="t">
            <a:normAutofit fontScale="93333" lnSpcReduction="10000"/>
          </a:bodyPr>
          <a:p>
            <a:pPr defTabSz="914400">
              <a:lnSpc>
                <a:spcPct val="150000"/>
              </a:lnSpc>
              <a:tabLst>
                <a:tab algn="l" pos="0"/>
              </a:tabLst>
            </a:pPr>
            <a:r>
              <a:rPr b="0" lang="en-US" sz="1430" spc="-7" strike="noStrike">
                <a:solidFill>
                  <a:srgbClr val="1f2329"/>
                </a:solidFill>
                <a:latin typeface="Inter"/>
                <a:ea typeface="Inter"/>
              </a:rPr>
              <a:t>Lightweight conversational surface — like claude.ai, but native to your machine.</a:t>
            </a:r>
            <a:endParaRPr b="0" lang="en-AU" sz="1430" spc="-1" strike="noStrike">
              <a:solidFill>
                <a:srgbClr val="000000"/>
              </a:solidFill>
              <a:latin typeface="Arial"/>
            </a:endParaRPr>
          </a:p>
        </p:txBody>
      </p:sp>
      <p:sp>
        <p:nvSpPr>
          <p:cNvPr id="130" name="Shape 41"/>
          <p:cNvSpPr/>
          <p:nvPr/>
        </p:nvSpPr>
        <p:spPr>
          <a:xfrm>
            <a:off x="13277880" y="6397200"/>
            <a:ext cx="3790440" cy="2975040"/>
          </a:xfrm>
          <a:prstGeom prst="roundRect">
            <a:avLst>
              <a:gd name="adj" fmla="val 448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31" name="Shape 42"/>
          <p:cNvSpPr/>
          <p:nvPr/>
        </p:nvSpPr>
        <p:spPr>
          <a:xfrm>
            <a:off x="13668480" y="6749640"/>
            <a:ext cx="1173600" cy="340920"/>
          </a:xfrm>
          <a:prstGeom prst="roundRect">
            <a:avLst>
              <a:gd name="adj" fmla="val 50000"/>
            </a:avLst>
          </a:prstGeom>
          <a:solidFill>
            <a:srgbClr val="0e1116"/>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32" name="Text 43"/>
          <p:cNvSpPr/>
          <p:nvPr/>
        </p:nvSpPr>
        <p:spPr>
          <a:xfrm>
            <a:off x="13811400" y="6816600"/>
            <a:ext cx="9640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f4efe6"/>
                </a:solidFill>
                <a:latin typeface="JetBrains Mono"/>
                <a:ea typeface="JetBrains Mono"/>
              </a:rPr>
              <a:t>DEVELOPER</a:t>
            </a:r>
            <a:endParaRPr b="0" lang="en-AU" sz="1050" spc="-1" strike="noStrike">
              <a:solidFill>
                <a:srgbClr val="000000"/>
              </a:solidFill>
              <a:latin typeface="Arial"/>
            </a:endParaRPr>
          </a:p>
        </p:txBody>
      </p:sp>
      <p:sp>
        <p:nvSpPr>
          <p:cNvPr id="133" name="Text 44"/>
          <p:cNvSpPr/>
          <p:nvPr/>
        </p:nvSpPr>
        <p:spPr>
          <a:xfrm>
            <a:off x="13668480" y="7262640"/>
            <a:ext cx="3099960" cy="738720"/>
          </a:xfrm>
          <a:prstGeom prst="rect">
            <a:avLst/>
          </a:prstGeom>
          <a:noFill/>
          <a:ln w="0">
            <a:noFill/>
          </a:ln>
        </p:spPr>
        <p:style>
          <a:lnRef idx="0"/>
          <a:fillRef idx="0"/>
          <a:effectRef idx="0"/>
          <a:fontRef idx="minor"/>
        </p:style>
        <p:txBody>
          <a:bodyPr lIns="25560" rIns="25560" tIns="25560" bIns="25560" anchor="t">
            <a:normAutofit fontScale="93333" lnSpcReduction="10000"/>
          </a:bodyPr>
          <a:p>
            <a:pPr defTabSz="914400">
              <a:lnSpc>
                <a:spcPct val="115000"/>
              </a:lnSpc>
              <a:tabLst>
                <a:tab algn="l" pos="0"/>
              </a:tabLst>
            </a:pPr>
            <a:r>
              <a:rPr b="1" lang="en-US" sz="2400" spc="-29" strike="noStrike">
                <a:solidFill>
                  <a:srgbClr val="0e1116"/>
                </a:solidFill>
                <a:latin typeface="Space Grotesk"/>
                <a:ea typeface="Space Grotesk"/>
              </a:rPr>
              <a:t>Managed agents &amp; API</a:t>
            </a:r>
            <a:endParaRPr b="0" lang="en-AU" sz="2400" spc="-1" strike="noStrike">
              <a:solidFill>
                <a:srgbClr val="000000"/>
              </a:solidFill>
              <a:latin typeface="Arial"/>
            </a:endParaRPr>
          </a:p>
        </p:txBody>
      </p:sp>
      <p:sp>
        <p:nvSpPr>
          <p:cNvPr id="134" name="Text 45"/>
          <p:cNvSpPr/>
          <p:nvPr/>
        </p:nvSpPr>
        <p:spPr>
          <a:xfrm>
            <a:off x="13668480" y="8077680"/>
            <a:ext cx="3099960" cy="852120"/>
          </a:xfrm>
          <a:prstGeom prst="rect">
            <a:avLst/>
          </a:prstGeom>
          <a:noFill/>
          <a:ln w="0">
            <a:noFill/>
          </a:ln>
        </p:spPr>
        <p:style>
          <a:lnRef idx="0"/>
          <a:fillRef idx="0"/>
          <a:effectRef idx="0"/>
          <a:fontRef idx="minor"/>
        </p:style>
        <p:txBody>
          <a:bodyPr lIns="25560" rIns="25560" tIns="25560" bIns="25560" anchor="t">
            <a:normAutofit fontScale="96666" lnSpcReduction="20000"/>
          </a:bodyPr>
          <a:p>
            <a:pPr defTabSz="914400">
              <a:lnSpc>
                <a:spcPct val="150000"/>
              </a:lnSpc>
              <a:tabLst>
                <a:tab algn="l" pos="0"/>
              </a:tabLst>
            </a:pPr>
            <a:r>
              <a:rPr b="0" lang="en-US" sz="1430" spc="-7" strike="noStrike">
                <a:solidFill>
                  <a:srgbClr val="1f2329"/>
                </a:solidFill>
                <a:latin typeface="Inter"/>
                <a:ea typeface="Inter"/>
              </a:rPr>
              <a:t>Build your own — programmatic access to Claude for production systems.</a:t>
            </a:r>
            <a:endParaRPr b="0" lang="en-AU" sz="1430" spc="-1" strike="noStrike">
              <a:solidFill>
                <a:srgbClr val="000000"/>
              </a:solidFill>
              <a:latin typeface="Arial"/>
            </a:endParaRPr>
          </a:p>
        </p:txBody>
      </p:sp>
      <p:sp>
        <p:nvSpPr>
          <p:cNvPr id="135" name="Text 46"/>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06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136" name="Image 0" descr="preencoded.png"/>
          <p:cNvPicPr/>
          <p:nvPr/>
        </p:nvPicPr>
        <p:blipFill>
          <a:blip r:embed="rId1"/>
          <a:stretch/>
        </p:blipFill>
        <p:spPr>
          <a:xfrm>
            <a:off x="1219320" y="468360"/>
            <a:ext cx="304560" cy="304560"/>
          </a:xfrm>
          <a:prstGeom prst="rect">
            <a:avLst/>
          </a:prstGeom>
          <a:ln w="0">
            <a:noFill/>
          </a:ln>
        </p:spPr>
      </p:pic>
      <p:sp>
        <p:nvSpPr>
          <p:cNvPr id="137"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138"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139"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140"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141" name="Text 4"/>
          <p:cNvSpPr/>
          <p:nvPr/>
        </p:nvSpPr>
        <p:spPr>
          <a:xfrm>
            <a:off x="1409760" y="1619280"/>
            <a:ext cx="38563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02 · THE FOUR SURFACES</a:t>
            </a:r>
            <a:endParaRPr b="0" lang="en-AU" sz="1350" spc="-1" strike="noStrike">
              <a:solidFill>
                <a:srgbClr val="000000"/>
              </a:solidFill>
              <a:latin typeface="Arial"/>
            </a:endParaRPr>
          </a:p>
        </p:txBody>
      </p:sp>
      <p:sp>
        <p:nvSpPr>
          <p:cNvPr id="142"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What it looks like.</a:t>
            </a:r>
            <a:endParaRPr b="0" lang="en-AU" sz="7200" spc="-1" strike="noStrike">
              <a:solidFill>
                <a:srgbClr val="000000"/>
              </a:solidFill>
              <a:latin typeface="Arial"/>
            </a:endParaRPr>
          </a:p>
        </p:txBody>
      </p:sp>
      <p:sp>
        <p:nvSpPr>
          <p:cNvPr id="143" name="Text 6"/>
          <p:cNvSpPr/>
          <p:nvPr/>
        </p:nvSpPr>
        <p:spPr>
          <a:xfrm>
            <a:off x="1219320" y="3124800"/>
            <a:ext cx="10791360" cy="4705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42000"/>
              </a:lnSpc>
              <a:tabLst>
                <a:tab algn="l" pos="0"/>
              </a:tabLst>
            </a:pPr>
            <a:r>
              <a:rPr b="0" lang="en-US" sz="2400" spc="-12" strike="noStrike">
                <a:solidFill>
                  <a:srgbClr val="1f2329"/>
                </a:solidFill>
                <a:latin typeface="Inter"/>
                <a:ea typeface="Inter"/>
              </a:rPr>
              <a:t>Same Claude — four very different rooms.</a:t>
            </a:r>
            <a:endParaRPr b="0" lang="en-AU" sz="2400" spc="-1" strike="noStrike">
              <a:solidFill>
                <a:srgbClr val="000000"/>
              </a:solidFill>
              <a:latin typeface="Arial"/>
            </a:endParaRPr>
          </a:p>
        </p:txBody>
      </p:sp>
      <p:sp>
        <p:nvSpPr>
          <p:cNvPr id="144" name="Shape 7"/>
          <p:cNvSpPr/>
          <p:nvPr/>
        </p:nvSpPr>
        <p:spPr>
          <a:xfrm>
            <a:off x="1219320" y="3938760"/>
            <a:ext cx="58140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45" name="Text 8"/>
          <p:cNvSpPr/>
          <p:nvPr/>
        </p:nvSpPr>
        <p:spPr>
          <a:xfrm>
            <a:off x="1362240" y="4005360"/>
            <a:ext cx="3718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WEB</a:t>
            </a:r>
            <a:endParaRPr b="0" lang="en-AU" sz="1050" spc="-1" strike="noStrike">
              <a:solidFill>
                <a:srgbClr val="000000"/>
              </a:solidFill>
              <a:latin typeface="Arial"/>
            </a:endParaRPr>
          </a:p>
        </p:txBody>
      </p:sp>
      <p:sp>
        <p:nvSpPr>
          <p:cNvPr id="146" name="Text 9"/>
          <p:cNvSpPr/>
          <p:nvPr/>
        </p:nvSpPr>
        <p:spPr>
          <a:xfrm>
            <a:off x="1934640" y="3945960"/>
            <a:ext cx="98352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18" strike="noStrike">
                <a:solidFill>
                  <a:srgbClr val="0e1116"/>
                </a:solidFill>
                <a:latin typeface="Space Grotesk"/>
                <a:ea typeface="Space Grotesk"/>
              </a:rPr>
              <a:t>Claude.ai</a:t>
            </a:r>
            <a:endParaRPr b="0" lang="en-AU" sz="1650" spc="-1" strike="noStrike">
              <a:solidFill>
                <a:srgbClr val="000000"/>
              </a:solidFill>
              <a:latin typeface="Arial"/>
            </a:endParaRPr>
          </a:p>
        </p:txBody>
      </p:sp>
      <p:sp>
        <p:nvSpPr>
          <p:cNvPr id="147" name="Text 10"/>
          <p:cNvSpPr/>
          <p:nvPr/>
        </p:nvSpPr>
        <p:spPr>
          <a:xfrm>
            <a:off x="8362440" y="3991320"/>
            <a:ext cx="723960" cy="27396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5000"/>
              </a:lnSpc>
              <a:tabLst>
                <a:tab algn="l" pos="0"/>
              </a:tabLst>
            </a:pPr>
            <a:r>
              <a:rPr b="0" lang="en-US" sz="1200" spc="-1" strike="noStrike">
                <a:solidFill>
                  <a:srgbClr val="1f2329"/>
                </a:solidFill>
                <a:latin typeface="Inter"/>
                <a:ea typeface="Inter"/>
              </a:rPr>
              <a:t>claude.ai</a:t>
            </a:r>
            <a:endParaRPr b="0" lang="en-AU" sz="1200" spc="-1" strike="noStrike">
              <a:solidFill>
                <a:srgbClr val="000000"/>
              </a:solidFill>
              <a:latin typeface="Arial"/>
            </a:endParaRPr>
          </a:p>
        </p:txBody>
      </p:sp>
      <p:sp>
        <p:nvSpPr>
          <p:cNvPr id="148" name="Shape 11"/>
          <p:cNvSpPr/>
          <p:nvPr/>
        </p:nvSpPr>
        <p:spPr>
          <a:xfrm>
            <a:off x="1219320" y="4413240"/>
            <a:ext cx="7791120" cy="3940920"/>
          </a:xfrm>
          <a:prstGeom prst="roundRect">
            <a:avLst>
              <a:gd name="adj" fmla="val 2417"/>
            </a:avLst>
          </a:prstGeom>
          <a:solidFill>
            <a:srgbClr val="ffffff"/>
          </a:solidFill>
          <a:ln w="9525">
            <a:solidFill>
              <a:srgbClr val="1f2329">
                <a:alpha val="14000"/>
              </a:srgbClr>
            </a:solidFill>
            <a:round/>
          </a:ln>
          <a:effectLst>
            <a:outerShdw algn="bl" blurRad="133200" dir="5400000" dist="38160" kx="0" ky="0" rotWithShape="0" sx="100000" sy="100000">
              <a:srgbClr val="0e1116">
                <a:alpha val="8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49" name="Shape 12"/>
          <p:cNvSpPr/>
          <p:nvPr/>
        </p:nvSpPr>
        <p:spPr>
          <a:xfrm>
            <a:off x="1228680" y="4422960"/>
            <a:ext cx="7772040" cy="294840"/>
          </a:xfrm>
          <a:prstGeom prst="rect">
            <a:avLst/>
          </a:prstGeom>
          <a:solidFill>
            <a:srgbClr val="f4efe6"/>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50" name="Shape 13"/>
          <p:cNvSpPr/>
          <p:nvPr/>
        </p:nvSpPr>
        <p:spPr>
          <a:xfrm>
            <a:off x="1228680" y="4708800"/>
            <a:ext cx="777204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151" name="Shape 14"/>
          <p:cNvSpPr/>
          <p:nvPr/>
        </p:nvSpPr>
        <p:spPr>
          <a:xfrm>
            <a:off x="1343160" y="4518000"/>
            <a:ext cx="95040" cy="95040"/>
          </a:xfrm>
          <a:prstGeom prst="ellipse">
            <a:avLst/>
          </a:prstGeom>
          <a:solidFill>
            <a:srgbClr val="e36a2c"/>
          </a:solidFill>
          <a:ln w="0">
            <a:noFill/>
          </a:ln>
        </p:spPr>
        <p:style>
          <a:lnRef idx="0"/>
          <a:fillRef idx="0"/>
          <a:effectRef idx="0"/>
          <a:fontRef idx="minor"/>
        </p:style>
        <p:txBody>
          <a:bodyPr lIns="90000" rIns="90000" tIns="22680" bIns="22680" anchor="t">
            <a:noAutofit/>
          </a:bodyPr>
          <a:p>
            <a:endParaRPr b="0" lang="en-AU" sz="1800" spc="-1" strike="noStrike">
              <a:solidFill>
                <a:srgbClr val="ffffff"/>
              </a:solidFill>
              <a:latin typeface="Arial"/>
            </a:endParaRPr>
          </a:p>
        </p:txBody>
      </p:sp>
      <p:sp>
        <p:nvSpPr>
          <p:cNvPr id="152" name="Shape 15"/>
          <p:cNvSpPr/>
          <p:nvPr/>
        </p:nvSpPr>
        <p:spPr>
          <a:xfrm>
            <a:off x="1495440" y="4518000"/>
            <a:ext cx="95040" cy="95040"/>
          </a:xfrm>
          <a:prstGeom prst="ellipse">
            <a:avLst/>
          </a:prstGeom>
          <a:solidFill>
            <a:srgbClr val="a8a097"/>
          </a:solidFill>
          <a:ln w="0">
            <a:noFill/>
          </a:ln>
        </p:spPr>
        <p:style>
          <a:lnRef idx="0"/>
          <a:fillRef idx="0"/>
          <a:effectRef idx="0"/>
          <a:fontRef idx="minor"/>
        </p:style>
        <p:txBody>
          <a:bodyPr lIns="90000" rIns="90000" tIns="22680" bIns="22680" anchor="t">
            <a:noAutofit/>
          </a:bodyPr>
          <a:p>
            <a:endParaRPr b="0" lang="en-AU" sz="1800" spc="-1" strike="noStrike">
              <a:solidFill>
                <a:srgbClr val="000000"/>
              </a:solidFill>
              <a:latin typeface="Arial"/>
            </a:endParaRPr>
          </a:p>
        </p:txBody>
      </p:sp>
      <p:sp>
        <p:nvSpPr>
          <p:cNvPr id="153" name="Shape 16"/>
          <p:cNvSpPr/>
          <p:nvPr/>
        </p:nvSpPr>
        <p:spPr>
          <a:xfrm>
            <a:off x="1647720" y="4518000"/>
            <a:ext cx="95040" cy="95040"/>
          </a:xfrm>
          <a:prstGeom prst="ellipse">
            <a:avLst/>
          </a:prstGeom>
          <a:solidFill>
            <a:srgbClr val="a8a097"/>
          </a:solidFill>
          <a:ln w="0">
            <a:noFill/>
          </a:ln>
        </p:spPr>
        <p:style>
          <a:lnRef idx="0"/>
          <a:fillRef idx="0"/>
          <a:effectRef idx="0"/>
          <a:fontRef idx="minor"/>
        </p:style>
        <p:txBody>
          <a:bodyPr lIns="90000" rIns="90000" tIns="22680" bIns="22680" anchor="t">
            <a:noAutofit/>
          </a:bodyPr>
          <a:p>
            <a:endParaRPr b="0" lang="en-AU" sz="1800" spc="-1" strike="noStrike">
              <a:solidFill>
                <a:srgbClr val="000000"/>
              </a:solidFill>
              <a:latin typeface="Arial"/>
            </a:endParaRPr>
          </a:p>
        </p:txBody>
      </p:sp>
      <p:sp>
        <p:nvSpPr>
          <p:cNvPr id="154" name="Text 17"/>
          <p:cNvSpPr/>
          <p:nvPr/>
        </p:nvSpPr>
        <p:spPr>
          <a:xfrm>
            <a:off x="1952640" y="4484160"/>
            <a:ext cx="754920" cy="201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820" spc="97" strike="noStrike">
                <a:solidFill>
                  <a:srgbClr val="7a736a"/>
                </a:solidFill>
                <a:latin typeface="JetBrains Mono"/>
                <a:ea typeface="JetBrains Mono"/>
              </a:rPr>
              <a:t>claude.ai</a:t>
            </a:r>
            <a:endParaRPr b="0" lang="en-AU" sz="820" spc="-1" strike="noStrike">
              <a:solidFill>
                <a:srgbClr val="000000"/>
              </a:solidFill>
              <a:latin typeface="Arial"/>
            </a:endParaRPr>
          </a:p>
        </p:txBody>
      </p:sp>
      <p:sp>
        <p:nvSpPr>
          <p:cNvPr id="155" name="Shape 18"/>
          <p:cNvSpPr/>
          <p:nvPr/>
        </p:nvSpPr>
        <p:spPr>
          <a:xfrm>
            <a:off x="1228680" y="4718160"/>
            <a:ext cx="7772040" cy="3626640"/>
          </a:xfrm>
          <a:prstGeom prst="rect">
            <a:avLst/>
          </a:prstGeom>
          <a:solidFill>
            <a:srgbClr val="fbf8f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pic>
        <p:nvPicPr>
          <p:cNvPr id="156" name="Image 1" descr="preencoded.png"/>
          <p:cNvPicPr/>
          <p:nvPr/>
        </p:nvPicPr>
        <p:blipFill>
          <a:blip r:embed="rId2"/>
          <a:stretch/>
        </p:blipFill>
        <p:spPr>
          <a:xfrm>
            <a:off x="1228680" y="4718160"/>
            <a:ext cx="7772040" cy="3626640"/>
          </a:xfrm>
          <a:prstGeom prst="rect">
            <a:avLst/>
          </a:prstGeom>
          <a:ln w="0">
            <a:noFill/>
          </a:ln>
        </p:spPr>
      </p:pic>
      <p:sp>
        <p:nvSpPr>
          <p:cNvPr id="157" name="Shape 19"/>
          <p:cNvSpPr/>
          <p:nvPr/>
        </p:nvSpPr>
        <p:spPr>
          <a:xfrm>
            <a:off x="9277200" y="3938760"/>
            <a:ext cx="58140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58" name="Text 20"/>
          <p:cNvSpPr/>
          <p:nvPr/>
        </p:nvSpPr>
        <p:spPr>
          <a:xfrm>
            <a:off x="9420120" y="4005360"/>
            <a:ext cx="3718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WEB</a:t>
            </a:r>
            <a:endParaRPr b="0" lang="en-AU" sz="1050" spc="-1" strike="noStrike">
              <a:solidFill>
                <a:srgbClr val="000000"/>
              </a:solidFill>
              <a:latin typeface="Arial"/>
            </a:endParaRPr>
          </a:p>
        </p:txBody>
      </p:sp>
      <p:sp>
        <p:nvSpPr>
          <p:cNvPr id="159" name="Text 21"/>
          <p:cNvSpPr/>
          <p:nvPr/>
        </p:nvSpPr>
        <p:spPr>
          <a:xfrm>
            <a:off x="9992520" y="3945960"/>
            <a:ext cx="18039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18" strike="noStrike">
                <a:solidFill>
                  <a:srgbClr val="0e1116"/>
                </a:solidFill>
                <a:latin typeface="Space Grotesk"/>
                <a:ea typeface="Space Grotesk"/>
              </a:rPr>
              <a:t>Claude.ai · Design</a:t>
            </a:r>
            <a:endParaRPr b="0" lang="en-AU" sz="1650" spc="-1" strike="noStrike">
              <a:solidFill>
                <a:srgbClr val="000000"/>
              </a:solidFill>
              <a:latin typeface="Arial"/>
            </a:endParaRPr>
          </a:p>
        </p:txBody>
      </p:sp>
      <p:sp>
        <p:nvSpPr>
          <p:cNvPr id="160" name="Text 22"/>
          <p:cNvSpPr/>
          <p:nvPr/>
        </p:nvSpPr>
        <p:spPr>
          <a:xfrm>
            <a:off x="15882480" y="3991320"/>
            <a:ext cx="1262160" cy="27396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5000"/>
              </a:lnSpc>
              <a:tabLst>
                <a:tab algn="l" pos="0"/>
              </a:tabLst>
            </a:pPr>
            <a:r>
              <a:rPr b="0" lang="en-US" sz="1200" spc="-1" strike="noStrike">
                <a:solidFill>
                  <a:srgbClr val="1f2329"/>
                </a:solidFill>
                <a:latin typeface="Inter"/>
                <a:ea typeface="Inter"/>
              </a:rPr>
              <a:t>claude.ai/design</a:t>
            </a:r>
            <a:endParaRPr b="0" lang="en-AU" sz="1200" spc="-1" strike="noStrike">
              <a:solidFill>
                <a:srgbClr val="000000"/>
              </a:solidFill>
              <a:latin typeface="Arial"/>
            </a:endParaRPr>
          </a:p>
        </p:txBody>
      </p:sp>
      <p:sp>
        <p:nvSpPr>
          <p:cNvPr id="161" name="Shape 23"/>
          <p:cNvSpPr/>
          <p:nvPr/>
        </p:nvSpPr>
        <p:spPr>
          <a:xfrm>
            <a:off x="9277200" y="4413240"/>
            <a:ext cx="7791120" cy="3940920"/>
          </a:xfrm>
          <a:prstGeom prst="roundRect">
            <a:avLst>
              <a:gd name="adj" fmla="val 2417"/>
            </a:avLst>
          </a:prstGeom>
          <a:solidFill>
            <a:srgbClr val="ffffff"/>
          </a:solidFill>
          <a:ln w="9525">
            <a:solidFill>
              <a:srgbClr val="1f2329">
                <a:alpha val="14000"/>
              </a:srgbClr>
            </a:solidFill>
            <a:round/>
          </a:ln>
          <a:effectLst>
            <a:outerShdw algn="bl" blurRad="133200" dir="5400000" dist="38160" kx="0" ky="0" rotWithShape="0" sx="100000" sy="100000">
              <a:srgbClr val="0e1116">
                <a:alpha val="8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62" name="Shape 24"/>
          <p:cNvSpPr/>
          <p:nvPr/>
        </p:nvSpPr>
        <p:spPr>
          <a:xfrm>
            <a:off x="9286920" y="4422960"/>
            <a:ext cx="7772040" cy="294840"/>
          </a:xfrm>
          <a:prstGeom prst="rect">
            <a:avLst/>
          </a:prstGeom>
          <a:solidFill>
            <a:srgbClr val="f4efe6"/>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63" name="Shape 25"/>
          <p:cNvSpPr/>
          <p:nvPr/>
        </p:nvSpPr>
        <p:spPr>
          <a:xfrm>
            <a:off x="9286920" y="4708800"/>
            <a:ext cx="777204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164" name="Shape 26"/>
          <p:cNvSpPr/>
          <p:nvPr/>
        </p:nvSpPr>
        <p:spPr>
          <a:xfrm>
            <a:off x="9401040" y="4518000"/>
            <a:ext cx="95040" cy="95040"/>
          </a:xfrm>
          <a:prstGeom prst="ellipse">
            <a:avLst/>
          </a:prstGeom>
          <a:solidFill>
            <a:srgbClr val="e36a2c"/>
          </a:solidFill>
          <a:ln w="0">
            <a:noFill/>
          </a:ln>
        </p:spPr>
        <p:style>
          <a:lnRef idx="0"/>
          <a:fillRef idx="0"/>
          <a:effectRef idx="0"/>
          <a:fontRef idx="minor"/>
        </p:style>
        <p:txBody>
          <a:bodyPr lIns="90000" rIns="90000" tIns="22680" bIns="22680" anchor="t">
            <a:noAutofit/>
          </a:bodyPr>
          <a:p>
            <a:endParaRPr b="0" lang="en-AU" sz="1800" spc="-1" strike="noStrike">
              <a:solidFill>
                <a:srgbClr val="ffffff"/>
              </a:solidFill>
              <a:latin typeface="Arial"/>
            </a:endParaRPr>
          </a:p>
        </p:txBody>
      </p:sp>
      <p:sp>
        <p:nvSpPr>
          <p:cNvPr id="165" name="Shape 27"/>
          <p:cNvSpPr/>
          <p:nvPr/>
        </p:nvSpPr>
        <p:spPr>
          <a:xfrm>
            <a:off x="9553680" y="4518000"/>
            <a:ext cx="95040" cy="95040"/>
          </a:xfrm>
          <a:prstGeom prst="ellipse">
            <a:avLst/>
          </a:prstGeom>
          <a:solidFill>
            <a:srgbClr val="a8a097"/>
          </a:solidFill>
          <a:ln w="0">
            <a:noFill/>
          </a:ln>
        </p:spPr>
        <p:style>
          <a:lnRef idx="0"/>
          <a:fillRef idx="0"/>
          <a:effectRef idx="0"/>
          <a:fontRef idx="minor"/>
        </p:style>
        <p:txBody>
          <a:bodyPr lIns="90000" rIns="90000" tIns="22680" bIns="22680" anchor="t">
            <a:noAutofit/>
          </a:bodyPr>
          <a:p>
            <a:endParaRPr b="0" lang="en-AU" sz="1800" spc="-1" strike="noStrike">
              <a:solidFill>
                <a:srgbClr val="000000"/>
              </a:solidFill>
              <a:latin typeface="Arial"/>
            </a:endParaRPr>
          </a:p>
        </p:txBody>
      </p:sp>
      <p:sp>
        <p:nvSpPr>
          <p:cNvPr id="166" name="Shape 28"/>
          <p:cNvSpPr/>
          <p:nvPr/>
        </p:nvSpPr>
        <p:spPr>
          <a:xfrm>
            <a:off x="9705960" y="4518000"/>
            <a:ext cx="95040" cy="95040"/>
          </a:xfrm>
          <a:prstGeom prst="ellipse">
            <a:avLst/>
          </a:prstGeom>
          <a:solidFill>
            <a:srgbClr val="a8a097"/>
          </a:solidFill>
          <a:ln w="0">
            <a:noFill/>
          </a:ln>
        </p:spPr>
        <p:style>
          <a:lnRef idx="0"/>
          <a:fillRef idx="0"/>
          <a:effectRef idx="0"/>
          <a:fontRef idx="minor"/>
        </p:style>
        <p:txBody>
          <a:bodyPr lIns="90000" rIns="90000" tIns="22680" bIns="22680" anchor="t">
            <a:noAutofit/>
          </a:bodyPr>
          <a:p>
            <a:endParaRPr b="0" lang="en-AU" sz="1800" spc="-1" strike="noStrike">
              <a:solidFill>
                <a:srgbClr val="000000"/>
              </a:solidFill>
              <a:latin typeface="Arial"/>
            </a:endParaRPr>
          </a:p>
        </p:txBody>
      </p:sp>
      <p:sp>
        <p:nvSpPr>
          <p:cNvPr id="167" name="Text 29"/>
          <p:cNvSpPr/>
          <p:nvPr/>
        </p:nvSpPr>
        <p:spPr>
          <a:xfrm>
            <a:off x="10010880" y="4484160"/>
            <a:ext cx="1283040" cy="201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820" spc="97" strike="noStrike">
                <a:solidFill>
                  <a:srgbClr val="7a736a"/>
                </a:solidFill>
                <a:latin typeface="JetBrains Mono"/>
                <a:ea typeface="JetBrains Mono"/>
              </a:rPr>
              <a:t>claude.ai/design</a:t>
            </a:r>
            <a:endParaRPr b="0" lang="en-AU" sz="820" spc="-1" strike="noStrike">
              <a:solidFill>
                <a:srgbClr val="000000"/>
              </a:solidFill>
              <a:latin typeface="Arial"/>
            </a:endParaRPr>
          </a:p>
        </p:txBody>
      </p:sp>
      <p:sp>
        <p:nvSpPr>
          <p:cNvPr id="168" name="Shape 30"/>
          <p:cNvSpPr/>
          <p:nvPr/>
        </p:nvSpPr>
        <p:spPr>
          <a:xfrm>
            <a:off x="9286920" y="4718160"/>
            <a:ext cx="7772040" cy="3626640"/>
          </a:xfrm>
          <a:prstGeom prst="rect">
            <a:avLst/>
          </a:prstGeom>
          <a:solidFill>
            <a:srgbClr val="1f2329"/>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69" name="Image 2" descr="preencoded.png"/>
          <p:cNvPicPr/>
          <p:nvPr/>
        </p:nvPicPr>
        <p:blipFill>
          <a:blip r:embed="rId3"/>
          <a:stretch/>
        </p:blipFill>
        <p:spPr>
          <a:xfrm>
            <a:off x="9286920" y="4718160"/>
            <a:ext cx="7772040" cy="3626640"/>
          </a:xfrm>
          <a:prstGeom prst="rect">
            <a:avLst/>
          </a:prstGeom>
          <a:ln w="0">
            <a:noFill/>
          </a:ln>
        </p:spPr>
      </p:pic>
      <p:sp>
        <p:nvSpPr>
          <p:cNvPr id="170" name="Shape 31"/>
          <p:cNvSpPr/>
          <p:nvPr/>
        </p:nvSpPr>
        <p:spPr>
          <a:xfrm>
            <a:off x="1219320" y="8621640"/>
            <a:ext cx="117360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71" name="Text 32"/>
          <p:cNvSpPr/>
          <p:nvPr/>
        </p:nvSpPr>
        <p:spPr>
          <a:xfrm>
            <a:off x="1362240" y="8688240"/>
            <a:ext cx="9640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WORKSPACE</a:t>
            </a:r>
            <a:endParaRPr b="0" lang="en-AU" sz="1050" spc="-1" strike="noStrike">
              <a:solidFill>
                <a:srgbClr val="000000"/>
              </a:solidFill>
              <a:latin typeface="Arial"/>
            </a:endParaRPr>
          </a:p>
        </p:txBody>
      </p:sp>
      <p:sp>
        <p:nvSpPr>
          <p:cNvPr id="172" name="Text 33"/>
          <p:cNvSpPr/>
          <p:nvPr/>
        </p:nvSpPr>
        <p:spPr>
          <a:xfrm>
            <a:off x="2526480" y="8628480"/>
            <a:ext cx="221688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18" strike="noStrike">
                <a:solidFill>
                  <a:srgbClr val="0e1116"/>
                </a:solidFill>
                <a:latin typeface="Space Grotesk"/>
                <a:ea typeface="Space Grotesk"/>
              </a:rPr>
              <a:t>Excel · Claude sidebar</a:t>
            </a:r>
            <a:endParaRPr b="0" lang="en-AU" sz="1650" spc="-1" strike="noStrike">
              <a:solidFill>
                <a:srgbClr val="000000"/>
              </a:solidFill>
              <a:latin typeface="Arial"/>
            </a:endParaRPr>
          </a:p>
        </p:txBody>
      </p:sp>
      <p:sp>
        <p:nvSpPr>
          <p:cNvPr id="173" name="Text 34"/>
          <p:cNvSpPr/>
          <p:nvPr/>
        </p:nvSpPr>
        <p:spPr>
          <a:xfrm>
            <a:off x="8007840" y="8673840"/>
            <a:ext cx="1078560" cy="27396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5000"/>
              </a:lnSpc>
              <a:tabLst>
                <a:tab algn="l" pos="0"/>
              </a:tabLst>
            </a:pPr>
            <a:r>
              <a:rPr b="0" lang="en-US" sz="1200" spc="-1" strike="noStrike">
                <a:solidFill>
                  <a:srgbClr val="1f2329"/>
                </a:solidFill>
                <a:latin typeface="Inter"/>
                <a:ea typeface="Inter"/>
              </a:rPr>
              <a:t>Microsoft 365</a:t>
            </a:r>
            <a:endParaRPr b="0" lang="en-AU" sz="1200" spc="-1" strike="noStrike">
              <a:solidFill>
                <a:srgbClr val="000000"/>
              </a:solidFill>
              <a:latin typeface="Arial"/>
            </a:endParaRPr>
          </a:p>
        </p:txBody>
      </p:sp>
      <p:sp>
        <p:nvSpPr>
          <p:cNvPr id="174" name="Shape 35"/>
          <p:cNvSpPr/>
          <p:nvPr/>
        </p:nvSpPr>
        <p:spPr>
          <a:xfrm>
            <a:off x="1219320" y="9096120"/>
            <a:ext cx="7791120" cy="3940920"/>
          </a:xfrm>
          <a:prstGeom prst="roundRect">
            <a:avLst>
              <a:gd name="adj" fmla="val 2417"/>
            </a:avLst>
          </a:prstGeom>
          <a:solidFill>
            <a:srgbClr val="ffffff"/>
          </a:solidFill>
          <a:ln w="9525">
            <a:solidFill>
              <a:srgbClr val="1f2329">
                <a:alpha val="14000"/>
              </a:srgbClr>
            </a:solidFill>
            <a:round/>
          </a:ln>
          <a:effectLst>
            <a:outerShdw algn="bl" blurRad="133200" dir="5400000" dist="38160" kx="0" ky="0" rotWithShape="0" sx="100000" sy="100000">
              <a:srgbClr val="0e1116">
                <a:alpha val="8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75" name="Shape 36"/>
          <p:cNvSpPr/>
          <p:nvPr/>
        </p:nvSpPr>
        <p:spPr>
          <a:xfrm>
            <a:off x="1228680" y="9105480"/>
            <a:ext cx="7772040" cy="285480"/>
          </a:xfrm>
          <a:prstGeom prst="rect">
            <a:avLst/>
          </a:prstGeom>
          <a:solidFill>
            <a:srgbClr val="1f5240"/>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76" name="Shape 37"/>
          <p:cNvSpPr/>
          <p:nvPr/>
        </p:nvSpPr>
        <p:spPr>
          <a:xfrm>
            <a:off x="1362240" y="9181800"/>
            <a:ext cx="132840" cy="132840"/>
          </a:xfrm>
          <a:prstGeom prst="roundRect">
            <a:avLst>
              <a:gd name="adj" fmla="val 14286"/>
            </a:avLst>
          </a:prstGeom>
          <a:solidFill>
            <a:srgbClr val="ffffff">
              <a:alpha val="95000"/>
            </a:srgbClr>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77" name="Text 38"/>
          <p:cNvSpPr/>
          <p:nvPr/>
        </p:nvSpPr>
        <p:spPr>
          <a:xfrm>
            <a:off x="1324080" y="9181800"/>
            <a:ext cx="209160" cy="17100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algn="ctr" defTabSz="914400">
              <a:lnSpc>
                <a:spcPct val="156000"/>
              </a:lnSpc>
              <a:tabLst>
                <a:tab algn="l" pos="0"/>
              </a:tabLst>
            </a:pPr>
            <a:r>
              <a:rPr b="1" lang="en-US" sz="670" spc="-1" strike="noStrike">
                <a:solidFill>
                  <a:srgbClr val="1f5240"/>
                </a:solidFill>
                <a:latin typeface="Space Grotesk"/>
                <a:ea typeface="Space Grotesk"/>
              </a:rPr>
              <a:t>X</a:t>
            </a:r>
            <a:endParaRPr b="0" lang="en-AU" sz="670" spc="-1" strike="noStrike">
              <a:solidFill>
                <a:srgbClr val="000000"/>
              </a:solidFill>
              <a:latin typeface="Arial"/>
            </a:endParaRPr>
          </a:p>
        </p:txBody>
      </p:sp>
      <p:sp>
        <p:nvSpPr>
          <p:cNvPr id="178" name="Text 39"/>
          <p:cNvSpPr/>
          <p:nvPr/>
        </p:nvSpPr>
        <p:spPr>
          <a:xfrm>
            <a:off x="1590840" y="9159480"/>
            <a:ext cx="1516320" cy="21600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6000"/>
              </a:lnSpc>
              <a:tabLst>
                <a:tab algn="l" pos="0"/>
              </a:tabLst>
            </a:pPr>
            <a:r>
              <a:rPr b="1" lang="en-US" sz="900" spc="15" strike="noStrike">
                <a:solidFill>
                  <a:srgbClr val="ffffff"/>
                </a:solidFill>
                <a:latin typeface="Space Grotesk"/>
                <a:ea typeface="Space Grotesk"/>
              </a:rPr>
              <a:t>Q4-Forecast.xlsx — Excel</a:t>
            </a:r>
            <a:endParaRPr b="0" lang="en-AU" sz="900" spc="-1" strike="noStrike">
              <a:solidFill>
                <a:srgbClr val="000000"/>
              </a:solidFill>
              <a:latin typeface="Arial"/>
            </a:endParaRPr>
          </a:p>
        </p:txBody>
      </p:sp>
      <p:sp>
        <p:nvSpPr>
          <p:cNvPr id="179" name="Shape 40"/>
          <p:cNvSpPr/>
          <p:nvPr/>
        </p:nvSpPr>
        <p:spPr>
          <a:xfrm>
            <a:off x="1228680" y="9391320"/>
            <a:ext cx="7772040" cy="363636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pic>
        <p:nvPicPr>
          <p:cNvPr id="180" name="Image 3" descr="preencoded.png"/>
          <p:cNvPicPr/>
          <p:nvPr/>
        </p:nvPicPr>
        <p:blipFill>
          <a:blip r:embed="rId4"/>
          <a:stretch/>
        </p:blipFill>
        <p:spPr>
          <a:xfrm>
            <a:off x="1228680" y="9391320"/>
            <a:ext cx="7772040" cy="3636360"/>
          </a:xfrm>
          <a:prstGeom prst="rect">
            <a:avLst/>
          </a:prstGeom>
          <a:ln w="0">
            <a:noFill/>
          </a:ln>
        </p:spPr>
      </p:pic>
      <p:sp>
        <p:nvSpPr>
          <p:cNvPr id="181" name="Shape 41"/>
          <p:cNvSpPr/>
          <p:nvPr/>
        </p:nvSpPr>
        <p:spPr>
          <a:xfrm>
            <a:off x="9277200" y="8621640"/>
            <a:ext cx="117360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82" name="Text 42"/>
          <p:cNvSpPr/>
          <p:nvPr/>
        </p:nvSpPr>
        <p:spPr>
          <a:xfrm>
            <a:off x="9420120" y="8688240"/>
            <a:ext cx="9640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WORKSPACE</a:t>
            </a:r>
            <a:endParaRPr b="0" lang="en-AU" sz="1050" spc="-1" strike="noStrike">
              <a:solidFill>
                <a:srgbClr val="000000"/>
              </a:solidFill>
              <a:latin typeface="Arial"/>
            </a:endParaRPr>
          </a:p>
        </p:txBody>
      </p:sp>
      <p:sp>
        <p:nvSpPr>
          <p:cNvPr id="183" name="Text 43"/>
          <p:cNvSpPr/>
          <p:nvPr/>
        </p:nvSpPr>
        <p:spPr>
          <a:xfrm>
            <a:off x="10584720" y="8628480"/>
            <a:ext cx="282672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18" strike="noStrike">
                <a:solidFill>
                  <a:srgbClr val="0e1116"/>
                </a:solidFill>
                <a:latin typeface="Space Grotesk"/>
                <a:ea typeface="Space Grotesk"/>
              </a:rPr>
              <a:t>PowerPoint · Claude sidebar</a:t>
            </a:r>
            <a:endParaRPr b="0" lang="en-AU" sz="1650" spc="-1" strike="noStrike">
              <a:solidFill>
                <a:srgbClr val="000000"/>
              </a:solidFill>
              <a:latin typeface="Arial"/>
            </a:endParaRPr>
          </a:p>
        </p:txBody>
      </p:sp>
      <p:sp>
        <p:nvSpPr>
          <p:cNvPr id="184" name="Text 44"/>
          <p:cNvSpPr/>
          <p:nvPr/>
        </p:nvSpPr>
        <p:spPr>
          <a:xfrm>
            <a:off x="16066080" y="8673840"/>
            <a:ext cx="1078560" cy="27396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5000"/>
              </a:lnSpc>
              <a:tabLst>
                <a:tab algn="l" pos="0"/>
              </a:tabLst>
            </a:pPr>
            <a:r>
              <a:rPr b="0" lang="en-US" sz="1200" spc="-1" strike="noStrike">
                <a:solidFill>
                  <a:srgbClr val="1f2329"/>
                </a:solidFill>
                <a:latin typeface="Inter"/>
                <a:ea typeface="Inter"/>
              </a:rPr>
              <a:t>Microsoft 365</a:t>
            </a:r>
            <a:endParaRPr b="0" lang="en-AU" sz="1200" spc="-1" strike="noStrike">
              <a:solidFill>
                <a:srgbClr val="000000"/>
              </a:solidFill>
              <a:latin typeface="Arial"/>
            </a:endParaRPr>
          </a:p>
        </p:txBody>
      </p:sp>
      <p:sp>
        <p:nvSpPr>
          <p:cNvPr id="185" name="Shape 45"/>
          <p:cNvSpPr/>
          <p:nvPr/>
        </p:nvSpPr>
        <p:spPr>
          <a:xfrm>
            <a:off x="9277200" y="9096120"/>
            <a:ext cx="7791120" cy="3940920"/>
          </a:xfrm>
          <a:prstGeom prst="roundRect">
            <a:avLst>
              <a:gd name="adj" fmla="val 2417"/>
            </a:avLst>
          </a:prstGeom>
          <a:solidFill>
            <a:srgbClr val="ffffff"/>
          </a:solidFill>
          <a:ln w="9525">
            <a:solidFill>
              <a:srgbClr val="1f2329">
                <a:alpha val="14000"/>
              </a:srgbClr>
            </a:solidFill>
            <a:round/>
          </a:ln>
          <a:effectLst>
            <a:outerShdw algn="bl" blurRad="133200" dir="5400000" dist="38160" kx="0" ky="0" rotWithShape="0" sx="100000" sy="100000">
              <a:srgbClr val="0e1116">
                <a:alpha val="8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86" name="Shape 46"/>
          <p:cNvSpPr/>
          <p:nvPr/>
        </p:nvSpPr>
        <p:spPr>
          <a:xfrm>
            <a:off x="9286920" y="9105480"/>
            <a:ext cx="7772040" cy="285480"/>
          </a:xfrm>
          <a:prstGeom prst="rect">
            <a:avLst/>
          </a:prstGeom>
          <a:solidFill>
            <a:srgbClr val="c95a2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87" name="Shape 47"/>
          <p:cNvSpPr/>
          <p:nvPr/>
        </p:nvSpPr>
        <p:spPr>
          <a:xfrm>
            <a:off x="9420120" y="9181800"/>
            <a:ext cx="132840" cy="132840"/>
          </a:xfrm>
          <a:prstGeom prst="roundRect">
            <a:avLst>
              <a:gd name="adj" fmla="val 14286"/>
            </a:avLst>
          </a:prstGeom>
          <a:solidFill>
            <a:srgbClr val="ffffff">
              <a:alpha val="95000"/>
            </a:srgbClr>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188" name="Text 48"/>
          <p:cNvSpPr/>
          <p:nvPr/>
        </p:nvSpPr>
        <p:spPr>
          <a:xfrm>
            <a:off x="9381960" y="9181800"/>
            <a:ext cx="209160" cy="17100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algn="ctr" defTabSz="914400">
              <a:lnSpc>
                <a:spcPct val="156000"/>
              </a:lnSpc>
              <a:tabLst>
                <a:tab algn="l" pos="0"/>
              </a:tabLst>
            </a:pPr>
            <a:r>
              <a:rPr b="1" lang="en-US" sz="670" spc="-1" strike="noStrike">
                <a:solidFill>
                  <a:srgbClr val="c95a22"/>
                </a:solidFill>
                <a:latin typeface="Space Grotesk"/>
                <a:ea typeface="Space Grotesk"/>
              </a:rPr>
              <a:t>P</a:t>
            </a:r>
            <a:endParaRPr b="0" lang="en-AU" sz="670" spc="-1" strike="noStrike">
              <a:solidFill>
                <a:srgbClr val="000000"/>
              </a:solidFill>
              <a:latin typeface="Arial"/>
            </a:endParaRPr>
          </a:p>
        </p:txBody>
      </p:sp>
      <p:sp>
        <p:nvSpPr>
          <p:cNvPr id="189" name="Text 49"/>
          <p:cNvSpPr/>
          <p:nvPr/>
        </p:nvSpPr>
        <p:spPr>
          <a:xfrm>
            <a:off x="9648720" y="9159480"/>
            <a:ext cx="1910880" cy="21600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6000"/>
              </a:lnSpc>
              <a:tabLst>
                <a:tab algn="l" pos="0"/>
              </a:tabLst>
            </a:pPr>
            <a:r>
              <a:rPr b="1" lang="en-US" sz="900" spc="15" strike="noStrike">
                <a:solidFill>
                  <a:srgbClr val="ffffff"/>
                </a:solidFill>
                <a:latin typeface="Space Grotesk"/>
                <a:ea typeface="Space Grotesk"/>
              </a:rPr>
              <a:t>Q1-Roadmap.pptx — PowerPoint</a:t>
            </a:r>
            <a:endParaRPr b="0" lang="en-AU" sz="900" spc="-1" strike="noStrike">
              <a:solidFill>
                <a:srgbClr val="000000"/>
              </a:solidFill>
              <a:latin typeface="Arial"/>
            </a:endParaRPr>
          </a:p>
        </p:txBody>
      </p:sp>
      <p:sp>
        <p:nvSpPr>
          <p:cNvPr id="190" name="Shape 50"/>
          <p:cNvSpPr/>
          <p:nvPr/>
        </p:nvSpPr>
        <p:spPr>
          <a:xfrm>
            <a:off x="9286920" y="9391320"/>
            <a:ext cx="7772040" cy="363636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pic>
        <p:nvPicPr>
          <p:cNvPr id="191" name="Image 4" descr="preencoded.png"/>
          <p:cNvPicPr/>
          <p:nvPr/>
        </p:nvPicPr>
        <p:blipFill>
          <a:blip r:embed="rId5"/>
          <a:stretch/>
        </p:blipFill>
        <p:spPr>
          <a:xfrm>
            <a:off x="9286920" y="9391320"/>
            <a:ext cx="7772040" cy="3636360"/>
          </a:xfrm>
          <a:prstGeom prst="rect">
            <a:avLst/>
          </a:prstGeom>
          <a:ln w="0">
            <a:noFill/>
          </a:ln>
        </p:spPr>
      </p:pic>
      <p:sp>
        <p:nvSpPr>
          <p:cNvPr id="192" name="Text 51"/>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07 / 31</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193" name="Image 0" descr="preencoded.png"/>
          <p:cNvPicPr/>
          <p:nvPr/>
        </p:nvPicPr>
        <p:blipFill>
          <a:blip r:embed="rId1"/>
          <a:stretch/>
        </p:blipFill>
        <p:spPr>
          <a:xfrm>
            <a:off x="1219320" y="468360"/>
            <a:ext cx="304560" cy="304560"/>
          </a:xfrm>
          <a:prstGeom prst="rect">
            <a:avLst/>
          </a:prstGeom>
          <a:ln w="0">
            <a:noFill/>
          </a:ln>
        </p:spPr>
      </p:pic>
      <p:sp>
        <p:nvSpPr>
          <p:cNvPr id="194"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195"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196"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197" name="Shape 3"/>
          <p:cNvSpPr/>
          <p:nvPr/>
        </p:nvSpPr>
        <p:spPr>
          <a:xfrm>
            <a:off x="1219320" y="170496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198" name="Text 4"/>
          <p:cNvSpPr/>
          <p:nvPr/>
        </p:nvSpPr>
        <p:spPr>
          <a:xfrm>
            <a:off x="1409760" y="1628640"/>
            <a:ext cx="27547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03 · DEEP DIVE</a:t>
            </a:r>
            <a:endParaRPr b="0" lang="en-AU" sz="1350" spc="-1" strike="noStrike">
              <a:solidFill>
                <a:srgbClr val="000000"/>
              </a:solidFill>
              <a:latin typeface="Arial"/>
            </a:endParaRPr>
          </a:p>
        </p:txBody>
      </p:sp>
      <p:sp>
        <p:nvSpPr>
          <p:cNvPr id="199" name="Text 5"/>
          <p:cNvSpPr/>
          <p:nvPr/>
        </p:nvSpPr>
        <p:spPr>
          <a:xfrm>
            <a:off x="1219320" y="2105640"/>
            <a:ext cx="805752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Claude Cowork.</a:t>
            </a:r>
            <a:endParaRPr b="0" lang="en-AU" sz="7200" spc="-1" strike="noStrike">
              <a:solidFill>
                <a:srgbClr val="000000"/>
              </a:solidFill>
              <a:latin typeface="Arial"/>
            </a:endParaRPr>
          </a:p>
        </p:txBody>
      </p:sp>
      <p:sp>
        <p:nvSpPr>
          <p:cNvPr id="200" name="Text 6"/>
          <p:cNvSpPr/>
          <p:nvPr/>
        </p:nvSpPr>
        <p:spPr>
          <a:xfrm>
            <a:off x="1219320" y="3324600"/>
            <a:ext cx="8057520" cy="1769040"/>
          </a:xfrm>
          <a:prstGeom prst="rect">
            <a:avLst/>
          </a:prstGeom>
          <a:noFill/>
          <a:ln w="0">
            <a:noFill/>
          </a:ln>
        </p:spPr>
        <p:style>
          <a:lnRef idx="0"/>
          <a:fillRef idx="0"/>
          <a:effectRef idx="0"/>
          <a:fontRef idx="minor"/>
        </p:style>
        <p:txBody>
          <a:bodyPr lIns="25560" rIns="25560" tIns="25560" bIns="25560" anchor="t">
            <a:normAutofit fontScale="93333" lnSpcReduction="10000"/>
          </a:bodyPr>
          <a:p>
            <a:pPr defTabSz="914400">
              <a:lnSpc>
                <a:spcPct val="142000"/>
              </a:lnSpc>
              <a:tabLst>
                <a:tab algn="l" pos="0"/>
              </a:tabLst>
            </a:pPr>
            <a:r>
              <a:rPr b="0" lang="en-US" sz="2400" spc="-12" strike="noStrike">
                <a:solidFill>
                  <a:srgbClr val="1f2329"/>
                </a:solidFill>
                <a:latin typeface="Inter"/>
                <a:ea typeface="Inter"/>
              </a:rPr>
              <a:t>Cowork is what most people end up using daily. It runs on your machine, sees your files, runs in the background, and lets you hand it work the same way you'd hand it to a colleague.</a:t>
            </a:r>
            <a:endParaRPr b="0" lang="en-AU" sz="2400" spc="-1" strike="noStrike">
              <a:solidFill>
                <a:srgbClr val="000000"/>
              </a:solidFill>
              <a:latin typeface="Arial"/>
            </a:endParaRPr>
          </a:p>
        </p:txBody>
      </p:sp>
      <p:sp>
        <p:nvSpPr>
          <p:cNvPr id="201" name="Shape 7"/>
          <p:cNvSpPr/>
          <p:nvPr/>
        </p:nvSpPr>
        <p:spPr>
          <a:xfrm>
            <a:off x="1219320" y="5589360"/>
            <a:ext cx="7714800" cy="2555280"/>
          </a:xfrm>
          <a:prstGeom prst="roundRect">
            <a:avLst>
              <a:gd name="adj" fmla="val 5964"/>
            </a:avLst>
          </a:prstGeom>
          <a:solidFill>
            <a:srgbClr val="fbe3d4"/>
          </a:solidFill>
          <a:ln w="9525">
            <a:solidFill>
              <a:srgbClr val="e36a2c">
                <a:alpha val="25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02" name="Text 8"/>
          <p:cNvSpPr/>
          <p:nvPr/>
        </p:nvSpPr>
        <p:spPr>
          <a:xfrm>
            <a:off x="1647720" y="5994360"/>
            <a:ext cx="1255320" cy="275400"/>
          </a:xfrm>
          <a:prstGeom prst="rect">
            <a:avLst/>
          </a:prstGeom>
          <a:noFill/>
          <a:ln w="0">
            <a:noFill/>
          </a:ln>
        </p:spPr>
        <p:style>
          <a:lnRef idx="0"/>
          <a:fillRef idx="0"/>
          <a:effectRef idx="0"/>
          <a:fontRef idx="minor"/>
        </p:style>
        <p:txBody>
          <a:bodyPr lIns="25560" rIns="25560" tIns="25560" bIns="25560" anchor="ctr">
            <a:normAutofit fontScale="87222"/>
          </a:bodyPr>
          <a:p>
            <a:pPr defTabSz="914400">
              <a:lnSpc>
                <a:spcPct val="156000"/>
              </a:lnSpc>
              <a:tabLst>
                <a:tab algn="l" pos="0"/>
              </a:tabLst>
            </a:pPr>
            <a:r>
              <a:rPr b="1" lang="en-US" sz="1200" spc="262" strike="noStrike">
                <a:solidFill>
                  <a:srgbClr val="c95a22"/>
                </a:solidFill>
                <a:latin typeface="JetBrains Mono"/>
                <a:ea typeface="JetBrains Mono"/>
              </a:rPr>
              <a:t>DO THIS</a:t>
            </a:r>
            <a:endParaRPr b="0" lang="en-AU" sz="1200" spc="-1" strike="noStrike">
              <a:solidFill>
                <a:srgbClr val="000000"/>
              </a:solidFill>
              <a:latin typeface="Arial"/>
            </a:endParaRPr>
          </a:p>
        </p:txBody>
      </p:sp>
      <p:sp>
        <p:nvSpPr>
          <p:cNvPr id="203" name="Text 9"/>
          <p:cNvSpPr/>
          <p:nvPr/>
        </p:nvSpPr>
        <p:spPr>
          <a:xfrm>
            <a:off x="1647720" y="6384600"/>
            <a:ext cx="7063560" cy="1445760"/>
          </a:xfrm>
          <a:prstGeom prst="rect">
            <a:avLst/>
          </a:prstGeom>
          <a:noFill/>
          <a:ln w="0">
            <a:noFill/>
          </a:ln>
        </p:spPr>
        <p:style>
          <a:lnRef idx="0"/>
          <a:fillRef idx="0"/>
          <a:effectRef idx="0"/>
          <a:fontRef idx="minor"/>
        </p:style>
        <p:txBody>
          <a:bodyPr lIns="25560" rIns="25560" tIns="25560" bIns="25560" anchor="t">
            <a:normAutofit fontScale="98333" lnSpcReduction="20000"/>
          </a:bodyPr>
          <a:p>
            <a:pPr defTabSz="914400">
              <a:lnSpc>
                <a:spcPct val="132000"/>
              </a:lnSpc>
              <a:tabLst>
                <a:tab algn="l" pos="0"/>
              </a:tabLst>
            </a:pPr>
            <a:r>
              <a:rPr b="0" lang="en-US" sz="2100" spc="-18" strike="noStrike">
                <a:solidFill>
                  <a:srgbClr val="0e1116"/>
                </a:solidFill>
                <a:latin typeface="Space Grotesk"/>
                <a:ea typeface="Space Grotesk"/>
              </a:rPr>
              <a:t>"You keep doing the same work every morning — checking messages, prepping for meetings. Set it up once as a scheduled task and Claude handles it on repeat."</a:t>
            </a:r>
            <a:endParaRPr b="0" lang="en-AU" sz="2100" spc="-1" strike="noStrike">
              <a:solidFill>
                <a:srgbClr val="000000"/>
              </a:solidFill>
              <a:latin typeface="Arial"/>
            </a:endParaRPr>
          </a:p>
        </p:txBody>
      </p:sp>
      <p:pic>
        <p:nvPicPr>
          <p:cNvPr id="204" name="Image 1" descr="preencoded.png"/>
          <p:cNvPicPr/>
          <p:nvPr/>
        </p:nvPicPr>
        <p:blipFill>
          <a:blip r:embed="rId2"/>
          <a:stretch/>
        </p:blipFill>
        <p:spPr>
          <a:xfrm>
            <a:off x="11131560" y="3105000"/>
            <a:ext cx="4762080" cy="4762080"/>
          </a:xfrm>
          <a:prstGeom prst="rect">
            <a:avLst/>
          </a:prstGeom>
          <a:ln w="0">
            <a:noFill/>
          </a:ln>
        </p:spPr>
      </p:pic>
      <p:sp>
        <p:nvSpPr>
          <p:cNvPr id="205" name="Text 10"/>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07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206" name="Image 0" descr="preencoded.png"/>
          <p:cNvPicPr/>
          <p:nvPr/>
        </p:nvPicPr>
        <p:blipFill>
          <a:blip r:embed="rId1"/>
          <a:stretch/>
        </p:blipFill>
        <p:spPr>
          <a:xfrm>
            <a:off x="1219320" y="468360"/>
            <a:ext cx="304560" cy="304560"/>
          </a:xfrm>
          <a:prstGeom prst="rect">
            <a:avLst/>
          </a:prstGeom>
          <a:ln w="0">
            <a:noFill/>
          </a:ln>
        </p:spPr>
      </p:pic>
      <p:sp>
        <p:nvSpPr>
          <p:cNvPr id="207"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208"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209"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210"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211" name="Text 4"/>
          <p:cNvSpPr/>
          <p:nvPr/>
        </p:nvSpPr>
        <p:spPr>
          <a:xfrm>
            <a:off x="1409760" y="1619280"/>
            <a:ext cx="31676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COWORK · WHAT IT CAN DO</a:t>
            </a:r>
            <a:endParaRPr b="0" lang="en-AU" sz="1350" spc="-1" strike="noStrike">
              <a:solidFill>
                <a:srgbClr val="000000"/>
              </a:solidFill>
              <a:latin typeface="Arial"/>
            </a:endParaRPr>
          </a:p>
        </p:txBody>
      </p:sp>
      <p:sp>
        <p:nvSpPr>
          <p:cNvPr id="212"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Eight moves you'll use.</a:t>
            </a:r>
            <a:endParaRPr b="0" lang="en-AU" sz="7200" spc="-1" strike="noStrike">
              <a:solidFill>
                <a:srgbClr val="000000"/>
              </a:solidFill>
              <a:latin typeface="Arial"/>
            </a:endParaRPr>
          </a:p>
        </p:txBody>
      </p:sp>
      <p:sp>
        <p:nvSpPr>
          <p:cNvPr id="213" name="Shape 6"/>
          <p:cNvSpPr/>
          <p:nvPr/>
        </p:nvSpPr>
        <p:spPr>
          <a:xfrm>
            <a:off x="1219320" y="3544200"/>
            <a:ext cx="3819240" cy="2818440"/>
          </a:xfrm>
          <a:prstGeom prst="roundRect">
            <a:avLst>
              <a:gd name="adj" fmla="val 473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14" name="Text 7"/>
          <p:cNvSpPr/>
          <p:nvPr/>
        </p:nvSpPr>
        <p:spPr>
          <a:xfrm>
            <a:off x="1514520" y="3820320"/>
            <a:ext cx="332532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01</a:t>
            </a:r>
            <a:endParaRPr b="0" lang="en-AU" sz="2100" spc="-1" strike="noStrike">
              <a:solidFill>
                <a:srgbClr val="000000"/>
              </a:solidFill>
              <a:latin typeface="Arial"/>
            </a:endParaRPr>
          </a:p>
        </p:txBody>
      </p:sp>
      <p:sp>
        <p:nvSpPr>
          <p:cNvPr id="215" name="Text 8"/>
          <p:cNvSpPr/>
          <p:nvPr/>
        </p:nvSpPr>
        <p:spPr>
          <a:xfrm>
            <a:off x="1514520" y="4220280"/>
            <a:ext cx="332532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Folder access</a:t>
            </a:r>
            <a:endParaRPr b="0" lang="en-AU" sz="1800" spc="-1" strike="noStrike">
              <a:solidFill>
                <a:srgbClr val="000000"/>
              </a:solidFill>
              <a:latin typeface="Arial"/>
            </a:endParaRPr>
          </a:p>
        </p:txBody>
      </p:sp>
      <p:sp>
        <p:nvSpPr>
          <p:cNvPr id="216" name="Text 9"/>
          <p:cNvSpPr/>
          <p:nvPr/>
        </p:nvSpPr>
        <p:spPr>
          <a:xfrm>
            <a:off x="1514520" y="4597560"/>
            <a:ext cx="3325320" cy="76644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280" spc="-7" strike="noStrike">
                <a:solidFill>
                  <a:srgbClr val="1f2329"/>
                </a:solidFill>
                <a:latin typeface="Inter"/>
                <a:ea typeface="Inter"/>
              </a:rPr>
              <a:t>Point Claude at a folder; it reads, figures out what's relevant, saves work back to the same place.</a:t>
            </a:r>
            <a:endParaRPr b="0" lang="en-AU" sz="1280" spc="-1" strike="noStrike">
              <a:solidFill>
                <a:srgbClr val="000000"/>
              </a:solidFill>
              <a:latin typeface="Arial"/>
            </a:endParaRPr>
          </a:p>
        </p:txBody>
      </p:sp>
      <p:sp>
        <p:nvSpPr>
          <p:cNvPr id="217" name="Shape 10"/>
          <p:cNvSpPr/>
          <p:nvPr/>
        </p:nvSpPr>
        <p:spPr>
          <a:xfrm>
            <a:off x="5229360" y="3544200"/>
            <a:ext cx="3819240" cy="2818440"/>
          </a:xfrm>
          <a:prstGeom prst="roundRect">
            <a:avLst>
              <a:gd name="adj" fmla="val 473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18" name="Text 11"/>
          <p:cNvSpPr/>
          <p:nvPr/>
        </p:nvSpPr>
        <p:spPr>
          <a:xfrm>
            <a:off x="5524560" y="3820320"/>
            <a:ext cx="332532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02</a:t>
            </a:r>
            <a:endParaRPr b="0" lang="en-AU" sz="2100" spc="-1" strike="noStrike">
              <a:solidFill>
                <a:srgbClr val="000000"/>
              </a:solidFill>
              <a:latin typeface="Arial"/>
            </a:endParaRPr>
          </a:p>
        </p:txBody>
      </p:sp>
      <p:sp>
        <p:nvSpPr>
          <p:cNvPr id="219" name="Text 12"/>
          <p:cNvSpPr/>
          <p:nvPr/>
        </p:nvSpPr>
        <p:spPr>
          <a:xfrm>
            <a:off x="5524560" y="4220280"/>
            <a:ext cx="332532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Scheduled tasks</a:t>
            </a:r>
            <a:endParaRPr b="0" lang="en-AU" sz="1800" spc="-1" strike="noStrike">
              <a:solidFill>
                <a:srgbClr val="000000"/>
              </a:solidFill>
              <a:latin typeface="Arial"/>
            </a:endParaRPr>
          </a:p>
        </p:txBody>
      </p:sp>
      <p:sp>
        <p:nvSpPr>
          <p:cNvPr id="220" name="Text 13"/>
          <p:cNvSpPr/>
          <p:nvPr/>
        </p:nvSpPr>
        <p:spPr>
          <a:xfrm>
            <a:off x="5524560" y="4597560"/>
            <a:ext cx="3325320" cy="52344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280" spc="-7" strike="noStrike">
                <a:solidFill>
                  <a:srgbClr val="1f2329"/>
                </a:solidFill>
                <a:latin typeface="Inter"/>
                <a:ea typeface="Inter"/>
              </a:rPr>
              <a:t>Daily briefings, weekly roundups — recurring work that just runs.</a:t>
            </a:r>
            <a:endParaRPr b="0" lang="en-AU" sz="1280" spc="-1" strike="noStrike">
              <a:solidFill>
                <a:srgbClr val="000000"/>
              </a:solidFill>
              <a:latin typeface="Arial"/>
            </a:endParaRPr>
          </a:p>
        </p:txBody>
      </p:sp>
      <p:sp>
        <p:nvSpPr>
          <p:cNvPr id="221" name="Shape 14"/>
          <p:cNvSpPr/>
          <p:nvPr/>
        </p:nvSpPr>
        <p:spPr>
          <a:xfrm>
            <a:off x="9239400" y="3544200"/>
            <a:ext cx="3819240" cy="2818440"/>
          </a:xfrm>
          <a:prstGeom prst="roundRect">
            <a:avLst>
              <a:gd name="adj" fmla="val 473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22" name="Text 15"/>
          <p:cNvSpPr/>
          <p:nvPr/>
        </p:nvSpPr>
        <p:spPr>
          <a:xfrm>
            <a:off x="9534600" y="3820320"/>
            <a:ext cx="332532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03</a:t>
            </a:r>
            <a:endParaRPr b="0" lang="en-AU" sz="2100" spc="-1" strike="noStrike">
              <a:solidFill>
                <a:srgbClr val="000000"/>
              </a:solidFill>
              <a:latin typeface="Arial"/>
            </a:endParaRPr>
          </a:p>
        </p:txBody>
      </p:sp>
      <p:sp>
        <p:nvSpPr>
          <p:cNvPr id="223" name="Text 16"/>
          <p:cNvSpPr/>
          <p:nvPr/>
        </p:nvSpPr>
        <p:spPr>
          <a:xfrm>
            <a:off x="9534600" y="4220280"/>
            <a:ext cx="332532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Subagents</a:t>
            </a:r>
            <a:endParaRPr b="0" lang="en-AU" sz="1800" spc="-1" strike="noStrike">
              <a:solidFill>
                <a:srgbClr val="000000"/>
              </a:solidFill>
              <a:latin typeface="Arial"/>
            </a:endParaRPr>
          </a:p>
        </p:txBody>
      </p:sp>
      <p:sp>
        <p:nvSpPr>
          <p:cNvPr id="224" name="Text 17"/>
          <p:cNvSpPr/>
          <p:nvPr/>
        </p:nvSpPr>
        <p:spPr>
          <a:xfrm>
            <a:off x="9534600" y="4597560"/>
            <a:ext cx="3325320" cy="52344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280" spc="-7" strike="noStrike">
                <a:solidFill>
                  <a:srgbClr val="1f2329"/>
                </a:solidFill>
                <a:latin typeface="Inter"/>
                <a:ea typeface="Inter"/>
              </a:rPr>
              <a:t>Background workers that handle parts of a task in parallel.</a:t>
            </a:r>
            <a:endParaRPr b="0" lang="en-AU" sz="1280" spc="-1" strike="noStrike">
              <a:solidFill>
                <a:srgbClr val="000000"/>
              </a:solidFill>
              <a:latin typeface="Arial"/>
            </a:endParaRPr>
          </a:p>
        </p:txBody>
      </p:sp>
      <p:sp>
        <p:nvSpPr>
          <p:cNvPr id="225" name="Shape 18"/>
          <p:cNvSpPr/>
          <p:nvPr/>
        </p:nvSpPr>
        <p:spPr>
          <a:xfrm>
            <a:off x="13249440" y="3544200"/>
            <a:ext cx="3819240" cy="2818440"/>
          </a:xfrm>
          <a:prstGeom prst="roundRect">
            <a:avLst>
              <a:gd name="adj" fmla="val 473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26" name="Text 19"/>
          <p:cNvSpPr/>
          <p:nvPr/>
        </p:nvSpPr>
        <p:spPr>
          <a:xfrm>
            <a:off x="13544640" y="3820320"/>
            <a:ext cx="332532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04</a:t>
            </a:r>
            <a:endParaRPr b="0" lang="en-AU" sz="2100" spc="-1" strike="noStrike">
              <a:solidFill>
                <a:srgbClr val="000000"/>
              </a:solidFill>
              <a:latin typeface="Arial"/>
            </a:endParaRPr>
          </a:p>
        </p:txBody>
      </p:sp>
      <p:sp>
        <p:nvSpPr>
          <p:cNvPr id="227" name="Text 20"/>
          <p:cNvSpPr/>
          <p:nvPr/>
        </p:nvSpPr>
        <p:spPr>
          <a:xfrm>
            <a:off x="13544640" y="4220280"/>
            <a:ext cx="332532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Dispatch</a:t>
            </a:r>
            <a:endParaRPr b="0" lang="en-AU" sz="1800" spc="-1" strike="noStrike">
              <a:solidFill>
                <a:srgbClr val="000000"/>
              </a:solidFill>
              <a:latin typeface="Arial"/>
            </a:endParaRPr>
          </a:p>
        </p:txBody>
      </p:sp>
      <p:sp>
        <p:nvSpPr>
          <p:cNvPr id="228" name="Text 21"/>
          <p:cNvSpPr/>
          <p:nvPr/>
        </p:nvSpPr>
        <p:spPr>
          <a:xfrm>
            <a:off x="13544640" y="4597560"/>
            <a:ext cx="3325320" cy="76644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280" spc="-7" strike="noStrike">
                <a:solidFill>
                  <a:srgbClr val="1f2329"/>
                </a:solidFill>
                <a:latin typeface="Inter"/>
                <a:ea typeface="Inter"/>
              </a:rPr>
              <a:t>Continue Cowork threads from your phone — hand off tasks that use everything on your computer.</a:t>
            </a:r>
            <a:endParaRPr b="0" lang="en-AU" sz="1280" spc="-1" strike="noStrike">
              <a:solidFill>
                <a:srgbClr val="000000"/>
              </a:solidFill>
              <a:latin typeface="Arial"/>
            </a:endParaRPr>
          </a:p>
        </p:txBody>
      </p:sp>
      <p:sp>
        <p:nvSpPr>
          <p:cNvPr id="229" name="Shape 22"/>
          <p:cNvSpPr/>
          <p:nvPr/>
        </p:nvSpPr>
        <p:spPr>
          <a:xfrm>
            <a:off x="1219320" y="6553440"/>
            <a:ext cx="3819240" cy="2818800"/>
          </a:xfrm>
          <a:prstGeom prst="roundRect">
            <a:avLst>
              <a:gd name="adj" fmla="val 473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30" name="Text 23"/>
          <p:cNvSpPr/>
          <p:nvPr/>
        </p:nvSpPr>
        <p:spPr>
          <a:xfrm>
            <a:off x="1514520" y="6829560"/>
            <a:ext cx="332532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05</a:t>
            </a:r>
            <a:endParaRPr b="0" lang="en-AU" sz="2100" spc="-1" strike="noStrike">
              <a:solidFill>
                <a:srgbClr val="000000"/>
              </a:solidFill>
              <a:latin typeface="Arial"/>
            </a:endParaRPr>
          </a:p>
        </p:txBody>
      </p:sp>
      <p:sp>
        <p:nvSpPr>
          <p:cNvPr id="231" name="Text 24"/>
          <p:cNvSpPr/>
          <p:nvPr/>
        </p:nvSpPr>
        <p:spPr>
          <a:xfrm>
            <a:off x="1514520" y="7229880"/>
            <a:ext cx="332532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Projects</a:t>
            </a:r>
            <a:endParaRPr b="0" lang="en-AU" sz="1800" spc="-1" strike="noStrike">
              <a:solidFill>
                <a:srgbClr val="000000"/>
              </a:solidFill>
              <a:latin typeface="Arial"/>
            </a:endParaRPr>
          </a:p>
        </p:txBody>
      </p:sp>
      <p:sp>
        <p:nvSpPr>
          <p:cNvPr id="232" name="Text 25"/>
          <p:cNvSpPr/>
          <p:nvPr/>
        </p:nvSpPr>
        <p:spPr>
          <a:xfrm>
            <a:off x="1514520" y="7606800"/>
            <a:ext cx="3325320" cy="766440"/>
          </a:xfrm>
          <a:prstGeom prst="rect">
            <a:avLst/>
          </a:prstGeom>
          <a:noFill/>
          <a:ln w="0">
            <a:noFill/>
          </a:ln>
        </p:spPr>
        <p:style>
          <a:lnRef idx="0"/>
          <a:fillRef idx="0"/>
          <a:effectRef idx="0"/>
          <a:fontRef idx="minor"/>
        </p:style>
        <p:txBody>
          <a:bodyPr lIns="25560" rIns="25560" tIns="25560" bIns="25560" anchor="t">
            <a:normAutofit fontScale="93333" lnSpcReduction="20000"/>
          </a:bodyPr>
          <a:p>
            <a:pPr defTabSz="914400">
              <a:lnSpc>
                <a:spcPct val="150000"/>
              </a:lnSpc>
              <a:tabLst>
                <a:tab algn="l" pos="0"/>
              </a:tabLst>
            </a:pPr>
            <a:r>
              <a:rPr b="0" lang="en-US" sz="1280" spc="-7" strike="noStrike">
                <a:solidFill>
                  <a:srgbClr val="1f2329"/>
                </a:solidFill>
                <a:latin typeface="Inter"/>
                <a:ea typeface="Inter"/>
              </a:rPr>
              <a:t>Group related tasks into workspaces with their own files, context, instructions and memory.</a:t>
            </a:r>
            <a:endParaRPr b="0" lang="en-AU" sz="1280" spc="-1" strike="noStrike">
              <a:solidFill>
                <a:srgbClr val="000000"/>
              </a:solidFill>
              <a:latin typeface="Arial"/>
            </a:endParaRPr>
          </a:p>
        </p:txBody>
      </p:sp>
      <p:sp>
        <p:nvSpPr>
          <p:cNvPr id="233" name="Shape 26"/>
          <p:cNvSpPr/>
          <p:nvPr/>
        </p:nvSpPr>
        <p:spPr>
          <a:xfrm>
            <a:off x="5229360" y="6553440"/>
            <a:ext cx="3819240" cy="2818800"/>
          </a:xfrm>
          <a:prstGeom prst="roundRect">
            <a:avLst>
              <a:gd name="adj" fmla="val 473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34" name="Text 27"/>
          <p:cNvSpPr/>
          <p:nvPr/>
        </p:nvSpPr>
        <p:spPr>
          <a:xfrm>
            <a:off x="5524560" y="6829560"/>
            <a:ext cx="332532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06</a:t>
            </a:r>
            <a:endParaRPr b="0" lang="en-AU" sz="2100" spc="-1" strike="noStrike">
              <a:solidFill>
                <a:srgbClr val="000000"/>
              </a:solidFill>
              <a:latin typeface="Arial"/>
            </a:endParaRPr>
          </a:p>
        </p:txBody>
      </p:sp>
      <p:sp>
        <p:nvSpPr>
          <p:cNvPr id="235" name="Text 28"/>
          <p:cNvSpPr/>
          <p:nvPr/>
        </p:nvSpPr>
        <p:spPr>
          <a:xfrm>
            <a:off x="5524560" y="7229880"/>
            <a:ext cx="332532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Browser use</a:t>
            </a:r>
            <a:endParaRPr b="0" lang="en-AU" sz="1800" spc="-1" strike="noStrike">
              <a:solidFill>
                <a:srgbClr val="000000"/>
              </a:solidFill>
              <a:latin typeface="Arial"/>
            </a:endParaRPr>
          </a:p>
        </p:txBody>
      </p:sp>
      <p:sp>
        <p:nvSpPr>
          <p:cNvPr id="236" name="Text 29"/>
          <p:cNvSpPr/>
          <p:nvPr/>
        </p:nvSpPr>
        <p:spPr>
          <a:xfrm>
            <a:off x="5524560" y="7606800"/>
            <a:ext cx="3325320" cy="766440"/>
          </a:xfrm>
          <a:prstGeom prst="rect">
            <a:avLst/>
          </a:prstGeom>
          <a:noFill/>
          <a:ln w="0">
            <a:noFill/>
          </a:ln>
        </p:spPr>
        <p:style>
          <a:lnRef idx="0"/>
          <a:fillRef idx="0"/>
          <a:effectRef idx="0"/>
          <a:fontRef idx="minor"/>
        </p:style>
        <p:txBody>
          <a:bodyPr lIns="25560" rIns="25560" tIns="25560" bIns="25560" anchor="t">
            <a:normAutofit fontScale="93333" lnSpcReduction="20000"/>
          </a:bodyPr>
          <a:p>
            <a:pPr defTabSz="914400">
              <a:lnSpc>
                <a:spcPct val="150000"/>
              </a:lnSpc>
              <a:tabLst>
                <a:tab algn="l" pos="0"/>
              </a:tabLst>
            </a:pPr>
            <a:r>
              <a:rPr b="0" lang="en-US" sz="1280" spc="-7" strike="noStrike">
                <a:solidFill>
                  <a:srgbClr val="1f2329"/>
                </a:solidFill>
                <a:latin typeface="Inter"/>
                <a:ea typeface="Inter"/>
              </a:rPr>
              <a:t>Connect Claude in Chrome — navigate websites, interact with pages, pull what it finds back in.</a:t>
            </a:r>
            <a:endParaRPr b="0" lang="en-AU" sz="1280" spc="-1" strike="noStrike">
              <a:solidFill>
                <a:srgbClr val="000000"/>
              </a:solidFill>
              <a:latin typeface="Arial"/>
            </a:endParaRPr>
          </a:p>
        </p:txBody>
      </p:sp>
      <p:sp>
        <p:nvSpPr>
          <p:cNvPr id="237" name="Shape 30"/>
          <p:cNvSpPr/>
          <p:nvPr/>
        </p:nvSpPr>
        <p:spPr>
          <a:xfrm>
            <a:off x="9239400" y="6553440"/>
            <a:ext cx="3819240" cy="2818800"/>
          </a:xfrm>
          <a:prstGeom prst="roundRect">
            <a:avLst>
              <a:gd name="adj" fmla="val 473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38" name="Text 31"/>
          <p:cNvSpPr/>
          <p:nvPr/>
        </p:nvSpPr>
        <p:spPr>
          <a:xfrm>
            <a:off x="9534600" y="6829560"/>
            <a:ext cx="332532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07</a:t>
            </a:r>
            <a:endParaRPr b="0" lang="en-AU" sz="2100" spc="-1" strike="noStrike">
              <a:solidFill>
                <a:srgbClr val="000000"/>
              </a:solidFill>
              <a:latin typeface="Arial"/>
            </a:endParaRPr>
          </a:p>
        </p:txBody>
      </p:sp>
      <p:sp>
        <p:nvSpPr>
          <p:cNvPr id="239" name="Text 32"/>
          <p:cNvSpPr/>
          <p:nvPr/>
        </p:nvSpPr>
        <p:spPr>
          <a:xfrm>
            <a:off x="9534600" y="7229880"/>
            <a:ext cx="332532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Computer use</a:t>
            </a:r>
            <a:endParaRPr b="0" lang="en-AU" sz="1800" spc="-1" strike="noStrike">
              <a:solidFill>
                <a:srgbClr val="000000"/>
              </a:solidFill>
              <a:latin typeface="Arial"/>
            </a:endParaRPr>
          </a:p>
        </p:txBody>
      </p:sp>
      <p:sp>
        <p:nvSpPr>
          <p:cNvPr id="240" name="Text 33"/>
          <p:cNvSpPr/>
          <p:nvPr/>
        </p:nvSpPr>
        <p:spPr>
          <a:xfrm>
            <a:off x="9534600" y="7606800"/>
            <a:ext cx="3325320" cy="766440"/>
          </a:xfrm>
          <a:prstGeom prst="rect">
            <a:avLst/>
          </a:prstGeom>
          <a:noFill/>
          <a:ln w="0">
            <a:noFill/>
          </a:ln>
        </p:spPr>
        <p:style>
          <a:lnRef idx="0"/>
          <a:fillRef idx="0"/>
          <a:effectRef idx="0"/>
          <a:fontRef idx="minor"/>
        </p:style>
        <p:txBody>
          <a:bodyPr lIns="25560" rIns="25560" tIns="25560" bIns="25560" anchor="t">
            <a:normAutofit fontScale="96666" lnSpcReduction="20000"/>
          </a:bodyPr>
          <a:p>
            <a:pPr defTabSz="914400">
              <a:lnSpc>
                <a:spcPct val="150000"/>
              </a:lnSpc>
              <a:tabLst>
                <a:tab algn="l" pos="0"/>
              </a:tabLst>
            </a:pPr>
            <a:r>
              <a:rPr b="0" lang="en-US" sz="1280" spc="-7" strike="noStrike">
                <a:solidFill>
                  <a:srgbClr val="1f2329"/>
                </a:solidFill>
                <a:latin typeface="Inter"/>
                <a:ea typeface="Inter"/>
              </a:rPr>
              <a:t>No connector? Claude navigates your computer directly — clicks, types, opens apps.</a:t>
            </a:r>
            <a:endParaRPr b="0" lang="en-AU" sz="1280" spc="-1" strike="noStrike">
              <a:solidFill>
                <a:srgbClr val="000000"/>
              </a:solidFill>
              <a:latin typeface="Arial"/>
            </a:endParaRPr>
          </a:p>
        </p:txBody>
      </p:sp>
      <p:sp>
        <p:nvSpPr>
          <p:cNvPr id="241" name="Shape 34"/>
          <p:cNvSpPr/>
          <p:nvPr/>
        </p:nvSpPr>
        <p:spPr>
          <a:xfrm>
            <a:off x="13249440" y="6553440"/>
            <a:ext cx="3819240" cy="2818800"/>
          </a:xfrm>
          <a:prstGeom prst="roundRect">
            <a:avLst>
              <a:gd name="adj" fmla="val 473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42" name="Text 35"/>
          <p:cNvSpPr/>
          <p:nvPr/>
        </p:nvSpPr>
        <p:spPr>
          <a:xfrm>
            <a:off x="13544640" y="6829560"/>
            <a:ext cx="332532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08</a:t>
            </a:r>
            <a:endParaRPr b="0" lang="en-AU" sz="2100" spc="-1" strike="noStrike">
              <a:solidFill>
                <a:srgbClr val="000000"/>
              </a:solidFill>
              <a:latin typeface="Arial"/>
            </a:endParaRPr>
          </a:p>
        </p:txBody>
      </p:sp>
      <p:sp>
        <p:nvSpPr>
          <p:cNvPr id="243" name="Text 36"/>
          <p:cNvSpPr/>
          <p:nvPr/>
        </p:nvSpPr>
        <p:spPr>
          <a:xfrm>
            <a:off x="13544640" y="7229880"/>
            <a:ext cx="332532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Plugins</a:t>
            </a:r>
            <a:endParaRPr b="0" lang="en-AU" sz="1800" spc="-1" strike="noStrike">
              <a:solidFill>
                <a:srgbClr val="000000"/>
              </a:solidFill>
              <a:latin typeface="Arial"/>
            </a:endParaRPr>
          </a:p>
        </p:txBody>
      </p:sp>
      <p:sp>
        <p:nvSpPr>
          <p:cNvPr id="244" name="Text 37"/>
          <p:cNvSpPr/>
          <p:nvPr/>
        </p:nvSpPr>
        <p:spPr>
          <a:xfrm>
            <a:off x="13544640" y="7606800"/>
            <a:ext cx="3325320" cy="76644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280" spc="-7" strike="noStrike">
                <a:solidFill>
                  <a:srgbClr val="1f2329"/>
                </a:solidFill>
                <a:latin typeface="Inter"/>
                <a:ea typeface="Inter"/>
              </a:rPr>
              <a:t>Specialized capabilities — live financial data, internal knowledge bases, compliance frameworks.</a:t>
            </a:r>
            <a:endParaRPr b="0" lang="en-AU" sz="1280" spc="-1" strike="noStrike">
              <a:solidFill>
                <a:srgbClr val="000000"/>
              </a:solidFill>
              <a:latin typeface="Arial"/>
            </a:endParaRPr>
          </a:p>
        </p:txBody>
      </p:sp>
      <p:sp>
        <p:nvSpPr>
          <p:cNvPr id="245" name="Text 38"/>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08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246" name="Image 0" descr="preencoded.png"/>
          <p:cNvPicPr/>
          <p:nvPr/>
        </p:nvPicPr>
        <p:blipFill>
          <a:blip r:embed="rId1"/>
          <a:stretch/>
        </p:blipFill>
        <p:spPr>
          <a:xfrm>
            <a:off x="1219320" y="468360"/>
            <a:ext cx="304560" cy="304560"/>
          </a:xfrm>
          <a:prstGeom prst="rect">
            <a:avLst/>
          </a:prstGeom>
          <a:ln w="0">
            <a:noFill/>
          </a:ln>
        </p:spPr>
      </p:pic>
      <p:sp>
        <p:nvSpPr>
          <p:cNvPr id="247"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248"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249"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250"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251" name="Text 4"/>
          <p:cNvSpPr/>
          <p:nvPr/>
        </p:nvSpPr>
        <p:spPr>
          <a:xfrm>
            <a:off x="1409760" y="1619280"/>
            <a:ext cx="30301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04 · CLAUDE CODE</a:t>
            </a:r>
            <a:endParaRPr b="0" lang="en-AU" sz="1350" spc="-1" strike="noStrike">
              <a:solidFill>
                <a:srgbClr val="000000"/>
              </a:solidFill>
              <a:latin typeface="Arial"/>
            </a:endParaRPr>
          </a:p>
        </p:txBody>
      </p:sp>
      <p:sp>
        <p:nvSpPr>
          <p:cNvPr id="252"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Claude works in your codebase.</a:t>
            </a:r>
            <a:endParaRPr b="0" lang="en-AU" sz="7200" spc="-1" strike="noStrike">
              <a:solidFill>
                <a:srgbClr val="000000"/>
              </a:solidFill>
              <a:latin typeface="Arial"/>
            </a:endParaRPr>
          </a:p>
        </p:txBody>
      </p:sp>
      <p:sp>
        <p:nvSpPr>
          <p:cNvPr id="253" name="Text 6"/>
          <p:cNvSpPr/>
          <p:nvPr/>
        </p:nvSpPr>
        <p:spPr>
          <a:xfrm>
            <a:off x="1219320" y="3239280"/>
            <a:ext cx="10791360" cy="1335960"/>
          </a:xfrm>
          <a:prstGeom prst="rect">
            <a:avLst/>
          </a:prstGeom>
          <a:noFill/>
          <a:ln w="0">
            <a:noFill/>
          </a:ln>
        </p:spPr>
        <p:style>
          <a:lnRef idx="0"/>
          <a:fillRef idx="0"/>
          <a:effectRef idx="0"/>
          <a:fontRef idx="minor"/>
        </p:style>
        <p:txBody>
          <a:bodyPr lIns="25560" rIns="25560" tIns="25560" bIns="25560" anchor="t">
            <a:normAutofit fontScale="98333" lnSpcReduction="20000"/>
          </a:bodyPr>
          <a:p>
            <a:pPr defTabSz="914400">
              <a:lnSpc>
                <a:spcPct val="142000"/>
              </a:lnSpc>
              <a:tabLst>
                <a:tab algn="l" pos="0"/>
              </a:tabLst>
            </a:pPr>
            <a:r>
              <a:rPr b="0" lang="en-US" sz="2400" spc="-12" strike="noStrike">
                <a:solidFill>
                  <a:srgbClr val="1f2329"/>
                </a:solidFill>
                <a:latin typeface="Inter"/>
                <a:ea typeface="Inter"/>
              </a:rPr>
              <a:t>Reads what's there, writes and modifies code, runs commands. Two places it can run from — and three working modes that control how much rope it gets.</a:t>
            </a:r>
            <a:endParaRPr b="0" lang="en-AU" sz="2400" spc="-1" strike="noStrike">
              <a:solidFill>
                <a:srgbClr val="000000"/>
              </a:solidFill>
              <a:latin typeface="Arial"/>
            </a:endParaRPr>
          </a:p>
        </p:txBody>
      </p:sp>
      <p:sp>
        <p:nvSpPr>
          <p:cNvPr id="254" name="Shape 7"/>
          <p:cNvSpPr/>
          <p:nvPr/>
        </p:nvSpPr>
        <p:spPr>
          <a:xfrm>
            <a:off x="1219320" y="5070960"/>
            <a:ext cx="7772040" cy="4301280"/>
          </a:xfrm>
          <a:prstGeom prst="roundRect">
            <a:avLst>
              <a:gd name="adj" fmla="val 31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55" name="Shape 8"/>
          <p:cNvSpPr/>
          <p:nvPr/>
        </p:nvSpPr>
        <p:spPr>
          <a:xfrm>
            <a:off x="1685880" y="5499720"/>
            <a:ext cx="77904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56" name="Text 9"/>
          <p:cNvSpPr/>
          <p:nvPr/>
        </p:nvSpPr>
        <p:spPr>
          <a:xfrm>
            <a:off x="1828800" y="5566320"/>
            <a:ext cx="56952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LOCAL</a:t>
            </a:r>
            <a:endParaRPr b="0" lang="en-AU" sz="1050" spc="-1" strike="noStrike">
              <a:solidFill>
                <a:srgbClr val="000000"/>
              </a:solidFill>
              <a:latin typeface="Arial"/>
            </a:endParaRPr>
          </a:p>
        </p:txBody>
      </p:sp>
      <p:sp>
        <p:nvSpPr>
          <p:cNvPr id="257" name="Text 10"/>
          <p:cNvSpPr/>
          <p:nvPr/>
        </p:nvSpPr>
        <p:spPr>
          <a:xfrm>
            <a:off x="1685880" y="6031440"/>
            <a:ext cx="7043760" cy="45396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15000"/>
              </a:lnSpc>
              <a:tabLst>
                <a:tab algn="l" pos="0"/>
              </a:tabLst>
            </a:pPr>
            <a:r>
              <a:rPr b="1" lang="en-US" sz="2850" spc="-35" strike="noStrike">
                <a:solidFill>
                  <a:srgbClr val="0e1116"/>
                </a:solidFill>
                <a:latin typeface="Space Grotesk"/>
                <a:ea typeface="Space Grotesk"/>
              </a:rPr>
              <a:t>On your machine</a:t>
            </a:r>
            <a:endParaRPr b="0" lang="en-AU" sz="2850" spc="-1" strike="noStrike">
              <a:solidFill>
                <a:srgbClr val="000000"/>
              </a:solidFill>
              <a:latin typeface="Arial"/>
            </a:endParaRPr>
          </a:p>
        </p:txBody>
      </p:sp>
      <p:sp>
        <p:nvSpPr>
          <p:cNvPr id="258" name="Text 11"/>
          <p:cNvSpPr/>
          <p:nvPr/>
        </p:nvSpPr>
        <p:spPr>
          <a:xfrm>
            <a:off x="1685880" y="6561720"/>
            <a:ext cx="7043760" cy="937800"/>
          </a:xfrm>
          <a:prstGeom prst="rect">
            <a:avLst/>
          </a:prstGeom>
          <a:noFill/>
          <a:ln w="0">
            <a:noFill/>
          </a:ln>
        </p:spPr>
        <p:style>
          <a:lnRef idx="0"/>
          <a:fillRef idx="0"/>
          <a:effectRef idx="0"/>
          <a:fontRef idx="minor"/>
        </p:style>
        <p:txBody>
          <a:bodyPr lIns="25560" rIns="25560" tIns="25560" bIns="25560" anchor="t">
            <a:normAutofit/>
          </a:bodyPr>
          <a:p>
            <a:pPr defTabSz="914400">
              <a:lnSpc>
                <a:spcPct val="150000"/>
              </a:lnSpc>
              <a:tabLst>
                <a:tab algn="l" pos="0"/>
              </a:tabLst>
            </a:pPr>
            <a:r>
              <a:rPr b="0" lang="en-US" sz="1580" spc="-9" strike="noStrike">
                <a:solidFill>
                  <a:srgbClr val="1f2329"/>
                </a:solidFill>
                <a:latin typeface="Inter"/>
                <a:ea typeface="Inter"/>
              </a:rPr>
              <a:t>Select a folder; Claude works directly with those files. Reads your project, accesses local tools, runs a dev server you can preview in your browser.</a:t>
            </a:r>
            <a:endParaRPr b="0" lang="en-AU" sz="1580" spc="-1" strike="noStrike">
              <a:solidFill>
                <a:srgbClr val="000000"/>
              </a:solidFill>
              <a:latin typeface="Arial"/>
            </a:endParaRPr>
          </a:p>
        </p:txBody>
      </p:sp>
      <p:sp>
        <p:nvSpPr>
          <p:cNvPr id="259" name="Shape 12"/>
          <p:cNvSpPr/>
          <p:nvPr/>
        </p:nvSpPr>
        <p:spPr>
          <a:xfrm>
            <a:off x="9296280" y="5070960"/>
            <a:ext cx="7772040" cy="4301280"/>
          </a:xfrm>
          <a:prstGeom prst="roundRect">
            <a:avLst>
              <a:gd name="adj" fmla="val 31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60" name="Shape 13"/>
          <p:cNvSpPr/>
          <p:nvPr/>
        </p:nvSpPr>
        <p:spPr>
          <a:xfrm>
            <a:off x="9763200" y="5499720"/>
            <a:ext cx="87768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61" name="Text 14"/>
          <p:cNvSpPr/>
          <p:nvPr/>
        </p:nvSpPr>
        <p:spPr>
          <a:xfrm>
            <a:off x="9906120" y="5566320"/>
            <a:ext cx="66816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REMOTE</a:t>
            </a:r>
            <a:endParaRPr b="0" lang="en-AU" sz="1050" spc="-1" strike="noStrike">
              <a:solidFill>
                <a:srgbClr val="000000"/>
              </a:solidFill>
              <a:latin typeface="Arial"/>
            </a:endParaRPr>
          </a:p>
        </p:txBody>
      </p:sp>
      <p:sp>
        <p:nvSpPr>
          <p:cNvPr id="262" name="Text 15"/>
          <p:cNvSpPr/>
          <p:nvPr/>
        </p:nvSpPr>
        <p:spPr>
          <a:xfrm>
            <a:off x="9763200" y="6031440"/>
            <a:ext cx="7043760" cy="45396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15000"/>
              </a:lnSpc>
              <a:tabLst>
                <a:tab algn="l" pos="0"/>
              </a:tabLst>
            </a:pPr>
            <a:r>
              <a:rPr b="1" lang="en-US" sz="2850" spc="-35" strike="noStrike">
                <a:solidFill>
                  <a:srgbClr val="0e1116"/>
                </a:solidFill>
                <a:latin typeface="Space Grotesk"/>
                <a:ea typeface="Space Grotesk"/>
              </a:rPr>
              <a:t>In a cloud env</a:t>
            </a:r>
            <a:endParaRPr b="0" lang="en-AU" sz="2850" spc="-1" strike="noStrike">
              <a:solidFill>
                <a:srgbClr val="000000"/>
              </a:solidFill>
              <a:latin typeface="Arial"/>
            </a:endParaRPr>
          </a:p>
        </p:txBody>
      </p:sp>
      <p:sp>
        <p:nvSpPr>
          <p:cNvPr id="263" name="Text 16"/>
          <p:cNvSpPr/>
          <p:nvPr/>
        </p:nvSpPr>
        <p:spPr>
          <a:xfrm>
            <a:off x="9763200" y="6561720"/>
            <a:ext cx="7043760" cy="6379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0" lang="en-US" sz="1580" spc="-9" strike="noStrike">
                <a:solidFill>
                  <a:srgbClr val="1f2329"/>
                </a:solidFill>
                <a:latin typeface="Inter"/>
                <a:ea typeface="Inter"/>
              </a:rPr>
              <a:t>Connect a GitHub repo; sessions continue even if you close the app. Good for larger codebases or keeping dev off your local machine.</a:t>
            </a:r>
            <a:endParaRPr b="0" lang="en-AU" sz="1580" spc="-1" strike="noStrike">
              <a:solidFill>
                <a:srgbClr val="000000"/>
              </a:solidFill>
              <a:latin typeface="Arial"/>
            </a:endParaRPr>
          </a:p>
        </p:txBody>
      </p:sp>
      <p:sp>
        <p:nvSpPr>
          <p:cNvPr id="264" name="Text 17"/>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09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265" name="Image 0" descr="preencoded.png"/>
          <p:cNvPicPr/>
          <p:nvPr/>
        </p:nvPicPr>
        <p:blipFill>
          <a:blip r:embed="rId1"/>
          <a:stretch/>
        </p:blipFill>
        <p:spPr>
          <a:xfrm>
            <a:off x="1219320" y="468360"/>
            <a:ext cx="304560" cy="304560"/>
          </a:xfrm>
          <a:prstGeom prst="rect">
            <a:avLst/>
          </a:prstGeom>
          <a:ln w="0">
            <a:noFill/>
          </a:ln>
        </p:spPr>
      </p:pic>
      <p:sp>
        <p:nvSpPr>
          <p:cNvPr id="266"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267"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268"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269"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270" name="Text 4"/>
          <p:cNvSpPr/>
          <p:nvPr/>
        </p:nvSpPr>
        <p:spPr>
          <a:xfrm>
            <a:off x="1409760" y="1619280"/>
            <a:ext cx="26168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CLAUDE CODE · MODES</a:t>
            </a:r>
            <a:endParaRPr b="0" lang="en-AU" sz="1350" spc="-1" strike="noStrike">
              <a:solidFill>
                <a:srgbClr val="000000"/>
              </a:solidFill>
              <a:latin typeface="Arial"/>
            </a:endParaRPr>
          </a:p>
        </p:txBody>
      </p:sp>
      <p:sp>
        <p:nvSpPr>
          <p:cNvPr id="271"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How much rope to give it.</a:t>
            </a:r>
            <a:endParaRPr b="0" lang="en-AU" sz="7200" spc="-1" strike="noStrike">
              <a:solidFill>
                <a:srgbClr val="000000"/>
              </a:solidFill>
              <a:latin typeface="Arial"/>
            </a:endParaRPr>
          </a:p>
        </p:txBody>
      </p:sp>
      <p:sp>
        <p:nvSpPr>
          <p:cNvPr id="272" name="Shape 6"/>
          <p:cNvSpPr/>
          <p:nvPr/>
        </p:nvSpPr>
        <p:spPr>
          <a:xfrm>
            <a:off x="1219320" y="3544200"/>
            <a:ext cx="5105160" cy="5828040"/>
          </a:xfrm>
          <a:prstGeom prst="roundRect">
            <a:avLst>
              <a:gd name="adj" fmla="val 261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73" name="Text 7"/>
          <p:cNvSpPr/>
          <p:nvPr/>
        </p:nvSpPr>
        <p:spPr>
          <a:xfrm>
            <a:off x="1647720" y="3934440"/>
            <a:ext cx="4375080" cy="5713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4200" spc="-60" strike="noStrike">
                <a:solidFill>
                  <a:srgbClr val="e36a2c"/>
                </a:solidFill>
                <a:latin typeface="Space Grotesk"/>
                <a:ea typeface="Space Grotesk"/>
              </a:rPr>
              <a:t>01</a:t>
            </a:r>
            <a:endParaRPr b="0" lang="en-AU" sz="4200" spc="-1" strike="noStrike">
              <a:solidFill>
                <a:srgbClr val="000000"/>
              </a:solidFill>
              <a:latin typeface="Arial"/>
            </a:endParaRPr>
          </a:p>
        </p:txBody>
      </p:sp>
      <p:sp>
        <p:nvSpPr>
          <p:cNvPr id="274" name="Text 8"/>
          <p:cNvSpPr/>
          <p:nvPr/>
        </p:nvSpPr>
        <p:spPr>
          <a:xfrm>
            <a:off x="1647720" y="4677480"/>
            <a:ext cx="4375080" cy="410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2550" spc="-32" strike="noStrike">
                <a:solidFill>
                  <a:srgbClr val="0e1116"/>
                </a:solidFill>
                <a:latin typeface="Space Grotesk"/>
                <a:ea typeface="Space Grotesk"/>
              </a:rPr>
              <a:t>Ask</a:t>
            </a:r>
            <a:endParaRPr b="0" lang="en-AU" sz="2550" spc="-1" strike="noStrike">
              <a:solidFill>
                <a:srgbClr val="000000"/>
              </a:solidFill>
              <a:latin typeface="Arial"/>
            </a:endParaRPr>
          </a:p>
        </p:txBody>
      </p:sp>
      <p:sp>
        <p:nvSpPr>
          <p:cNvPr id="275" name="Text 9"/>
          <p:cNvSpPr/>
          <p:nvPr/>
        </p:nvSpPr>
        <p:spPr>
          <a:xfrm>
            <a:off x="1647720" y="5164200"/>
            <a:ext cx="4375080" cy="8521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430" spc="-7" strike="noStrike">
                <a:solidFill>
                  <a:srgbClr val="1f2329"/>
                </a:solidFill>
                <a:latin typeface="Inter"/>
                <a:ea typeface="Inter"/>
              </a:rPr>
              <a:t>Claude proposes every change and waits for your approval. Review a visual diff; accept or reject before anything is modified.</a:t>
            </a:r>
            <a:endParaRPr b="0" lang="en-AU" sz="1430" spc="-1" strike="noStrike">
              <a:solidFill>
                <a:srgbClr val="000000"/>
              </a:solidFill>
              <a:latin typeface="Arial"/>
            </a:endParaRPr>
          </a:p>
        </p:txBody>
      </p:sp>
      <p:sp>
        <p:nvSpPr>
          <p:cNvPr id="276" name="Shape 10"/>
          <p:cNvSpPr/>
          <p:nvPr/>
        </p:nvSpPr>
        <p:spPr>
          <a:xfrm>
            <a:off x="1647720" y="6321600"/>
            <a:ext cx="156816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77" name="Text 11"/>
          <p:cNvSpPr/>
          <p:nvPr/>
        </p:nvSpPr>
        <p:spPr>
          <a:xfrm>
            <a:off x="1790640" y="6388200"/>
            <a:ext cx="135864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MOST CAUTIOUS</a:t>
            </a:r>
            <a:endParaRPr b="0" lang="en-AU" sz="1050" spc="-1" strike="noStrike">
              <a:solidFill>
                <a:srgbClr val="000000"/>
              </a:solidFill>
              <a:latin typeface="Arial"/>
            </a:endParaRPr>
          </a:p>
        </p:txBody>
      </p:sp>
      <p:sp>
        <p:nvSpPr>
          <p:cNvPr id="278" name="Shape 12"/>
          <p:cNvSpPr/>
          <p:nvPr/>
        </p:nvSpPr>
        <p:spPr>
          <a:xfrm>
            <a:off x="6591240" y="3544200"/>
            <a:ext cx="5105160" cy="5828040"/>
          </a:xfrm>
          <a:prstGeom prst="roundRect">
            <a:avLst>
              <a:gd name="adj" fmla="val 261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79" name="Text 13"/>
          <p:cNvSpPr/>
          <p:nvPr/>
        </p:nvSpPr>
        <p:spPr>
          <a:xfrm>
            <a:off x="7020000" y="3934440"/>
            <a:ext cx="4375080" cy="5713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4200" spc="-60" strike="noStrike">
                <a:solidFill>
                  <a:srgbClr val="e36a2c"/>
                </a:solidFill>
                <a:latin typeface="Space Grotesk"/>
                <a:ea typeface="Space Grotesk"/>
              </a:rPr>
              <a:t>02</a:t>
            </a:r>
            <a:endParaRPr b="0" lang="en-AU" sz="4200" spc="-1" strike="noStrike">
              <a:solidFill>
                <a:srgbClr val="000000"/>
              </a:solidFill>
              <a:latin typeface="Arial"/>
            </a:endParaRPr>
          </a:p>
        </p:txBody>
      </p:sp>
      <p:sp>
        <p:nvSpPr>
          <p:cNvPr id="280" name="Text 14"/>
          <p:cNvSpPr/>
          <p:nvPr/>
        </p:nvSpPr>
        <p:spPr>
          <a:xfrm>
            <a:off x="7020000" y="4677480"/>
            <a:ext cx="4375080" cy="410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2550" spc="-32" strike="noStrike">
                <a:solidFill>
                  <a:srgbClr val="0e1116"/>
                </a:solidFill>
                <a:latin typeface="Space Grotesk"/>
                <a:ea typeface="Space Grotesk"/>
              </a:rPr>
              <a:t>Code</a:t>
            </a:r>
            <a:endParaRPr b="0" lang="en-AU" sz="2550" spc="-1" strike="noStrike">
              <a:solidFill>
                <a:srgbClr val="000000"/>
              </a:solidFill>
              <a:latin typeface="Arial"/>
            </a:endParaRPr>
          </a:p>
        </p:txBody>
      </p:sp>
      <p:sp>
        <p:nvSpPr>
          <p:cNvPr id="281" name="Text 15"/>
          <p:cNvSpPr/>
          <p:nvPr/>
        </p:nvSpPr>
        <p:spPr>
          <a:xfrm>
            <a:off x="7020000" y="5164200"/>
            <a:ext cx="4375080" cy="852120"/>
          </a:xfrm>
          <a:prstGeom prst="rect">
            <a:avLst/>
          </a:prstGeom>
          <a:noFill/>
          <a:ln w="0">
            <a:noFill/>
          </a:ln>
        </p:spPr>
        <p:style>
          <a:lnRef idx="0"/>
          <a:fillRef idx="0"/>
          <a:effectRef idx="0"/>
          <a:fontRef idx="minor"/>
        </p:style>
        <p:txBody>
          <a:bodyPr lIns="25560" rIns="25560" tIns="25560" bIns="25560" anchor="t">
            <a:normAutofit fontScale="96666" lnSpcReduction="20000"/>
          </a:bodyPr>
          <a:p>
            <a:pPr defTabSz="914400">
              <a:lnSpc>
                <a:spcPct val="150000"/>
              </a:lnSpc>
              <a:tabLst>
                <a:tab algn="l" pos="0"/>
              </a:tabLst>
            </a:pPr>
            <a:r>
              <a:rPr b="0" lang="en-US" sz="1430" spc="-7" strike="noStrike">
                <a:solidFill>
                  <a:srgbClr val="1f2329"/>
                </a:solidFill>
                <a:latin typeface="Inter"/>
                <a:ea typeface="Inter"/>
              </a:rPr>
              <a:t>Claude applies file changes automatically but checks with you before running terminal commands.</a:t>
            </a:r>
            <a:endParaRPr b="0" lang="en-AU" sz="1430" spc="-1" strike="noStrike">
              <a:solidFill>
                <a:srgbClr val="000000"/>
              </a:solidFill>
              <a:latin typeface="Arial"/>
            </a:endParaRPr>
          </a:p>
        </p:txBody>
      </p:sp>
      <p:sp>
        <p:nvSpPr>
          <p:cNvPr id="282" name="Shape 16"/>
          <p:cNvSpPr/>
          <p:nvPr/>
        </p:nvSpPr>
        <p:spPr>
          <a:xfrm>
            <a:off x="7020000" y="6321600"/>
            <a:ext cx="97632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83" name="Text 17"/>
          <p:cNvSpPr/>
          <p:nvPr/>
        </p:nvSpPr>
        <p:spPr>
          <a:xfrm>
            <a:off x="7162920" y="6388200"/>
            <a:ext cx="76680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DEFAULT</a:t>
            </a:r>
            <a:endParaRPr b="0" lang="en-AU" sz="1050" spc="-1" strike="noStrike">
              <a:solidFill>
                <a:srgbClr val="000000"/>
              </a:solidFill>
              <a:latin typeface="Arial"/>
            </a:endParaRPr>
          </a:p>
        </p:txBody>
      </p:sp>
      <p:sp>
        <p:nvSpPr>
          <p:cNvPr id="284" name="Shape 18"/>
          <p:cNvSpPr/>
          <p:nvPr/>
        </p:nvSpPr>
        <p:spPr>
          <a:xfrm>
            <a:off x="11963520" y="3544200"/>
            <a:ext cx="5105160" cy="5828040"/>
          </a:xfrm>
          <a:prstGeom prst="roundRect">
            <a:avLst>
              <a:gd name="adj" fmla="val 261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85" name="Text 19"/>
          <p:cNvSpPr/>
          <p:nvPr/>
        </p:nvSpPr>
        <p:spPr>
          <a:xfrm>
            <a:off x="12391920" y="3934440"/>
            <a:ext cx="4375080" cy="5713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4200" spc="-60" strike="noStrike">
                <a:solidFill>
                  <a:srgbClr val="e36a2c"/>
                </a:solidFill>
                <a:latin typeface="Space Grotesk"/>
                <a:ea typeface="Space Grotesk"/>
              </a:rPr>
              <a:t>03</a:t>
            </a:r>
            <a:endParaRPr b="0" lang="en-AU" sz="4200" spc="-1" strike="noStrike">
              <a:solidFill>
                <a:srgbClr val="000000"/>
              </a:solidFill>
              <a:latin typeface="Arial"/>
            </a:endParaRPr>
          </a:p>
        </p:txBody>
      </p:sp>
      <p:sp>
        <p:nvSpPr>
          <p:cNvPr id="286" name="Text 20"/>
          <p:cNvSpPr/>
          <p:nvPr/>
        </p:nvSpPr>
        <p:spPr>
          <a:xfrm>
            <a:off x="12391920" y="4677480"/>
            <a:ext cx="4375080" cy="410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2550" spc="-32" strike="noStrike">
                <a:solidFill>
                  <a:srgbClr val="0e1116"/>
                </a:solidFill>
                <a:latin typeface="Space Grotesk"/>
                <a:ea typeface="Space Grotesk"/>
              </a:rPr>
              <a:t>Plan</a:t>
            </a:r>
            <a:endParaRPr b="0" lang="en-AU" sz="2550" spc="-1" strike="noStrike">
              <a:solidFill>
                <a:srgbClr val="000000"/>
              </a:solidFill>
              <a:latin typeface="Arial"/>
            </a:endParaRPr>
          </a:p>
        </p:txBody>
      </p:sp>
      <p:sp>
        <p:nvSpPr>
          <p:cNvPr id="287" name="Text 21"/>
          <p:cNvSpPr/>
          <p:nvPr/>
        </p:nvSpPr>
        <p:spPr>
          <a:xfrm>
            <a:off x="12391920" y="5164200"/>
            <a:ext cx="4375080" cy="85212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430" spc="-7" strike="noStrike">
                <a:solidFill>
                  <a:srgbClr val="1f2329"/>
                </a:solidFill>
                <a:latin typeface="Inter"/>
                <a:ea typeface="Inter"/>
              </a:rPr>
              <a:t>Claude outlines its full approach before touching anything. A dedicated plan viewer lets you review and revisit as work progresses.</a:t>
            </a:r>
            <a:endParaRPr b="0" lang="en-AU" sz="1430" spc="-1" strike="noStrike">
              <a:solidFill>
                <a:srgbClr val="000000"/>
              </a:solidFill>
              <a:latin typeface="Arial"/>
            </a:endParaRPr>
          </a:p>
        </p:txBody>
      </p:sp>
      <p:sp>
        <p:nvSpPr>
          <p:cNvPr id="288" name="Shape 22"/>
          <p:cNvSpPr/>
          <p:nvPr/>
        </p:nvSpPr>
        <p:spPr>
          <a:xfrm>
            <a:off x="12391920" y="6321600"/>
            <a:ext cx="146952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89" name="Text 23"/>
          <p:cNvSpPr/>
          <p:nvPr/>
        </p:nvSpPr>
        <p:spPr>
          <a:xfrm>
            <a:off x="12534840" y="6388200"/>
            <a:ext cx="126000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FOR BIG WORK</a:t>
            </a:r>
            <a:endParaRPr b="0" lang="en-AU" sz="1050" spc="-1" strike="noStrike">
              <a:solidFill>
                <a:srgbClr val="000000"/>
              </a:solidFill>
              <a:latin typeface="Arial"/>
            </a:endParaRPr>
          </a:p>
        </p:txBody>
      </p:sp>
      <p:sp>
        <p:nvSpPr>
          <p:cNvPr id="290" name="Text 24"/>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10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291" name="Image 0" descr="preencoded.png"/>
          <p:cNvPicPr/>
          <p:nvPr/>
        </p:nvPicPr>
        <p:blipFill>
          <a:blip r:embed="rId1"/>
          <a:stretch/>
        </p:blipFill>
        <p:spPr>
          <a:xfrm>
            <a:off x="1219320" y="468360"/>
            <a:ext cx="304560" cy="304560"/>
          </a:xfrm>
          <a:prstGeom prst="rect">
            <a:avLst/>
          </a:prstGeom>
          <a:ln w="0">
            <a:noFill/>
          </a:ln>
        </p:spPr>
      </p:pic>
      <p:sp>
        <p:nvSpPr>
          <p:cNvPr id="292"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293"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294"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295"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296" name="Text 4"/>
          <p:cNvSpPr/>
          <p:nvPr/>
        </p:nvSpPr>
        <p:spPr>
          <a:xfrm>
            <a:off x="1409760" y="1619280"/>
            <a:ext cx="20818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05 · CHAT</a:t>
            </a:r>
            <a:endParaRPr b="0" lang="en-AU" sz="1350" spc="-1" strike="noStrike">
              <a:solidFill>
                <a:srgbClr val="000000"/>
              </a:solidFill>
              <a:latin typeface="Arial"/>
            </a:endParaRPr>
          </a:p>
        </p:txBody>
      </p:sp>
      <p:sp>
        <p:nvSpPr>
          <p:cNvPr id="297"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When you just need to ask.</a:t>
            </a:r>
            <a:endParaRPr b="0" lang="en-AU" sz="7200" spc="-1" strike="noStrike">
              <a:solidFill>
                <a:srgbClr val="000000"/>
              </a:solidFill>
              <a:latin typeface="Arial"/>
            </a:endParaRPr>
          </a:p>
        </p:txBody>
      </p:sp>
      <p:sp>
        <p:nvSpPr>
          <p:cNvPr id="298" name="Text 6"/>
          <p:cNvSpPr/>
          <p:nvPr/>
        </p:nvSpPr>
        <p:spPr>
          <a:xfrm>
            <a:off x="1219320" y="3239280"/>
            <a:ext cx="10791360" cy="90324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42000"/>
              </a:lnSpc>
              <a:tabLst>
                <a:tab algn="l" pos="0"/>
              </a:tabLst>
            </a:pPr>
            <a:r>
              <a:rPr b="0" lang="en-US" sz="2400" spc="-12" strike="noStrike">
                <a:solidFill>
                  <a:srgbClr val="1f2329"/>
                </a:solidFill>
                <a:latin typeface="Inter"/>
                <a:ea typeface="Inter"/>
              </a:rPr>
              <a:t>Chat excels for questions, brainstorming, drafting, and working through problems back-and-forth. The quick-entry surface.</a:t>
            </a:r>
            <a:endParaRPr b="0" lang="en-AU" sz="2400" spc="-1" strike="noStrike">
              <a:solidFill>
                <a:srgbClr val="000000"/>
              </a:solidFill>
              <a:latin typeface="Arial"/>
            </a:endParaRPr>
          </a:p>
        </p:txBody>
      </p:sp>
      <p:sp>
        <p:nvSpPr>
          <p:cNvPr id="299" name="Text 7"/>
          <p:cNvSpPr/>
          <p:nvPr/>
        </p:nvSpPr>
        <p:spPr>
          <a:xfrm>
            <a:off x="1600200" y="4638240"/>
            <a:ext cx="810720" cy="6577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8000"/>
              </a:lnSpc>
              <a:tabLst>
                <a:tab algn="l" pos="0"/>
              </a:tabLst>
            </a:pPr>
            <a:r>
              <a:rPr b="1" lang="en-US" sz="1650" spc="-1" strike="noStrike">
                <a:solidFill>
                  <a:srgbClr val="0e1116"/>
                </a:solidFill>
                <a:latin typeface="Inter"/>
                <a:ea typeface="Inter"/>
              </a:rPr>
              <a:t>Quick entry.</a:t>
            </a:r>
            <a:endParaRPr b="0" lang="en-AU" sz="1650" spc="-1" strike="noStrike">
              <a:solidFill>
                <a:srgbClr val="000000"/>
              </a:solidFill>
              <a:latin typeface="Arial"/>
            </a:endParaRPr>
          </a:p>
        </p:txBody>
      </p:sp>
      <p:sp>
        <p:nvSpPr>
          <p:cNvPr id="300" name="Text 8"/>
          <p:cNvSpPr/>
          <p:nvPr/>
        </p:nvSpPr>
        <p:spPr>
          <a:xfrm>
            <a:off x="2506320" y="4666680"/>
            <a:ext cx="6537600" cy="595440"/>
          </a:xfrm>
          <a:prstGeom prst="rect">
            <a:avLst/>
          </a:prstGeom>
          <a:noFill/>
          <a:ln w="0">
            <a:noFill/>
          </a:ln>
        </p:spPr>
        <p:style>
          <a:lnRef idx="0"/>
          <a:fillRef idx="0"/>
          <a:effectRef idx="0"/>
          <a:fontRef idx="minor"/>
        </p:style>
        <p:txBody>
          <a:bodyPr lIns="0" rIns="0" tIns="0" bIns="0" anchor="t">
            <a:normAutofit fontScale="81111"/>
          </a:bodyPr>
          <a:p>
            <a:pPr defTabSz="914400">
              <a:lnSpc>
                <a:spcPct val="148000"/>
              </a:lnSpc>
              <a:tabLst>
                <a:tab algn="l" pos="0"/>
              </a:tabLst>
            </a:pPr>
            <a:r>
              <a:rPr b="0" lang="en-US" sz="1650" spc="-1" strike="noStrike">
                <a:solidFill>
                  <a:srgbClr val="1f2329"/>
                </a:solidFill>
                <a:latin typeface="Inter"/>
                <a:ea typeface="Inter"/>
              </a:rPr>
              <a:t>Double-tap Option (Mac) to pull Claude up over whatever you're working on — stays on top as you switch apps.</a:t>
            </a:r>
            <a:endParaRPr b="0" lang="en-AU" sz="1650" spc="-1" strike="noStrike">
              <a:solidFill>
                <a:srgbClr val="000000"/>
              </a:solidFill>
              <a:latin typeface="Arial"/>
            </a:endParaRPr>
          </a:p>
        </p:txBody>
      </p:sp>
      <p:sp>
        <p:nvSpPr>
          <p:cNvPr id="301" name="Text 9"/>
          <p:cNvSpPr/>
          <p:nvPr/>
        </p:nvSpPr>
        <p:spPr>
          <a:xfrm>
            <a:off x="1600200" y="5448600"/>
            <a:ext cx="2450520" cy="6577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8000"/>
              </a:lnSpc>
              <a:tabLst>
                <a:tab algn="l" pos="0"/>
              </a:tabLst>
            </a:pPr>
            <a:r>
              <a:rPr b="1" lang="en-US" sz="1650" spc="-1" strike="noStrike">
                <a:solidFill>
                  <a:srgbClr val="0e1116"/>
                </a:solidFill>
                <a:latin typeface="Inter"/>
                <a:ea typeface="Inter"/>
              </a:rPr>
              <a:t>Screenshots &amp; window sharing.</a:t>
            </a:r>
            <a:endParaRPr b="0" lang="en-AU" sz="1650" spc="-1" strike="noStrike">
              <a:solidFill>
                <a:srgbClr val="000000"/>
              </a:solidFill>
              <a:latin typeface="Arial"/>
            </a:endParaRPr>
          </a:p>
        </p:txBody>
      </p:sp>
      <p:sp>
        <p:nvSpPr>
          <p:cNvPr id="302" name="Text 10"/>
          <p:cNvSpPr/>
          <p:nvPr/>
        </p:nvSpPr>
        <p:spPr>
          <a:xfrm>
            <a:off x="4146480" y="5477400"/>
            <a:ext cx="4923720" cy="595440"/>
          </a:xfrm>
          <a:prstGeom prst="rect">
            <a:avLst/>
          </a:prstGeom>
          <a:noFill/>
          <a:ln w="0">
            <a:noFill/>
          </a:ln>
        </p:spPr>
        <p:style>
          <a:lnRef idx="0"/>
          <a:fillRef idx="0"/>
          <a:effectRef idx="0"/>
          <a:fontRef idx="minor"/>
        </p:style>
        <p:txBody>
          <a:bodyPr lIns="0" rIns="0" tIns="0" bIns="0" anchor="t">
            <a:normAutofit fontScale="81111"/>
          </a:bodyPr>
          <a:p>
            <a:pPr defTabSz="914400">
              <a:lnSpc>
                <a:spcPct val="148000"/>
              </a:lnSpc>
              <a:tabLst>
                <a:tab algn="l" pos="0"/>
              </a:tabLst>
            </a:pPr>
            <a:r>
              <a:rPr b="0" lang="en-US" sz="1650" spc="-1" strike="noStrike">
                <a:solidFill>
                  <a:srgbClr val="1f2329"/>
                </a:solidFill>
                <a:latin typeface="Inter"/>
                <a:ea typeface="Inter"/>
              </a:rPr>
              <a:t>Show Claude what you're looking at. Faster than describing. (Mac)</a:t>
            </a:r>
            <a:endParaRPr b="0" lang="en-AU" sz="1650" spc="-1" strike="noStrike">
              <a:solidFill>
                <a:srgbClr val="000000"/>
              </a:solidFill>
              <a:latin typeface="Arial"/>
            </a:endParaRPr>
          </a:p>
        </p:txBody>
      </p:sp>
      <p:sp>
        <p:nvSpPr>
          <p:cNvPr id="303" name="Text 11"/>
          <p:cNvSpPr/>
          <p:nvPr/>
        </p:nvSpPr>
        <p:spPr>
          <a:xfrm>
            <a:off x="1600200" y="6259320"/>
            <a:ext cx="106920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8000"/>
              </a:lnSpc>
              <a:tabLst>
                <a:tab algn="l" pos="0"/>
              </a:tabLst>
            </a:pPr>
            <a:r>
              <a:rPr b="1" lang="en-US" sz="1650" spc="-1" strike="noStrike">
                <a:solidFill>
                  <a:srgbClr val="0e1116"/>
                </a:solidFill>
                <a:latin typeface="Inter"/>
                <a:ea typeface="Inter"/>
              </a:rPr>
              <a:t>Dictation.</a:t>
            </a:r>
            <a:endParaRPr b="0" lang="en-AU" sz="1650" spc="-1" strike="noStrike">
              <a:solidFill>
                <a:srgbClr val="000000"/>
              </a:solidFill>
              <a:latin typeface="Arial"/>
            </a:endParaRPr>
          </a:p>
        </p:txBody>
      </p:sp>
      <p:sp>
        <p:nvSpPr>
          <p:cNvPr id="304" name="Text 12"/>
          <p:cNvSpPr/>
          <p:nvPr/>
        </p:nvSpPr>
        <p:spPr>
          <a:xfrm>
            <a:off x="2765160" y="6287760"/>
            <a:ext cx="6100560" cy="595440"/>
          </a:xfrm>
          <a:prstGeom prst="rect">
            <a:avLst/>
          </a:prstGeom>
          <a:noFill/>
          <a:ln w="0">
            <a:noFill/>
          </a:ln>
        </p:spPr>
        <p:style>
          <a:lnRef idx="0"/>
          <a:fillRef idx="0"/>
          <a:effectRef idx="0"/>
          <a:fontRef idx="minor"/>
        </p:style>
        <p:txBody>
          <a:bodyPr lIns="0" rIns="0" tIns="0" bIns="0" anchor="t">
            <a:normAutofit fontScale="98333" lnSpcReduction="20000"/>
          </a:bodyPr>
          <a:p>
            <a:pPr defTabSz="914400">
              <a:lnSpc>
                <a:spcPct val="148000"/>
              </a:lnSpc>
              <a:tabLst>
                <a:tab algn="l" pos="0"/>
              </a:tabLst>
            </a:pPr>
            <a:r>
              <a:rPr b="0" lang="en-US" sz="1650" spc="-1" strike="noStrike">
                <a:solidFill>
                  <a:srgbClr val="1f2329"/>
                </a:solidFill>
                <a:latin typeface="Inter"/>
                <a:ea typeface="Inter"/>
              </a:rPr>
              <a:t>Talk through a problem when speaking is faster than typing. (Mac)</a:t>
            </a:r>
            <a:endParaRPr b="0" lang="en-AU" sz="1650" spc="-1" strike="noStrike">
              <a:solidFill>
                <a:srgbClr val="000000"/>
              </a:solidFill>
              <a:latin typeface="Arial"/>
            </a:endParaRPr>
          </a:p>
        </p:txBody>
      </p:sp>
      <p:sp>
        <p:nvSpPr>
          <p:cNvPr id="305" name="Text 13"/>
          <p:cNvSpPr/>
          <p:nvPr/>
        </p:nvSpPr>
        <p:spPr>
          <a:xfrm>
            <a:off x="1600200" y="7069680"/>
            <a:ext cx="1777680" cy="6577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8000"/>
              </a:lnSpc>
              <a:tabLst>
                <a:tab algn="l" pos="0"/>
              </a:tabLst>
            </a:pPr>
            <a:r>
              <a:rPr b="1" lang="en-US" sz="1650" spc="-1" strike="noStrike">
                <a:solidFill>
                  <a:srgbClr val="0e1116"/>
                </a:solidFill>
                <a:latin typeface="Inter"/>
                <a:ea typeface="Inter"/>
              </a:rPr>
              <a:t>Desktop connectors.</a:t>
            </a:r>
            <a:endParaRPr b="0" lang="en-AU" sz="1650" spc="-1" strike="noStrike">
              <a:solidFill>
                <a:srgbClr val="000000"/>
              </a:solidFill>
              <a:latin typeface="Arial"/>
            </a:endParaRPr>
          </a:p>
        </p:txBody>
      </p:sp>
      <p:sp>
        <p:nvSpPr>
          <p:cNvPr id="306" name="Text 14"/>
          <p:cNvSpPr/>
          <p:nvPr/>
        </p:nvSpPr>
        <p:spPr>
          <a:xfrm>
            <a:off x="3473640" y="7098480"/>
            <a:ext cx="5630760" cy="595440"/>
          </a:xfrm>
          <a:prstGeom prst="rect">
            <a:avLst/>
          </a:prstGeom>
          <a:noFill/>
          <a:ln w="0">
            <a:noFill/>
          </a:ln>
        </p:spPr>
        <p:style>
          <a:lnRef idx="0"/>
          <a:fillRef idx="0"/>
          <a:effectRef idx="0"/>
          <a:fontRef idx="minor"/>
        </p:style>
        <p:txBody>
          <a:bodyPr lIns="0" rIns="0" tIns="0" bIns="0" anchor="t">
            <a:normAutofit fontScale="87222" lnSpcReduction="10000"/>
          </a:bodyPr>
          <a:p>
            <a:pPr defTabSz="914400">
              <a:lnSpc>
                <a:spcPct val="148000"/>
              </a:lnSpc>
              <a:tabLst>
                <a:tab algn="l" pos="0"/>
              </a:tabLst>
            </a:pPr>
            <a:r>
              <a:rPr b="0" lang="en-US" sz="1650" spc="-1" strike="noStrike">
                <a:solidFill>
                  <a:srgbClr val="1f2329"/>
                </a:solidFill>
                <a:latin typeface="Inter"/>
                <a:ea typeface="Inter"/>
              </a:rPr>
              <a:t>Connect local tools so Claude can work with the rest of your machine.</a:t>
            </a:r>
            <a:endParaRPr b="0" lang="en-AU" sz="1650" spc="-1" strike="noStrike">
              <a:solidFill>
                <a:srgbClr val="000000"/>
              </a:solidFill>
              <a:latin typeface="Arial"/>
            </a:endParaRPr>
          </a:p>
        </p:txBody>
      </p:sp>
      <p:sp>
        <p:nvSpPr>
          <p:cNvPr id="307" name="Shape 15"/>
          <p:cNvSpPr/>
          <p:nvPr/>
        </p:nvSpPr>
        <p:spPr>
          <a:xfrm>
            <a:off x="9296280" y="4638240"/>
            <a:ext cx="7772040" cy="3259080"/>
          </a:xfrm>
          <a:prstGeom prst="roundRect">
            <a:avLst>
              <a:gd name="adj" fmla="val 4676"/>
            </a:avLst>
          </a:prstGeom>
          <a:solidFill>
            <a:srgbClr val="fbe3d4"/>
          </a:solidFill>
          <a:ln w="9525">
            <a:solidFill>
              <a:srgbClr val="e36a2c">
                <a:alpha val="25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308" name="Text 16"/>
          <p:cNvSpPr/>
          <p:nvPr/>
        </p:nvSpPr>
        <p:spPr>
          <a:xfrm>
            <a:off x="9725040" y="5043240"/>
            <a:ext cx="1255320" cy="275400"/>
          </a:xfrm>
          <a:prstGeom prst="rect">
            <a:avLst/>
          </a:prstGeom>
          <a:noFill/>
          <a:ln w="0">
            <a:noFill/>
          </a:ln>
        </p:spPr>
        <p:style>
          <a:lnRef idx="0"/>
          <a:fillRef idx="0"/>
          <a:effectRef idx="0"/>
          <a:fontRef idx="minor"/>
        </p:style>
        <p:txBody>
          <a:bodyPr lIns="25560" rIns="25560" tIns="25560" bIns="25560" anchor="ctr">
            <a:normAutofit fontScale="87222"/>
          </a:bodyPr>
          <a:p>
            <a:pPr defTabSz="914400">
              <a:lnSpc>
                <a:spcPct val="156000"/>
              </a:lnSpc>
              <a:tabLst>
                <a:tab algn="l" pos="0"/>
              </a:tabLst>
            </a:pPr>
            <a:r>
              <a:rPr b="1" lang="en-US" sz="1200" spc="262" strike="noStrike">
                <a:solidFill>
                  <a:srgbClr val="c95a22"/>
                </a:solidFill>
                <a:latin typeface="JetBrains Mono"/>
                <a:ea typeface="JetBrains Mono"/>
              </a:rPr>
              <a:t>DO THIS</a:t>
            </a:r>
            <a:endParaRPr b="0" lang="en-AU" sz="1200" spc="-1" strike="noStrike">
              <a:solidFill>
                <a:srgbClr val="000000"/>
              </a:solidFill>
              <a:latin typeface="Arial"/>
            </a:endParaRPr>
          </a:p>
        </p:txBody>
      </p:sp>
      <p:sp>
        <p:nvSpPr>
          <p:cNvPr id="309" name="Text 17"/>
          <p:cNvSpPr/>
          <p:nvPr/>
        </p:nvSpPr>
        <p:spPr>
          <a:xfrm>
            <a:off x="9725040" y="5433480"/>
            <a:ext cx="7122240" cy="2149560"/>
          </a:xfrm>
          <a:prstGeom prst="rect">
            <a:avLst/>
          </a:prstGeom>
          <a:noFill/>
          <a:ln w="0">
            <a:noFill/>
          </a:ln>
        </p:spPr>
        <p:style>
          <a:lnRef idx="0"/>
          <a:fillRef idx="0"/>
          <a:effectRef idx="0"/>
          <a:fontRef idx="minor"/>
        </p:style>
        <p:txBody>
          <a:bodyPr lIns="25560" rIns="25560" tIns="25560" bIns="25560" anchor="t">
            <a:normAutofit/>
          </a:bodyPr>
          <a:p>
            <a:pPr defTabSz="914400">
              <a:lnSpc>
                <a:spcPct val="132000"/>
              </a:lnSpc>
              <a:tabLst>
                <a:tab algn="l" pos="0"/>
              </a:tabLst>
            </a:pPr>
            <a:r>
              <a:rPr b="0" lang="en-US" sz="2100" spc="-18" strike="noStrike">
                <a:solidFill>
                  <a:srgbClr val="0e1116"/>
                </a:solidFill>
                <a:latin typeface="Space Grotesk"/>
                <a:ea typeface="Space Grotesk"/>
              </a:rPr>
              <a:t>You've been jotting product-launch ideas in Apple Notes for weeks. Add the Notes connector and ask: </a:t>
            </a:r>
            <a:r>
              <a:rPr b="0" i="1" lang="en-US" sz="2100" spc="-18" strike="noStrike">
                <a:solidFill>
                  <a:srgbClr val="0e1116"/>
                </a:solidFill>
                <a:latin typeface="Space Grotesk"/>
                <a:ea typeface="Space Grotesk"/>
              </a:rPr>
              <a:t>"Pull together everything about the Osprey launch, figure out where I left things half-finished, and check my other connected tools for anything that fills in the gaps."</a:t>
            </a:r>
            <a:endParaRPr b="0" lang="en-AU" sz="2100" spc="-1" strike="noStrike">
              <a:solidFill>
                <a:srgbClr val="000000"/>
              </a:solidFill>
              <a:latin typeface="Arial"/>
            </a:endParaRPr>
          </a:p>
        </p:txBody>
      </p:sp>
      <p:sp>
        <p:nvSpPr>
          <p:cNvPr id="310" name="Text 18"/>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11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311" name="Image 0" descr="preencoded.png"/>
          <p:cNvPicPr/>
          <p:nvPr/>
        </p:nvPicPr>
        <p:blipFill>
          <a:blip r:embed="rId1"/>
          <a:stretch/>
        </p:blipFill>
        <p:spPr>
          <a:xfrm>
            <a:off x="1219320" y="468360"/>
            <a:ext cx="304560" cy="304560"/>
          </a:xfrm>
          <a:prstGeom prst="rect">
            <a:avLst/>
          </a:prstGeom>
          <a:ln w="0">
            <a:noFill/>
          </a:ln>
        </p:spPr>
      </p:pic>
      <p:sp>
        <p:nvSpPr>
          <p:cNvPr id="312"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313"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314"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315"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316" name="Text 4"/>
          <p:cNvSpPr/>
          <p:nvPr/>
        </p:nvSpPr>
        <p:spPr>
          <a:xfrm>
            <a:off x="1409760" y="1619280"/>
            <a:ext cx="26168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06 · PROJECTS</a:t>
            </a:r>
            <a:endParaRPr b="0" lang="en-AU" sz="1350" spc="-1" strike="noStrike">
              <a:solidFill>
                <a:srgbClr val="000000"/>
              </a:solidFill>
              <a:latin typeface="Arial"/>
            </a:endParaRPr>
          </a:p>
        </p:txBody>
      </p:sp>
      <p:sp>
        <p:nvSpPr>
          <p:cNvPr id="317"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Projects = persistent context.</a:t>
            </a:r>
            <a:endParaRPr b="0" lang="en-AU" sz="7200" spc="-1" strike="noStrike">
              <a:solidFill>
                <a:srgbClr val="000000"/>
              </a:solidFill>
              <a:latin typeface="Arial"/>
            </a:endParaRPr>
          </a:p>
        </p:txBody>
      </p:sp>
      <p:sp>
        <p:nvSpPr>
          <p:cNvPr id="318" name="Text 6"/>
          <p:cNvSpPr/>
          <p:nvPr/>
        </p:nvSpPr>
        <p:spPr>
          <a:xfrm>
            <a:off x="1219320" y="3239280"/>
            <a:ext cx="10791360" cy="1769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42000"/>
              </a:lnSpc>
              <a:tabLst>
                <a:tab algn="l" pos="0"/>
              </a:tabLst>
            </a:pPr>
            <a:r>
              <a:rPr b="0" lang="en-US" sz="2400" spc="-12" strike="noStrike">
                <a:solidFill>
                  <a:srgbClr val="1f2329"/>
                </a:solidFill>
                <a:latin typeface="Inter"/>
                <a:ea typeface="Inter"/>
              </a:rPr>
              <a:t>Use a project when you're working on something </a:t>
            </a:r>
            <a:r>
              <a:rPr b="1" lang="en-US" sz="2400" spc="-12" strike="noStrike">
                <a:solidFill>
                  <a:srgbClr val="0e1116"/>
                </a:solidFill>
                <a:latin typeface="Inter"/>
                <a:ea typeface="Inter"/>
              </a:rPr>
              <a:t>ongoing </a:t>
            </a:r>
            <a:r>
              <a:rPr b="0" lang="en-US" sz="2400" spc="-12" strike="noStrike">
                <a:solidFill>
                  <a:srgbClr val="1f2329"/>
                </a:solidFill>
                <a:latin typeface="Inter"/>
                <a:ea typeface="Inter"/>
              </a:rPr>
              <a:t>— not a one-off question. Reference materials you'll use repeatedly. Consistent rules for how Claude should respond. Teammates who need the same foundation.</a:t>
            </a:r>
            <a:endParaRPr b="0" lang="en-AU" sz="2400" spc="-1" strike="noStrike">
              <a:solidFill>
                <a:srgbClr val="000000"/>
              </a:solidFill>
              <a:latin typeface="Arial"/>
            </a:endParaRPr>
          </a:p>
        </p:txBody>
      </p:sp>
      <p:sp>
        <p:nvSpPr>
          <p:cNvPr id="319" name="Shape 7"/>
          <p:cNvSpPr/>
          <p:nvPr/>
        </p:nvSpPr>
        <p:spPr>
          <a:xfrm>
            <a:off x="1219320" y="5427720"/>
            <a:ext cx="5105160" cy="3944520"/>
          </a:xfrm>
          <a:prstGeom prst="roundRect">
            <a:avLst>
              <a:gd name="adj" fmla="val 338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320" name="Text 8"/>
          <p:cNvSpPr/>
          <p:nvPr/>
        </p:nvSpPr>
        <p:spPr>
          <a:xfrm>
            <a:off x="1609560" y="5780160"/>
            <a:ext cx="4453560" cy="322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950" spc="-24" strike="noStrike">
                <a:solidFill>
                  <a:srgbClr val="0e1116"/>
                </a:solidFill>
                <a:latin typeface="Space Grotesk"/>
                <a:ea typeface="Space Grotesk"/>
              </a:rPr>
              <a:t>Reference materials</a:t>
            </a:r>
            <a:endParaRPr b="0" lang="en-AU" sz="1950" spc="-1" strike="noStrike">
              <a:solidFill>
                <a:srgbClr val="000000"/>
              </a:solidFill>
              <a:latin typeface="Arial"/>
            </a:endParaRPr>
          </a:p>
        </p:txBody>
      </p:sp>
      <p:sp>
        <p:nvSpPr>
          <p:cNvPr id="321" name="Text 9"/>
          <p:cNvSpPr/>
          <p:nvPr/>
        </p:nvSpPr>
        <p:spPr>
          <a:xfrm>
            <a:off x="1609560" y="6179040"/>
            <a:ext cx="4453560" cy="580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430" spc="-7" strike="noStrike">
                <a:solidFill>
                  <a:srgbClr val="1f2329"/>
                </a:solidFill>
                <a:latin typeface="Inter"/>
                <a:ea typeface="Inter"/>
              </a:rPr>
              <a:t>Meeting notes · survey results · historical data — things you'll come back to.</a:t>
            </a:r>
            <a:endParaRPr b="0" lang="en-AU" sz="1430" spc="-1" strike="noStrike">
              <a:solidFill>
                <a:srgbClr val="000000"/>
              </a:solidFill>
              <a:latin typeface="Arial"/>
            </a:endParaRPr>
          </a:p>
        </p:txBody>
      </p:sp>
      <p:sp>
        <p:nvSpPr>
          <p:cNvPr id="322" name="Shape 10"/>
          <p:cNvSpPr/>
          <p:nvPr/>
        </p:nvSpPr>
        <p:spPr>
          <a:xfrm>
            <a:off x="6591240" y="5427720"/>
            <a:ext cx="5105160" cy="3944520"/>
          </a:xfrm>
          <a:prstGeom prst="roundRect">
            <a:avLst>
              <a:gd name="adj" fmla="val 338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323" name="Text 11"/>
          <p:cNvSpPr/>
          <p:nvPr/>
        </p:nvSpPr>
        <p:spPr>
          <a:xfrm>
            <a:off x="6981840" y="5780160"/>
            <a:ext cx="4453560" cy="322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950" spc="-24" strike="noStrike">
                <a:solidFill>
                  <a:srgbClr val="0e1116"/>
                </a:solidFill>
                <a:latin typeface="Space Grotesk"/>
                <a:ea typeface="Space Grotesk"/>
              </a:rPr>
              <a:t>Consistent requirements</a:t>
            </a:r>
            <a:endParaRPr b="0" lang="en-AU" sz="1950" spc="-1" strike="noStrike">
              <a:solidFill>
                <a:srgbClr val="000000"/>
              </a:solidFill>
              <a:latin typeface="Arial"/>
            </a:endParaRPr>
          </a:p>
        </p:txBody>
      </p:sp>
      <p:sp>
        <p:nvSpPr>
          <p:cNvPr id="324" name="Text 12"/>
          <p:cNvSpPr/>
          <p:nvPr/>
        </p:nvSpPr>
        <p:spPr>
          <a:xfrm>
            <a:off x="6981840" y="6179040"/>
            <a:ext cx="4453560" cy="580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430" spc="-7" strike="noStrike">
                <a:solidFill>
                  <a:srgbClr val="1f2329"/>
                </a:solidFill>
                <a:latin typeface="Inter"/>
                <a:ea typeface="Inter"/>
              </a:rPr>
              <a:t>"Always use formal language." "Always cite sources." "Always follow our template."</a:t>
            </a:r>
            <a:endParaRPr b="0" lang="en-AU" sz="1430" spc="-1" strike="noStrike">
              <a:solidFill>
                <a:srgbClr val="000000"/>
              </a:solidFill>
              <a:latin typeface="Arial"/>
            </a:endParaRPr>
          </a:p>
        </p:txBody>
      </p:sp>
      <p:sp>
        <p:nvSpPr>
          <p:cNvPr id="325" name="Shape 13"/>
          <p:cNvSpPr/>
          <p:nvPr/>
        </p:nvSpPr>
        <p:spPr>
          <a:xfrm>
            <a:off x="11963520" y="5427720"/>
            <a:ext cx="5105160" cy="3944520"/>
          </a:xfrm>
          <a:prstGeom prst="roundRect">
            <a:avLst>
              <a:gd name="adj" fmla="val 338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326" name="Text 14"/>
          <p:cNvSpPr/>
          <p:nvPr/>
        </p:nvSpPr>
        <p:spPr>
          <a:xfrm>
            <a:off x="12353760" y="5780160"/>
            <a:ext cx="4453560" cy="322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950" spc="-24" strike="noStrike">
                <a:solidFill>
                  <a:srgbClr val="0e1116"/>
                </a:solidFill>
                <a:latin typeface="Space Grotesk"/>
                <a:ea typeface="Space Grotesk"/>
              </a:rPr>
              <a:t>Team collaboration</a:t>
            </a:r>
            <a:endParaRPr b="0" lang="en-AU" sz="1950" spc="-1" strike="noStrike">
              <a:solidFill>
                <a:srgbClr val="000000"/>
              </a:solidFill>
              <a:latin typeface="Arial"/>
            </a:endParaRPr>
          </a:p>
        </p:txBody>
      </p:sp>
      <p:sp>
        <p:nvSpPr>
          <p:cNvPr id="327" name="Text 15"/>
          <p:cNvSpPr/>
          <p:nvPr/>
        </p:nvSpPr>
        <p:spPr>
          <a:xfrm>
            <a:off x="12353760" y="6179040"/>
            <a:ext cx="4453560" cy="580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430" spc="-7" strike="noStrike">
                <a:solidFill>
                  <a:srgbClr val="1f2329"/>
                </a:solidFill>
                <a:latin typeface="Inter"/>
                <a:ea typeface="Inter"/>
              </a:rPr>
              <a:t>Multiple people working from the same shared foundation, same shared instructions.</a:t>
            </a:r>
            <a:endParaRPr b="0" lang="en-AU" sz="1430" spc="-1" strike="noStrike">
              <a:solidFill>
                <a:srgbClr val="000000"/>
              </a:solidFill>
              <a:latin typeface="Arial"/>
            </a:endParaRPr>
          </a:p>
        </p:txBody>
      </p:sp>
      <p:sp>
        <p:nvSpPr>
          <p:cNvPr id="328" name="Text 16"/>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12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329" name="Image 0" descr="preencoded.png"/>
          <p:cNvPicPr/>
          <p:nvPr/>
        </p:nvPicPr>
        <p:blipFill>
          <a:blip r:embed="rId1"/>
          <a:stretch/>
        </p:blipFill>
        <p:spPr>
          <a:xfrm>
            <a:off x="1219320" y="468360"/>
            <a:ext cx="304560" cy="304560"/>
          </a:xfrm>
          <a:prstGeom prst="rect">
            <a:avLst/>
          </a:prstGeom>
          <a:ln w="0">
            <a:noFill/>
          </a:ln>
        </p:spPr>
      </p:pic>
      <p:sp>
        <p:nvSpPr>
          <p:cNvPr id="330"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331"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332"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333"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334" name="Text 4"/>
          <p:cNvSpPr/>
          <p:nvPr/>
        </p:nvSpPr>
        <p:spPr>
          <a:xfrm>
            <a:off x="1409760" y="1619280"/>
            <a:ext cx="46828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PROJECTS · SETUP FOR FINANCE TEAMS</a:t>
            </a:r>
            <a:endParaRPr b="0" lang="en-AU" sz="1350" spc="-1" strike="noStrike">
              <a:solidFill>
                <a:srgbClr val="000000"/>
              </a:solidFill>
              <a:latin typeface="Arial"/>
            </a:endParaRPr>
          </a:p>
        </p:txBody>
      </p:sp>
      <p:sp>
        <p:nvSpPr>
          <p:cNvPr id="335"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Three steps to set one up.</a:t>
            </a:r>
            <a:endParaRPr b="0" lang="en-AU" sz="7200" spc="-1" strike="noStrike">
              <a:solidFill>
                <a:srgbClr val="000000"/>
              </a:solidFill>
              <a:latin typeface="Arial"/>
            </a:endParaRPr>
          </a:p>
        </p:txBody>
      </p:sp>
      <p:sp>
        <p:nvSpPr>
          <p:cNvPr id="336" name="Text 6"/>
          <p:cNvSpPr/>
          <p:nvPr/>
        </p:nvSpPr>
        <p:spPr>
          <a:xfrm>
            <a:off x="1219320" y="3124800"/>
            <a:ext cx="11772720" cy="90324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2000"/>
              </a:lnSpc>
              <a:tabLst>
                <a:tab algn="l" pos="0"/>
              </a:tabLst>
            </a:pPr>
            <a:r>
              <a:rPr b="0" lang="en-US" sz="2400" spc="-12" strike="noStrike">
                <a:solidFill>
                  <a:srgbClr val="1f2329"/>
                </a:solidFill>
                <a:latin typeface="Inter"/>
                <a:ea typeface="Inter"/>
              </a:rPr>
              <a:t>Walking through a real example: a </a:t>
            </a:r>
            <a:r>
              <a:rPr b="1" lang="en-US" sz="2400" spc="-12" strike="noStrike">
                <a:solidFill>
                  <a:srgbClr val="0e1116"/>
                </a:solidFill>
                <a:latin typeface="Inter"/>
                <a:ea typeface="Inter"/>
              </a:rPr>
              <a:t>Quarterly Close </a:t>
            </a:r>
            <a:r>
              <a:rPr b="0" lang="en-US" sz="2400" spc="-12" strike="noStrike">
                <a:solidFill>
                  <a:srgbClr val="1f2329"/>
                </a:solidFill>
                <a:latin typeface="Inter"/>
                <a:ea typeface="Inter"/>
              </a:rPr>
              <a:t>project the FP&amp;A team uses every month-end.</a:t>
            </a:r>
            <a:endParaRPr b="0" lang="en-AU" sz="2400" spc="-1" strike="noStrike">
              <a:solidFill>
                <a:srgbClr val="000000"/>
              </a:solidFill>
              <a:latin typeface="Arial"/>
            </a:endParaRPr>
          </a:p>
        </p:txBody>
      </p:sp>
      <p:sp>
        <p:nvSpPr>
          <p:cNvPr id="337" name="Shape 7"/>
          <p:cNvSpPr/>
          <p:nvPr/>
        </p:nvSpPr>
        <p:spPr>
          <a:xfrm>
            <a:off x="1219320" y="429516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338" name="Text 8"/>
          <p:cNvSpPr/>
          <p:nvPr/>
        </p:nvSpPr>
        <p:spPr>
          <a:xfrm>
            <a:off x="1219320" y="4533480"/>
            <a:ext cx="1980720" cy="914040"/>
          </a:xfrm>
          <a:prstGeom prst="rect">
            <a:avLst/>
          </a:prstGeom>
          <a:noFill/>
          <a:ln w="0">
            <a:noFill/>
          </a:ln>
        </p:spPr>
        <p:style>
          <a:lnRef idx="0"/>
          <a:fillRef idx="0"/>
          <a:effectRef idx="0"/>
          <a:fontRef idx="minor"/>
        </p:style>
        <p:txBody>
          <a:bodyPr lIns="25560" rIns="25560" tIns="25560" bIns="25560" anchor="t">
            <a:normAutofit fontScale="82222"/>
          </a:bodyPr>
          <a:p>
            <a:pPr defTabSz="914400">
              <a:lnSpc>
                <a:spcPct val="100000"/>
              </a:lnSpc>
              <a:tabLst>
                <a:tab algn="l" pos="0"/>
              </a:tabLst>
            </a:pPr>
            <a:r>
              <a:rPr b="0" lang="en-US" sz="6900" spc="-126" strike="noStrike">
                <a:solidFill>
                  <a:srgbClr val="a8a097"/>
                </a:solidFill>
                <a:latin typeface="Space Grotesk"/>
                <a:ea typeface="Space Grotesk"/>
              </a:rPr>
              <a:t>01</a:t>
            </a:r>
            <a:endParaRPr b="0" lang="en-AU" sz="6900" spc="-1" strike="noStrike">
              <a:solidFill>
                <a:srgbClr val="000000"/>
              </a:solidFill>
              <a:latin typeface="Arial"/>
            </a:endParaRPr>
          </a:p>
        </p:txBody>
      </p:sp>
      <p:sp>
        <p:nvSpPr>
          <p:cNvPr id="339" name="Text 9"/>
          <p:cNvSpPr/>
          <p:nvPr/>
        </p:nvSpPr>
        <p:spPr>
          <a:xfrm>
            <a:off x="3581280" y="4933440"/>
            <a:ext cx="3139200" cy="921600"/>
          </a:xfrm>
          <a:prstGeom prst="rect">
            <a:avLst/>
          </a:prstGeom>
          <a:noFill/>
          <a:ln w="0">
            <a:noFill/>
          </a:ln>
        </p:spPr>
        <p:style>
          <a:lnRef idx="0"/>
          <a:fillRef idx="0"/>
          <a:effectRef idx="0"/>
          <a:fontRef idx="minor"/>
        </p:style>
        <p:txBody>
          <a:bodyPr lIns="25560" rIns="25560" tIns="25560" bIns="25560" anchor="t">
            <a:normAutofit fontScale="89999" lnSpcReduction="10000"/>
          </a:bodyPr>
          <a:p>
            <a:pPr defTabSz="914400">
              <a:lnSpc>
                <a:spcPct val="116000"/>
              </a:lnSpc>
              <a:tabLst>
                <a:tab algn="l" pos="0"/>
              </a:tabLst>
            </a:pPr>
            <a:r>
              <a:rPr b="1" lang="en-US" sz="3000" spc="-38" strike="noStrike">
                <a:solidFill>
                  <a:srgbClr val="0e1116"/>
                </a:solidFill>
                <a:latin typeface="Space Grotesk"/>
                <a:ea typeface="Space Grotesk"/>
              </a:rPr>
              <a:t>Set up your project</a:t>
            </a:r>
            <a:endParaRPr b="0" lang="en-AU" sz="3000" spc="-1" strike="noStrike">
              <a:solidFill>
                <a:srgbClr val="000000"/>
              </a:solidFill>
              <a:latin typeface="Arial"/>
            </a:endParaRPr>
          </a:p>
        </p:txBody>
      </p:sp>
      <p:sp>
        <p:nvSpPr>
          <p:cNvPr id="340" name="Text 10"/>
          <p:cNvSpPr/>
          <p:nvPr/>
        </p:nvSpPr>
        <p:spPr>
          <a:xfrm>
            <a:off x="7086600" y="5028840"/>
            <a:ext cx="10281240" cy="72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0" lang="en-US" sz="1800" spc="-1" strike="noStrike">
                <a:solidFill>
                  <a:srgbClr val="1f2329"/>
                </a:solidFill>
                <a:latin typeface="Inter"/>
                <a:ea typeface="Inter"/>
              </a:rPr>
              <a:t>Sidebar → Projects → </a:t>
            </a:r>
            <a:r>
              <a:rPr b="1" lang="en-US" sz="1800" spc="-1" strike="noStrike">
                <a:solidFill>
                  <a:srgbClr val="0e1116"/>
                </a:solidFill>
                <a:latin typeface="Inter"/>
                <a:ea typeface="Inter"/>
              </a:rPr>
              <a:t>+ New Project</a:t>
            </a:r>
            <a:r>
              <a:rPr b="0" lang="en-US" sz="1800" spc="-1" strike="noStrike">
                <a:solidFill>
                  <a:srgbClr val="1f2329"/>
                </a:solidFill>
                <a:latin typeface="Inter"/>
                <a:ea typeface="Inter"/>
              </a:rPr>
              <a:t>. Name it </a:t>
            </a:r>
            <a:r>
              <a:rPr b="0" lang="en-US" sz="1500" spc="-1" strike="noStrike">
                <a:solidFill>
                  <a:srgbClr val="1f2329"/>
                </a:solidFill>
                <a:highlight>
                  <a:srgbClr val="1f2329"/>
                </a:highlight>
                <a:latin typeface="JetBrains Mono"/>
                <a:ea typeface="JetBrains Mono"/>
              </a:rPr>
              <a:t>FP&amp;A — Quarterly Close </a:t>
            </a:r>
            <a:r>
              <a:rPr b="0" lang="en-US" sz="1800" spc="-1" strike="noStrike">
                <a:solidFill>
                  <a:srgbClr val="1f2329"/>
                </a:solidFill>
                <a:latin typeface="Inter"/>
                <a:ea typeface="Inter"/>
              </a:rPr>
              <a:t>. Mark it shared so your controller and analysts work from the same context.</a:t>
            </a:r>
            <a:endParaRPr b="0" lang="en-AU" sz="1800" spc="-1" strike="noStrike">
              <a:solidFill>
                <a:srgbClr val="000000"/>
              </a:solidFill>
              <a:latin typeface="Arial"/>
            </a:endParaRPr>
          </a:p>
        </p:txBody>
      </p:sp>
      <p:sp>
        <p:nvSpPr>
          <p:cNvPr id="341" name="Shape 11"/>
          <p:cNvSpPr/>
          <p:nvPr/>
        </p:nvSpPr>
        <p:spPr>
          <a:xfrm>
            <a:off x="1219320" y="604584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342" name="Text 12"/>
          <p:cNvSpPr/>
          <p:nvPr/>
        </p:nvSpPr>
        <p:spPr>
          <a:xfrm>
            <a:off x="1219320" y="6283800"/>
            <a:ext cx="1980720" cy="914040"/>
          </a:xfrm>
          <a:prstGeom prst="rect">
            <a:avLst/>
          </a:prstGeom>
          <a:noFill/>
          <a:ln w="0">
            <a:noFill/>
          </a:ln>
        </p:spPr>
        <p:style>
          <a:lnRef idx="0"/>
          <a:fillRef idx="0"/>
          <a:effectRef idx="0"/>
          <a:fontRef idx="minor"/>
        </p:style>
        <p:txBody>
          <a:bodyPr lIns="25560" rIns="25560" tIns="25560" bIns="25560" anchor="t">
            <a:normAutofit fontScale="82222"/>
          </a:bodyPr>
          <a:p>
            <a:pPr defTabSz="914400">
              <a:lnSpc>
                <a:spcPct val="100000"/>
              </a:lnSpc>
              <a:tabLst>
                <a:tab algn="l" pos="0"/>
              </a:tabLst>
            </a:pPr>
            <a:r>
              <a:rPr b="0" lang="en-US" sz="6900" spc="-126" strike="noStrike">
                <a:solidFill>
                  <a:srgbClr val="a8a097"/>
                </a:solidFill>
                <a:latin typeface="Space Grotesk"/>
                <a:ea typeface="Space Grotesk"/>
              </a:rPr>
              <a:t>02</a:t>
            </a:r>
            <a:endParaRPr b="0" lang="en-AU" sz="6900" spc="-1" strike="noStrike">
              <a:solidFill>
                <a:srgbClr val="000000"/>
              </a:solidFill>
              <a:latin typeface="Arial"/>
            </a:endParaRPr>
          </a:p>
        </p:txBody>
      </p:sp>
      <p:sp>
        <p:nvSpPr>
          <p:cNvPr id="343" name="Text 13"/>
          <p:cNvSpPr/>
          <p:nvPr/>
        </p:nvSpPr>
        <p:spPr>
          <a:xfrm>
            <a:off x="3581280" y="6684120"/>
            <a:ext cx="3139200" cy="4795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6000"/>
              </a:lnSpc>
              <a:tabLst>
                <a:tab algn="l" pos="0"/>
              </a:tabLst>
            </a:pPr>
            <a:r>
              <a:rPr b="1" lang="en-US" sz="3000" spc="-38" strike="noStrike">
                <a:solidFill>
                  <a:srgbClr val="0e1116"/>
                </a:solidFill>
                <a:latin typeface="Space Grotesk"/>
                <a:ea typeface="Space Grotesk"/>
              </a:rPr>
              <a:t>Add instructions</a:t>
            </a:r>
            <a:endParaRPr b="0" lang="en-AU" sz="3000" spc="-1" strike="noStrike">
              <a:solidFill>
                <a:srgbClr val="000000"/>
              </a:solidFill>
              <a:latin typeface="Arial"/>
            </a:endParaRPr>
          </a:p>
        </p:txBody>
      </p:sp>
      <p:sp>
        <p:nvSpPr>
          <p:cNvPr id="344" name="Text 14"/>
          <p:cNvSpPr/>
          <p:nvPr/>
        </p:nvSpPr>
        <p:spPr>
          <a:xfrm>
            <a:off x="7086600" y="6779160"/>
            <a:ext cx="10281240" cy="72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0" lang="en-US" sz="1800" spc="-1" strike="noStrike">
                <a:solidFill>
                  <a:srgbClr val="1f2329"/>
                </a:solidFill>
                <a:latin typeface="Inter"/>
                <a:ea typeface="Inter"/>
              </a:rPr>
              <a:t>Tell Claude the rules: </a:t>
            </a:r>
            <a:r>
              <a:rPr b="0" i="1" lang="en-US" sz="1800" spc="-1" strike="noStrike">
                <a:solidFill>
                  <a:srgbClr val="1f2329"/>
                </a:solidFill>
                <a:latin typeface="Inter"/>
                <a:ea typeface="Inter"/>
              </a:rPr>
              <a:t>"Always reconcile to the GL. Flag variances &gt;5% with commentary. Use US GAAP terminology. Never invent figures — cite the source workbook and tab."</a:t>
            </a:r>
            <a:endParaRPr b="0" lang="en-AU" sz="1800" spc="-1" strike="noStrike">
              <a:solidFill>
                <a:srgbClr val="000000"/>
              </a:solidFill>
              <a:latin typeface="Arial"/>
            </a:endParaRPr>
          </a:p>
        </p:txBody>
      </p:sp>
      <p:sp>
        <p:nvSpPr>
          <p:cNvPr id="345" name="Shape 15"/>
          <p:cNvSpPr/>
          <p:nvPr/>
        </p:nvSpPr>
        <p:spPr>
          <a:xfrm>
            <a:off x="1219320" y="769356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346" name="Text 16"/>
          <p:cNvSpPr/>
          <p:nvPr/>
        </p:nvSpPr>
        <p:spPr>
          <a:xfrm>
            <a:off x="1219320" y="7931880"/>
            <a:ext cx="1980720" cy="914040"/>
          </a:xfrm>
          <a:prstGeom prst="rect">
            <a:avLst/>
          </a:prstGeom>
          <a:noFill/>
          <a:ln w="0">
            <a:noFill/>
          </a:ln>
        </p:spPr>
        <p:style>
          <a:lnRef idx="0"/>
          <a:fillRef idx="0"/>
          <a:effectRef idx="0"/>
          <a:fontRef idx="minor"/>
        </p:style>
        <p:txBody>
          <a:bodyPr lIns="25560" rIns="25560" tIns="25560" bIns="25560" anchor="t">
            <a:normAutofit fontScale="82222"/>
          </a:bodyPr>
          <a:p>
            <a:pPr defTabSz="914400">
              <a:lnSpc>
                <a:spcPct val="100000"/>
              </a:lnSpc>
              <a:tabLst>
                <a:tab algn="l" pos="0"/>
              </a:tabLst>
            </a:pPr>
            <a:r>
              <a:rPr b="0" lang="en-US" sz="6900" spc="-126" strike="noStrike">
                <a:solidFill>
                  <a:srgbClr val="a8a097"/>
                </a:solidFill>
                <a:latin typeface="Space Grotesk"/>
                <a:ea typeface="Space Grotesk"/>
              </a:rPr>
              <a:t>03</a:t>
            </a:r>
            <a:endParaRPr b="0" lang="en-AU" sz="6900" spc="-1" strike="noStrike">
              <a:solidFill>
                <a:srgbClr val="000000"/>
              </a:solidFill>
              <a:latin typeface="Arial"/>
            </a:endParaRPr>
          </a:p>
        </p:txBody>
      </p:sp>
      <p:sp>
        <p:nvSpPr>
          <p:cNvPr id="347" name="Text 17"/>
          <p:cNvSpPr/>
          <p:nvPr/>
        </p:nvSpPr>
        <p:spPr>
          <a:xfrm>
            <a:off x="3581280" y="8331840"/>
            <a:ext cx="3139200" cy="9216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6000"/>
              </a:lnSpc>
              <a:tabLst>
                <a:tab algn="l" pos="0"/>
              </a:tabLst>
            </a:pPr>
            <a:r>
              <a:rPr b="1" lang="en-US" sz="3000" spc="-38" strike="noStrike">
                <a:solidFill>
                  <a:srgbClr val="0e1116"/>
                </a:solidFill>
                <a:latin typeface="Space Grotesk"/>
                <a:ea typeface="Space Grotesk"/>
              </a:rPr>
              <a:t>Build your knowledge base</a:t>
            </a:r>
            <a:endParaRPr b="0" lang="en-AU" sz="3000" spc="-1" strike="noStrike">
              <a:solidFill>
                <a:srgbClr val="000000"/>
              </a:solidFill>
              <a:latin typeface="Arial"/>
            </a:endParaRPr>
          </a:p>
        </p:txBody>
      </p:sp>
      <p:sp>
        <p:nvSpPr>
          <p:cNvPr id="348" name="Text 18"/>
          <p:cNvSpPr/>
          <p:nvPr/>
        </p:nvSpPr>
        <p:spPr>
          <a:xfrm>
            <a:off x="7086600" y="8427240"/>
            <a:ext cx="10281240" cy="72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0" lang="en-US" sz="1800" spc="-1" strike="noStrike">
                <a:solidFill>
                  <a:srgbClr val="1f2329"/>
                </a:solidFill>
                <a:latin typeface="Inter"/>
                <a:ea typeface="Inter"/>
              </a:rPr>
              <a:t>Upload the chart of accounts, the close calendar, last quarter's variance memo, and your reporting template. Link the Drive folder where TB exports land monthly.</a:t>
            </a:r>
            <a:endParaRPr b="0" lang="en-AU" sz="1800" spc="-1" strike="noStrike">
              <a:solidFill>
                <a:srgbClr val="000000"/>
              </a:solidFill>
              <a:latin typeface="Arial"/>
            </a:endParaRPr>
          </a:p>
        </p:txBody>
      </p:sp>
      <p:sp>
        <p:nvSpPr>
          <p:cNvPr id="349" name="Shape 19"/>
          <p:cNvSpPr/>
          <p:nvPr/>
        </p:nvSpPr>
        <p:spPr>
          <a:xfrm>
            <a:off x="1219320" y="944424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350" name="Text 20"/>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13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351" name="Image 0" descr="preencoded.png"/>
          <p:cNvPicPr/>
          <p:nvPr/>
        </p:nvPicPr>
        <p:blipFill>
          <a:blip r:embed="rId1"/>
          <a:stretch/>
        </p:blipFill>
        <p:spPr>
          <a:xfrm>
            <a:off x="1219320" y="468360"/>
            <a:ext cx="304560" cy="304560"/>
          </a:xfrm>
          <a:prstGeom prst="rect">
            <a:avLst/>
          </a:prstGeom>
          <a:ln w="0">
            <a:noFill/>
          </a:ln>
        </p:spPr>
      </p:pic>
      <p:sp>
        <p:nvSpPr>
          <p:cNvPr id="352"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353"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354"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355"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356" name="Text 4"/>
          <p:cNvSpPr/>
          <p:nvPr/>
        </p:nvSpPr>
        <p:spPr>
          <a:xfrm>
            <a:off x="1409760" y="1619280"/>
            <a:ext cx="30301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PROJECTS · IN PRACTICE</a:t>
            </a:r>
            <a:endParaRPr b="0" lang="en-AU" sz="1350" spc="-1" strike="noStrike">
              <a:solidFill>
                <a:srgbClr val="000000"/>
              </a:solidFill>
              <a:latin typeface="Arial"/>
            </a:endParaRPr>
          </a:p>
        </p:txBody>
      </p:sp>
      <p:sp>
        <p:nvSpPr>
          <p:cNvPr id="357"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Make them earn their keep.</a:t>
            </a:r>
            <a:endParaRPr b="0" lang="en-AU" sz="7200" spc="-1" strike="noStrike">
              <a:solidFill>
                <a:srgbClr val="000000"/>
              </a:solidFill>
              <a:latin typeface="Arial"/>
            </a:endParaRPr>
          </a:p>
        </p:txBody>
      </p:sp>
      <p:sp>
        <p:nvSpPr>
          <p:cNvPr id="358" name="Shape 6"/>
          <p:cNvSpPr/>
          <p:nvPr/>
        </p:nvSpPr>
        <p:spPr>
          <a:xfrm>
            <a:off x="1219320" y="3467880"/>
            <a:ext cx="7657920" cy="2555280"/>
          </a:xfrm>
          <a:prstGeom prst="roundRect">
            <a:avLst>
              <a:gd name="adj" fmla="val 5964"/>
            </a:avLst>
          </a:prstGeom>
          <a:solidFill>
            <a:srgbClr val="fbe3d4"/>
          </a:solidFill>
          <a:ln w="9525">
            <a:solidFill>
              <a:srgbClr val="e36a2c">
                <a:alpha val="25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359" name="Text 7"/>
          <p:cNvSpPr/>
          <p:nvPr/>
        </p:nvSpPr>
        <p:spPr>
          <a:xfrm>
            <a:off x="1647720" y="3872880"/>
            <a:ext cx="1255320" cy="275400"/>
          </a:xfrm>
          <a:prstGeom prst="rect">
            <a:avLst/>
          </a:prstGeom>
          <a:noFill/>
          <a:ln w="0">
            <a:noFill/>
          </a:ln>
        </p:spPr>
        <p:style>
          <a:lnRef idx="0"/>
          <a:fillRef idx="0"/>
          <a:effectRef idx="0"/>
          <a:fontRef idx="minor"/>
        </p:style>
        <p:txBody>
          <a:bodyPr lIns="25560" rIns="25560" tIns="25560" bIns="25560" anchor="ctr">
            <a:normAutofit fontScale="87222"/>
          </a:bodyPr>
          <a:p>
            <a:pPr defTabSz="914400">
              <a:lnSpc>
                <a:spcPct val="156000"/>
              </a:lnSpc>
              <a:tabLst>
                <a:tab algn="l" pos="0"/>
              </a:tabLst>
            </a:pPr>
            <a:r>
              <a:rPr b="1" lang="en-US" sz="1200" spc="262" strike="noStrike">
                <a:solidFill>
                  <a:srgbClr val="c95a22"/>
                </a:solidFill>
                <a:latin typeface="JetBrains Mono"/>
                <a:ea typeface="JetBrains Mono"/>
              </a:rPr>
              <a:t>DO THIS</a:t>
            </a:r>
            <a:endParaRPr b="0" lang="en-AU" sz="1200" spc="-1" strike="noStrike">
              <a:solidFill>
                <a:srgbClr val="000000"/>
              </a:solidFill>
              <a:latin typeface="Arial"/>
            </a:endParaRPr>
          </a:p>
        </p:txBody>
      </p:sp>
      <p:sp>
        <p:nvSpPr>
          <p:cNvPr id="360" name="Text 8"/>
          <p:cNvSpPr/>
          <p:nvPr/>
        </p:nvSpPr>
        <p:spPr>
          <a:xfrm>
            <a:off x="1647720" y="4263120"/>
            <a:ext cx="7004520" cy="1445760"/>
          </a:xfrm>
          <a:prstGeom prst="rect">
            <a:avLst/>
          </a:prstGeom>
          <a:noFill/>
          <a:ln w="0">
            <a:noFill/>
          </a:ln>
        </p:spPr>
        <p:style>
          <a:lnRef idx="0"/>
          <a:fillRef idx="0"/>
          <a:effectRef idx="0"/>
          <a:fontRef idx="minor"/>
        </p:style>
        <p:txBody>
          <a:bodyPr lIns="25560" rIns="25560" tIns="25560" bIns="25560" anchor="t">
            <a:normAutofit fontScale="89999" lnSpcReduction="10000"/>
          </a:bodyPr>
          <a:p>
            <a:pPr defTabSz="914400">
              <a:lnSpc>
                <a:spcPct val="132000"/>
              </a:lnSpc>
              <a:tabLst>
                <a:tab algn="l" pos="0"/>
              </a:tabLst>
            </a:pPr>
            <a:r>
              <a:rPr b="0" lang="en-US" sz="2100" spc="-18" strike="noStrike">
                <a:solidFill>
                  <a:srgbClr val="0e1116"/>
                </a:solidFill>
                <a:latin typeface="Space Grotesk"/>
                <a:ea typeface="Space Grotesk"/>
              </a:rPr>
              <a:t>Australian tax reform briefing. Load the latest ATO rulings, draft Treasury legislation, your client's group structure, and prior advisory memos. Claude drafts plain-English impact notes.</a:t>
            </a:r>
            <a:endParaRPr b="0" lang="en-AU" sz="2100" spc="-1" strike="noStrike">
              <a:solidFill>
                <a:srgbClr val="000000"/>
              </a:solidFill>
              <a:latin typeface="Arial"/>
            </a:endParaRPr>
          </a:p>
        </p:txBody>
      </p:sp>
      <p:sp>
        <p:nvSpPr>
          <p:cNvPr id="361" name="Shape 9"/>
          <p:cNvSpPr/>
          <p:nvPr/>
        </p:nvSpPr>
        <p:spPr>
          <a:xfrm>
            <a:off x="1219320" y="6328080"/>
            <a:ext cx="7657920" cy="1638360"/>
          </a:xfrm>
          <a:prstGeom prst="roundRect">
            <a:avLst>
              <a:gd name="adj" fmla="val 8137"/>
            </a:avLst>
          </a:prstGeom>
          <a:solidFill>
            <a:srgbClr val="1f5240">
              <a:alpha val="8000"/>
            </a:srgbClr>
          </a:solidFill>
          <a:ln w="9525">
            <a:solidFill>
              <a:srgbClr val="1f5240">
                <a:alpha val="20000"/>
              </a:srgbClr>
            </a:solidFill>
            <a:round/>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362" name="Shape 10"/>
          <p:cNvSpPr/>
          <p:nvPr/>
        </p:nvSpPr>
        <p:spPr>
          <a:xfrm>
            <a:off x="1609560" y="6785280"/>
            <a:ext cx="75960" cy="75960"/>
          </a:xfrm>
          <a:prstGeom prst="ellipse">
            <a:avLst/>
          </a:prstGeom>
          <a:solidFill>
            <a:srgbClr val="1f5240"/>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363" name="Text 11"/>
          <p:cNvSpPr/>
          <p:nvPr/>
        </p:nvSpPr>
        <p:spPr>
          <a:xfrm>
            <a:off x="1800360" y="6708960"/>
            <a:ext cx="101196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1f5240"/>
                </a:solidFill>
                <a:latin typeface="JetBrains Mono"/>
                <a:ea typeface="JetBrains Mono"/>
              </a:rPr>
              <a:t>PRO TIP</a:t>
            </a:r>
            <a:endParaRPr b="0" lang="en-AU" sz="1350" spc="-1" strike="noStrike">
              <a:solidFill>
                <a:srgbClr val="000000"/>
              </a:solidFill>
              <a:latin typeface="Arial"/>
            </a:endParaRPr>
          </a:p>
        </p:txBody>
      </p:sp>
      <p:sp>
        <p:nvSpPr>
          <p:cNvPr id="364" name="Text 12"/>
          <p:cNvSpPr/>
          <p:nvPr/>
        </p:nvSpPr>
        <p:spPr>
          <a:xfrm>
            <a:off x="1609560" y="7071480"/>
            <a:ext cx="7083000" cy="580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430" spc="-7" strike="noStrike">
                <a:solidFill>
                  <a:srgbClr val="1f2329"/>
                </a:solidFill>
                <a:latin typeface="Inter"/>
                <a:ea typeface="Inter"/>
              </a:rPr>
              <a:t>When project knowledge approaches the context-window limit, Claude </a:t>
            </a:r>
            <a:r>
              <a:rPr b="1" lang="en-US" sz="1430" spc="-7" strike="noStrike">
                <a:solidFill>
                  <a:srgbClr val="0e1116"/>
                </a:solidFill>
                <a:latin typeface="Inter"/>
                <a:ea typeface="Inter"/>
              </a:rPr>
              <a:t>seamlessly enables RAG mode </a:t>
            </a:r>
            <a:r>
              <a:rPr b="0" lang="en-US" sz="1430" spc="-7" strike="noStrike">
                <a:solidFill>
                  <a:srgbClr val="1f2329"/>
                </a:solidFill>
                <a:latin typeface="Inter"/>
                <a:ea typeface="Inter"/>
              </a:rPr>
              <a:t>— you don't have to do anything.</a:t>
            </a:r>
            <a:endParaRPr b="0" lang="en-AU" sz="1430" spc="-1" strike="noStrike">
              <a:solidFill>
                <a:srgbClr val="000000"/>
              </a:solidFill>
              <a:latin typeface="Arial"/>
            </a:endParaRPr>
          </a:p>
        </p:txBody>
      </p:sp>
      <p:sp>
        <p:nvSpPr>
          <p:cNvPr id="365" name="Text 13"/>
          <p:cNvSpPr/>
          <p:nvPr/>
        </p:nvSpPr>
        <p:spPr>
          <a:xfrm>
            <a:off x="9410760" y="3467880"/>
            <a:ext cx="7887600" cy="4795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6000"/>
              </a:lnSpc>
              <a:tabLst>
                <a:tab algn="l" pos="0"/>
              </a:tabLst>
            </a:pPr>
            <a:r>
              <a:rPr b="1" lang="en-US" sz="3000" spc="-38" strike="noStrike">
                <a:solidFill>
                  <a:srgbClr val="0e1116"/>
                </a:solidFill>
                <a:latin typeface="Space Grotesk"/>
                <a:ea typeface="Space Grotesk"/>
              </a:rPr>
              <a:t>Best practices</a:t>
            </a:r>
            <a:endParaRPr b="0" lang="en-AU" sz="3000" spc="-1" strike="noStrike">
              <a:solidFill>
                <a:srgbClr val="000000"/>
              </a:solidFill>
              <a:latin typeface="Arial"/>
            </a:endParaRPr>
          </a:p>
        </p:txBody>
      </p:sp>
      <p:sp>
        <p:nvSpPr>
          <p:cNvPr id="366" name="Text 14"/>
          <p:cNvSpPr/>
          <p:nvPr/>
        </p:nvSpPr>
        <p:spPr>
          <a:xfrm>
            <a:off x="9791640" y="4176360"/>
            <a:ext cx="292932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8000"/>
              </a:lnSpc>
              <a:tabLst>
                <a:tab algn="l" pos="0"/>
              </a:tabLst>
            </a:pPr>
            <a:r>
              <a:rPr b="1" lang="en-US" sz="1650" spc="-1" strike="noStrike">
                <a:solidFill>
                  <a:srgbClr val="0e1116"/>
                </a:solidFill>
                <a:latin typeface="Inter"/>
                <a:ea typeface="Inter"/>
              </a:rPr>
              <a:t>Start focused, then expand.</a:t>
            </a:r>
            <a:endParaRPr b="0" lang="en-AU" sz="1650" spc="-1" strike="noStrike">
              <a:solidFill>
                <a:srgbClr val="000000"/>
              </a:solidFill>
              <a:latin typeface="Arial"/>
            </a:endParaRPr>
          </a:p>
        </p:txBody>
      </p:sp>
      <p:sp>
        <p:nvSpPr>
          <p:cNvPr id="367" name="Text 15"/>
          <p:cNvSpPr/>
          <p:nvPr/>
        </p:nvSpPr>
        <p:spPr>
          <a:xfrm>
            <a:off x="12807360" y="4205160"/>
            <a:ext cx="2395080" cy="285480"/>
          </a:xfrm>
          <a:prstGeom prst="rect">
            <a:avLst/>
          </a:prstGeom>
          <a:noFill/>
          <a:ln w="0">
            <a:noFill/>
          </a:ln>
        </p:spPr>
        <p:style>
          <a:lnRef idx="0"/>
          <a:fillRef idx="0"/>
          <a:effectRef idx="0"/>
          <a:fontRef idx="minor"/>
        </p:style>
        <p:txBody>
          <a:bodyPr lIns="0" rIns="0" tIns="0" bIns="0" anchor="t">
            <a:normAutofit fontScale="81111"/>
          </a:bodyPr>
          <a:p>
            <a:pPr defTabSz="914400">
              <a:lnSpc>
                <a:spcPct val="148000"/>
              </a:lnSpc>
              <a:tabLst>
                <a:tab algn="l" pos="0"/>
              </a:tabLst>
            </a:pPr>
            <a:r>
              <a:rPr b="0" lang="en-US" sz="1650" spc="-1" strike="noStrike">
                <a:solidFill>
                  <a:srgbClr val="1f2329"/>
                </a:solidFill>
                <a:latin typeface="Inter"/>
                <a:ea typeface="Inter"/>
              </a:rPr>
              <a:t>One use case at a time.</a:t>
            </a:r>
            <a:endParaRPr b="0" lang="en-AU" sz="1650" spc="-1" strike="noStrike">
              <a:solidFill>
                <a:srgbClr val="000000"/>
              </a:solidFill>
              <a:latin typeface="Arial"/>
            </a:endParaRPr>
          </a:p>
        </p:txBody>
      </p:sp>
      <p:sp>
        <p:nvSpPr>
          <p:cNvPr id="368" name="Text 16"/>
          <p:cNvSpPr/>
          <p:nvPr/>
        </p:nvSpPr>
        <p:spPr>
          <a:xfrm>
            <a:off x="9791640" y="4676760"/>
            <a:ext cx="374580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8000"/>
              </a:lnSpc>
              <a:tabLst>
                <a:tab algn="l" pos="0"/>
              </a:tabLst>
            </a:pPr>
            <a:r>
              <a:rPr b="1" lang="en-US" sz="1650" spc="-1" strike="noStrike">
                <a:solidFill>
                  <a:srgbClr val="0e1116"/>
                </a:solidFill>
                <a:latin typeface="Inter"/>
                <a:ea typeface="Inter"/>
              </a:rPr>
              <a:t>Keep your knowledge base current.</a:t>
            </a:r>
            <a:endParaRPr b="0" lang="en-AU" sz="1650" spc="-1" strike="noStrike">
              <a:solidFill>
                <a:srgbClr val="000000"/>
              </a:solidFill>
              <a:latin typeface="Arial"/>
            </a:endParaRPr>
          </a:p>
        </p:txBody>
      </p:sp>
      <p:sp>
        <p:nvSpPr>
          <p:cNvPr id="369" name="Text 17"/>
          <p:cNvSpPr/>
          <p:nvPr/>
        </p:nvSpPr>
        <p:spPr>
          <a:xfrm>
            <a:off x="13600080" y="4705560"/>
            <a:ext cx="2797200" cy="285480"/>
          </a:xfrm>
          <a:prstGeom prst="rect">
            <a:avLst/>
          </a:prstGeom>
          <a:noFill/>
          <a:ln w="0">
            <a:noFill/>
          </a:ln>
        </p:spPr>
        <p:style>
          <a:lnRef idx="0"/>
          <a:fillRef idx="0"/>
          <a:effectRef idx="0"/>
          <a:fontRef idx="minor"/>
        </p:style>
        <p:txBody>
          <a:bodyPr lIns="0" rIns="0" tIns="0" bIns="0" anchor="t">
            <a:normAutofit fontScale="81111"/>
          </a:bodyPr>
          <a:p>
            <a:pPr defTabSz="914400">
              <a:lnSpc>
                <a:spcPct val="148000"/>
              </a:lnSpc>
              <a:tabLst>
                <a:tab algn="l" pos="0"/>
              </a:tabLst>
            </a:pPr>
            <a:r>
              <a:rPr b="0" lang="en-US" sz="1650" spc="-1" strike="noStrike">
                <a:solidFill>
                  <a:srgbClr val="1f2329"/>
                </a:solidFill>
                <a:latin typeface="Inter"/>
                <a:ea typeface="Inter"/>
              </a:rPr>
              <a:t>Stale docs = stale answers.</a:t>
            </a:r>
            <a:endParaRPr b="0" lang="en-AU" sz="1650" spc="-1" strike="noStrike">
              <a:solidFill>
                <a:srgbClr val="000000"/>
              </a:solidFill>
              <a:latin typeface="Arial"/>
            </a:endParaRPr>
          </a:p>
        </p:txBody>
      </p:sp>
      <p:sp>
        <p:nvSpPr>
          <p:cNvPr id="370" name="Text 18"/>
          <p:cNvSpPr/>
          <p:nvPr/>
        </p:nvSpPr>
        <p:spPr>
          <a:xfrm>
            <a:off x="9791640" y="5177520"/>
            <a:ext cx="254232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8000"/>
              </a:lnSpc>
              <a:tabLst>
                <a:tab algn="l" pos="0"/>
              </a:tabLst>
            </a:pPr>
            <a:r>
              <a:rPr b="1" lang="en-US" sz="1650" spc="-1" strike="noStrike">
                <a:solidFill>
                  <a:srgbClr val="0e1116"/>
                </a:solidFill>
                <a:latin typeface="Inter"/>
                <a:ea typeface="Inter"/>
              </a:rPr>
              <a:t>Write clear instructions.</a:t>
            </a:r>
            <a:endParaRPr b="0" lang="en-AU" sz="1650" spc="-1" strike="noStrike">
              <a:solidFill>
                <a:srgbClr val="000000"/>
              </a:solidFill>
              <a:latin typeface="Arial"/>
            </a:endParaRPr>
          </a:p>
        </p:txBody>
      </p:sp>
      <p:sp>
        <p:nvSpPr>
          <p:cNvPr id="371" name="Text 19"/>
          <p:cNvSpPr/>
          <p:nvPr/>
        </p:nvSpPr>
        <p:spPr>
          <a:xfrm>
            <a:off x="12429360" y="5205960"/>
            <a:ext cx="2101320" cy="285480"/>
          </a:xfrm>
          <a:prstGeom prst="rect">
            <a:avLst/>
          </a:prstGeom>
          <a:noFill/>
          <a:ln w="0">
            <a:noFill/>
          </a:ln>
        </p:spPr>
        <p:style>
          <a:lnRef idx="0"/>
          <a:fillRef idx="0"/>
          <a:effectRef idx="0"/>
          <a:fontRef idx="minor"/>
        </p:style>
        <p:txBody>
          <a:bodyPr lIns="0" rIns="0" tIns="0" bIns="0" anchor="t">
            <a:normAutofit fontScale="81111"/>
          </a:bodyPr>
          <a:p>
            <a:pPr defTabSz="914400">
              <a:lnSpc>
                <a:spcPct val="148000"/>
              </a:lnSpc>
              <a:tabLst>
                <a:tab algn="l" pos="0"/>
              </a:tabLst>
            </a:pPr>
            <a:r>
              <a:rPr b="0" lang="en-US" sz="1650" spc="-1" strike="noStrike">
                <a:solidFill>
                  <a:srgbClr val="1f2329"/>
                </a:solidFill>
                <a:latin typeface="Inter"/>
                <a:ea typeface="Inter"/>
              </a:rPr>
              <a:t>Vague in, vague out.</a:t>
            </a:r>
            <a:endParaRPr b="0" lang="en-AU" sz="1650" spc="-1" strike="noStrike">
              <a:solidFill>
                <a:srgbClr val="000000"/>
              </a:solidFill>
              <a:latin typeface="Arial"/>
            </a:endParaRPr>
          </a:p>
        </p:txBody>
      </p:sp>
      <p:sp>
        <p:nvSpPr>
          <p:cNvPr id="372" name="Text 20"/>
          <p:cNvSpPr/>
          <p:nvPr/>
        </p:nvSpPr>
        <p:spPr>
          <a:xfrm>
            <a:off x="9791640" y="5677920"/>
            <a:ext cx="2547720" cy="657720"/>
          </a:xfrm>
          <a:prstGeom prst="rect">
            <a:avLst/>
          </a:prstGeom>
          <a:noFill/>
          <a:ln w="0">
            <a:noFill/>
          </a:ln>
        </p:spPr>
        <p:style>
          <a:lnRef idx="0"/>
          <a:fillRef idx="0"/>
          <a:effectRef idx="0"/>
          <a:fontRef idx="minor"/>
        </p:style>
        <p:txBody>
          <a:bodyPr lIns="25560" rIns="25560" tIns="25560" bIns="25560" anchor="t">
            <a:normAutofit fontScale="98333"/>
          </a:bodyPr>
          <a:p>
            <a:pPr defTabSz="914400">
              <a:lnSpc>
                <a:spcPct val="148000"/>
              </a:lnSpc>
              <a:tabLst>
                <a:tab algn="l" pos="0"/>
              </a:tabLst>
            </a:pPr>
            <a:r>
              <a:rPr b="1" lang="en-US" sz="1650" spc="-1" strike="noStrike">
                <a:solidFill>
                  <a:srgbClr val="0e1116"/>
                </a:solidFill>
                <a:latin typeface="Inter"/>
                <a:ea typeface="Inter"/>
              </a:rPr>
              <a:t>Name files descriptively.</a:t>
            </a:r>
            <a:endParaRPr b="0" lang="en-AU" sz="1650" spc="-1" strike="noStrike">
              <a:solidFill>
                <a:srgbClr val="000000"/>
              </a:solidFill>
              <a:latin typeface="Arial"/>
            </a:endParaRPr>
          </a:p>
        </p:txBody>
      </p:sp>
      <p:sp>
        <p:nvSpPr>
          <p:cNvPr id="373" name="Shape 21"/>
          <p:cNvSpPr/>
          <p:nvPr/>
        </p:nvSpPr>
        <p:spPr>
          <a:xfrm>
            <a:off x="12435120" y="5677920"/>
            <a:ext cx="2657160" cy="517680"/>
          </a:xfrm>
          <a:prstGeom prst="roundRect">
            <a:avLst>
              <a:gd name="adj" fmla="val 5517"/>
            </a:avLst>
          </a:prstGeom>
          <a:solidFill>
            <a:srgbClr val="1f2329">
              <a:alpha val="6000"/>
            </a:srgbClr>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374" name="Text 22"/>
          <p:cNvSpPr/>
          <p:nvPr/>
        </p:nvSpPr>
        <p:spPr>
          <a:xfrm>
            <a:off x="12511080" y="5697000"/>
            <a:ext cx="2584440" cy="517680"/>
          </a:xfrm>
          <a:prstGeom prst="rect">
            <a:avLst/>
          </a:prstGeom>
          <a:noFill/>
          <a:ln w="0">
            <a:noFill/>
          </a:ln>
        </p:spPr>
        <p:style>
          <a:lnRef idx="0"/>
          <a:fillRef idx="0"/>
          <a:effectRef idx="0"/>
          <a:fontRef idx="minor"/>
        </p:style>
        <p:txBody>
          <a:bodyPr lIns="25560" rIns="25560" tIns="25560" bIns="25560" anchor="t">
            <a:normAutofit/>
          </a:bodyPr>
          <a:p>
            <a:pPr defTabSz="914400">
              <a:lnSpc>
                <a:spcPct val="140000"/>
              </a:lnSpc>
              <a:tabLst>
                <a:tab algn="l" pos="0"/>
              </a:tabLst>
            </a:pPr>
            <a:r>
              <a:rPr b="0" lang="en-US" sz="1350" spc="-1" strike="noStrike">
                <a:solidFill>
                  <a:srgbClr val="1f2329"/>
                </a:solidFill>
                <a:latin typeface="JetBrains Mono"/>
                <a:ea typeface="JetBrains Mono"/>
              </a:rPr>
              <a:t>Q4-2025-Variance-Memo.pdf</a:t>
            </a:r>
            <a:endParaRPr b="0" lang="en-AU" sz="1350" spc="-1" strike="noStrike">
              <a:solidFill>
                <a:srgbClr val="000000"/>
              </a:solidFill>
              <a:latin typeface="Arial"/>
            </a:endParaRPr>
          </a:p>
        </p:txBody>
      </p:sp>
      <p:sp>
        <p:nvSpPr>
          <p:cNvPr id="375" name="Text 23"/>
          <p:cNvSpPr/>
          <p:nvPr/>
        </p:nvSpPr>
        <p:spPr>
          <a:xfrm>
            <a:off x="15264000" y="5706360"/>
            <a:ext cx="393840" cy="595440"/>
          </a:xfrm>
          <a:prstGeom prst="rect">
            <a:avLst/>
          </a:prstGeom>
          <a:noFill/>
          <a:ln w="0">
            <a:noFill/>
          </a:ln>
        </p:spPr>
        <p:style>
          <a:lnRef idx="0"/>
          <a:fillRef idx="0"/>
          <a:effectRef idx="0"/>
          <a:fontRef idx="minor"/>
        </p:style>
        <p:txBody>
          <a:bodyPr lIns="0" rIns="0" tIns="0" bIns="0" anchor="t">
            <a:normAutofit fontScale="93333" lnSpcReduction="10000"/>
          </a:bodyPr>
          <a:p>
            <a:pPr defTabSz="914400">
              <a:lnSpc>
                <a:spcPct val="148000"/>
              </a:lnSpc>
              <a:tabLst>
                <a:tab algn="l" pos="0"/>
              </a:tabLst>
            </a:pPr>
            <a:r>
              <a:rPr b="0" lang="en-US" sz="1650" spc="-1" strike="noStrike">
                <a:solidFill>
                  <a:srgbClr val="1f2329"/>
                </a:solidFill>
                <a:latin typeface="Inter"/>
                <a:ea typeface="Inter"/>
              </a:rPr>
              <a:t>, not</a:t>
            </a:r>
            <a:endParaRPr b="0" lang="en-AU" sz="1650" spc="-1" strike="noStrike">
              <a:solidFill>
                <a:srgbClr val="000000"/>
              </a:solidFill>
              <a:latin typeface="Arial"/>
            </a:endParaRPr>
          </a:p>
        </p:txBody>
      </p:sp>
      <p:sp>
        <p:nvSpPr>
          <p:cNvPr id="376" name="Shape 24"/>
          <p:cNvSpPr/>
          <p:nvPr/>
        </p:nvSpPr>
        <p:spPr>
          <a:xfrm>
            <a:off x="15861600" y="5677920"/>
            <a:ext cx="975240" cy="277560"/>
          </a:xfrm>
          <a:prstGeom prst="roundRect">
            <a:avLst>
              <a:gd name="adj" fmla="val 10278"/>
            </a:avLst>
          </a:prstGeom>
          <a:solidFill>
            <a:srgbClr val="1f2329">
              <a:alpha val="6000"/>
            </a:srgbClr>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377" name="Text 25"/>
          <p:cNvSpPr/>
          <p:nvPr/>
        </p:nvSpPr>
        <p:spPr>
          <a:xfrm>
            <a:off x="15937560" y="5697000"/>
            <a:ext cx="898920" cy="27756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40000"/>
              </a:lnSpc>
              <a:tabLst>
                <a:tab algn="l" pos="0"/>
              </a:tabLst>
            </a:pPr>
            <a:r>
              <a:rPr b="0" lang="en-US" sz="1350" spc="-1" strike="noStrike">
                <a:solidFill>
                  <a:srgbClr val="1f2329"/>
                </a:solidFill>
                <a:latin typeface="JetBrains Mono"/>
                <a:ea typeface="JetBrains Mono"/>
              </a:rPr>
              <a:t>memo.pdf</a:t>
            </a:r>
            <a:endParaRPr b="0" lang="en-AU" sz="1350" spc="-1" strike="noStrike">
              <a:solidFill>
                <a:srgbClr val="000000"/>
              </a:solidFill>
              <a:latin typeface="Arial"/>
            </a:endParaRPr>
          </a:p>
        </p:txBody>
      </p:sp>
      <p:sp>
        <p:nvSpPr>
          <p:cNvPr id="378" name="Text 26"/>
          <p:cNvSpPr/>
          <p:nvPr/>
        </p:nvSpPr>
        <p:spPr>
          <a:xfrm>
            <a:off x="17008200" y="5706360"/>
            <a:ext cx="136440" cy="285480"/>
          </a:xfrm>
          <a:prstGeom prst="rect">
            <a:avLst/>
          </a:prstGeom>
          <a:noFill/>
          <a:ln w="0">
            <a:noFill/>
          </a:ln>
        </p:spPr>
        <p:style>
          <a:lnRef idx="0"/>
          <a:fillRef idx="0"/>
          <a:effectRef idx="0"/>
          <a:fontRef idx="minor"/>
        </p:style>
        <p:txBody>
          <a:bodyPr lIns="0" rIns="0" tIns="0" bIns="0" anchor="t">
            <a:normAutofit fontScale="81111"/>
          </a:bodyPr>
          <a:p>
            <a:pPr defTabSz="914400">
              <a:lnSpc>
                <a:spcPct val="148000"/>
              </a:lnSpc>
              <a:tabLst>
                <a:tab algn="l" pos="0"/>
              </a:tabLst>
            </a:pPr>
            <a:r>
              <a:rPr b="0" lang="en-US" sz="1650" spc="-1" strike="noStrike">
                <a:solidFill>
                  <a:srgbClr val="1f2329"/>
                </a:solidFill>
                <a:latin typeface="Inter"/>
                <a:ea typeface="Inter"/>
              </a:rPr>
              <a:t>.</a:t>
            </a:r>
            <a:endParaRPr b="0" lang="en-AU" sz="1650" spc="-1" strike="noStrike">
              <a:solidFill>
                <a:srgbClr val="000000"/>
              </a:solidFill>
              <a:latin typeface="Arial"/>
            </a:endParaRPr>
          </a:p>
        </p:txBody>
      </p:sp>
      <p:sp>
        <p:nvSpPr>
          <p:cNvPr id="379" name="Text 27"/>
          <p:cNvSpPr/>
          <p:nvPr/>
        </p:nvSpPr>
        <p:spPr>
          <a:xfrm>
            <a:off x="9791640" y="6488640"/>
            <a:ext cx="2844360" cy="657720"/>
          </a:xfrm>
          <a:prstGeom prst="rect">
            <a:avLst/>
          </a:prstGeom>
          <a:noFill/>
          <a:ln w="0">
            <a:noFill/>
          </a:ln>
        </p:spPr>
        <p:style>
          <a:lnRef idx="0"/>
          <a:fillRef idx="0"/>
          <a:effectRef idx="0"/>
          <a:fontRef idx="minor"/>
        </p:style>
        <p:txBody>
          <a:bodyPr lIns="25560" rIns="25560" tIns="25560" bIns="25560" anchor="t">
            <a:normAutofit fontScale="93333" lnSpcReduction="10000"/>
          </a:bodyPr>
          <a:p>
            <a:pPr defTabSz="914400">
              <a:lnSpc>
                <a:spcPct val="148000"/>
              </a:lnSpc>
              <a:tabLst>
                <a:tab algn="l" pos="0"/>
              </a:tabLst>
            </a:pPr>
            <a:r>
              <a:rPr b="1" lang="en-US" sz="1650" spc="-1" strike="noStrike">
                <a:solidFill>
                  <a:srgbClr val="0e1116"/>
                </a:solidFill>
                <a:latin typeface="Inter"/>
                <a:ea typeface="Inter"/>
              </a:rPr>
              <a:t>Reference by name in prompts.</a:t>
            </a:r>
            <a:endParaRPr b="0" lang="en-AU" sz="1650" spc="-1" strike="noStrike">
              <a:solidFill>
                <a:srgbClr val="000000"/>
              </a:solidFill>
              <a:latin typeface="Arial"/>
            </a:endParaRPr>
          </a:p>
        </p:txBody>
      </p:sp>
      <p:sp>
        <p:nvSpPr>
          <p:cNvPr id="380" name="Text 28"/>
          <p:cNvSpPr/>
          <p:nvPr/>
        </p:nvSpPr>
        <p:spPr>
          <a:xfrm>
            <a:off x="12725280" y="6517080"/>
            <a:ext cx="4339800" cy="595440"/>
          </a:xfrm>
          <a:prstGeom prst="rect">
            <a:avLst/>
          </a:prstGeom>
          <a:noFill/>
          <a:ln w="0">
            <a:noFill/>
          </a:ln>
        </p:spPr>
        <p:style>
          <a:lnRef idx="0"/>
          <a:fillRef idx="0"/>
          <a:effectRef idx="0"/>
          <a:fontRef idx="minor"/>
        </p:style>
        <p:txBody>
          <a:bodyPr lIns="0" rIns="0" tIns="0" bIns="0" anchor="t">
            <a:normAutofit fontScale="93333" lnSpcReduction="10000"/>
          </a:bodyPr>
          <a:p>
            <a:pPr defTabSz="914400">
              <a:lnSpc>
                <a:spcPct val="148000"/>
              </a:lnSpc>
              <a:tabLst>
                <a:tab algn="l" pos="0"/>
              </a:tabLst>
            </a:pPr>
            <a:r>
              <a:rPr b="0" lang="en-US" sz="1650" spc="-1" strike="noStrike">
                <a:solidFill>
                  <a:srgbClr val="1f2329"/>
                </a:solidFill>
                <a:latin typeface="Inter"/>
                <a:ea typeface="Inter"/>
              </a:rPr>
              <a:t>"Per the Q3 variance memo…" focuses the search.</a:t>
            </a:r>
            <a:endParaRPr b="0" lang="en-AU" sz="1650" spc="-1" strike="noStrike">
              <a:solidFill>
                <a:srgbClr val="000000"/>
              </a:solidFill>
              <a:latin typeface="Arial"/>
            </a:endParaRPr>
          </a:p>
        </p:txBody>
      </p:sp>
      <p:sp>
        <p:nvSpPr>
          <p:cNvPr id="381" name="Text 29"/>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14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116"/>
        </a:solidFill>
      </p:bgPr>
    </p:bg>
    <p:spTree>
      <p:nvGrpSpPr>
        <p:cNvPr id="1" name=""/>
        <p:cNvGrpSpPr/>
        <p:nvPr/>
      </p:nvGrpSpPr>
      <p:grpSpPr>
        <a:xfrm>
          <a:off x="0" y="0"/>
          <a:ext cx="0" cy="0"/>
          <a:chOff x="0" y="0"/>
          <a:chExt cx="0" cy="0"/>
        </a:xfrm>
      </p:grpSpPr>
      <p:pic>
        <p:nvPicPr>
          <p:cNvPr id="382" name="Image 0" descr="preencoded.png"/>
          <p:cNvPicPr/>
          <p:nvPr/>
        </p:nvPicPr>
        <p:blipFill>
          <a:blip r:embed="rId1"/>
          <a:stretch/>
        </p:blipFill>
        <p:spPr>
          <a:xfrm>
            <a:off x="1219320" y="468360"/>
            <a:ext cx="304560" cy="304560"/>
          </a:xfrm>
          <a:prstGeom prst="rect">
            <a:avLst/>
          </a:prstGeom>
          <a:ln w="0">
            <a:noFill/>
          </a:ln>
        </p:spPr>
      </p:pic>
      <p:sp>
        <p:nvSpPr>
          <p:cNvPr id="383"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f4efe6"/>
                </a:solidFill>
                <a:latin typeface="Space Grotesk"/>
                <a:ea typeface="Space Grotesk"/>
              </a:rPr>
              <a:t>Agentic</a:t>
            </a:r>
            <a:endParaRPr b="0" lang="en-AU" sz="1650" spc="-1" strike="noStrike">
              <a:solidFill>
                <a:srgbClr val="ffffff"/>
              </a:solidFill>
              <a:latin typeface="Arial"/>
            </a:endParaRPr>
          </a:p>
        </p:txBody>
      </p:sp>
      <p:sp>
        <p:nvSpPr>
          <p:cNvPr id="384"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ffffff"/>
              </a:solidFill>
              <a:latin typeface="Arial"/>
            </a:endParaRPr>
          </a:p>
        </p:txBody>
      </p:sp>
      <p:sp>
        <p:nvSpPr>
          <p:cNvPr id="385"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f4efe6"/>
                </a:solidFill>
                <a:latin typeface="Space Grotesk"/>
                <a:ea typeface="Space Grotesk"/>
              </a:rPr>
              <a:t>Automations</a:t>
            </a:r>
            <a:endParaRPr b="0" lang="en-AU" sz="1650" spc="-1" strike="noStrike">
              <a:solidFill>
                <a:srgbClr val="ffffff"/>
              </a:solidFill>
              <a:latin typeface="Arial"/>
            </a:endParaRPr>
          </a:p>
        </p:txBody>
      </p:sp>
      <p:sp>
        <p:nvSpPr>
          <p:cNvPr id="386" name="Text 3"/>
          <p:cNvSpPr/>
          <p:nvPr/>
        </p:nvSpPr>
        <p:spPr>
          <a:xfrm>
            <a:off x="1219320" y="3112920"/>
            <a:ext cx="6035040" cy="4098960"/>
          </a:xfrm>
          <a:prstGeom prst="rect">
            <a:avLst/>
          </a:prstGeom>
          <a:noFill/>
          <a:ln w="0">
            <a:noFill/>
          </a:ln>
        </p:spPr>
        <p:style>
          <a:lnRef idx="0"/>
          <a:fillRef idx="0"/>
          <a:effectRef idx="0"/>
          <a:fontRef idx="minor"/>
        </p:style>
        <p:txBody>
          <a:bodyPr lIns="25560" rIns="25560" tIns="25560" bIns="25560" anchor="t">
            <a:normAutofit fontScale="83333"/>
          </a:bodyPr>
          <a:p>
            <a:pPr defTabSz="914400">
              <a:lnSpc>
                <a:spcPct val="82000"/>
              </a:lnSpc>
              <a:tabLst>
                <a:tab algn="l" pos="0"/>
              </a:tabLst>
            </a:pPr>
            <a:r>
              <a:rPr b="0" lang="en-US" sz="39000" spc="-1172" strike="noStrike">
                <a:solidFill>
                  <a:srgbClr val="e36a2c"/>
                </a:solidFill>
                <a:latin typeface="Space Grotesk"/>
                <a:ea typeface="Space Grotesk"/>
              </a:rPr>
              <a:t>02</a:t>
            </a:r>
            <a:endParaRPr b="0" lang="en-AU" sz="39000" spc="-1" strike="noStrike">
              <a:solidFill>
                <a:srgbClr val="ffffff"/>
              </a:solidFill>
              <a:latin typeface="Arial"/>
            </a:endParaRPr>
          </a:p>
        </p:txBody>
      </p:sp>
      <p:sp>
        <p:nvSpPr>
          <p:cNvPr id="387" name="Shape 4"/>
          <p:cNvSpPr/>
          <p:nvPr/>
        </p:nvSpPr>
        <p:spPr>
          <a:xfrm>
            <a:off x="7993080" y="304956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388" name="Text 5"/>
          <p:cNvSpPr/>
          <p:nvPr/>
        </p:nvSpPr>
        <p:spPr>
          <a:xfrm>
            <a:off x="8183520" y="2972880"/>
            <a:ext cx="30301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f4efe6">
                    <a:alpha val="70000"/>
                  </a:srgbClr>
                </a:solidFill>
                <a:latin typeface="JetBrains Mono"/>
                <a:ea typeface="JetBrains Mono"/>
              </a:rPr>
              <a:t>PART TWO · FOR FINANCE</a:t>
            </a:r>
            <a:endParaRPr b="0" lang="en-AU" sz="1350" spc="-1" strike="noStrike">
              <a:solidFill>
                <a:srgbClr val="ffffff"/>
              </a:solidFill>
              <a:latin typeface="Arial"/>
            </a:endParaRPr>
          </a:p>
        </p:txBody>
      </p:sp>
      <p:sp>
        <p:nvSpPr>
          <p:cNvPr id="389" name="Text 6"/>
          <p:cNvSpPr/>
          <p:nvPr/>
        </p:nvSpPr>
        <p:spPr>
          <a:xfrm>
            <a:off x="7993080" y="3526200"/>
            <a:ext cx="86331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f4efe6"/>
                </a:solidFill>
                <a:latin typeface="Space Grotesk"/>
                <a:ea typeface="Space Grotesk"/>
              </a:rPr>
              <a:t>Intermediate.</a:t>
            </a:r>
            <a:endParaRPr b="0" lang="en-AU" sz="7200" spc="-1" strike="noStrike">
              <a:solidFill>
                <a:srgbClr val="ffffff"/>
              </a:solidFill>
              <a:latin typeface="Arial"/>
            </a:endParaRPr>
          </a:p>
        </p:txBody>
      </p:sp>
      <p:sp>
        <p:nvSpPr>
          <p:cNvPr id="390" name="Text 7"/>
          <p:cNvSpPr/>
          <p:nvPr/>
        </p:nvSpPr>
        <p:spPr>
          <a:xfrm>
            <a:off x="7993080" y="4745520"/>
            <a:ext cx="8633160" cy="2634480"/>
          </a:xfrm>
          <a:prstGeom prst="rect">
            <a:avLst/>
          </a:prstGeom>
          <a:noFill/>
          <a:ln w="0">
            <a:noFill/>
          </a:ln>
        </p:spPr>
        <p:style>
          <a:lnRef idx="0"/>
          <a:fillRef idx="0"/>
          <a:effectRef idx="0"/>
          <a:fontRef idx="minor"/>
        </p:style>
        <p:txBody>
          <a:bodyPr lIns="25560" rIns="25560" tIns="25560" bIns="25560" anchor="t">
            <a:normAutofit/>
          </a:bodyPr>
          <a:p>
            <a:pPr defTabSz="914400">
              <a:lnSpc>
                <a:spcPct val="142000"/>
              </a:lnSpc>
              <a:tabLst>
                <a:tab algn="l" pos="0"/>
              </a:tabLst>
            </a:pPr>
            <a:r>
              <a:rPr b="0" lang="en-US" sz="2400" spc="-12" strike="noStrike">
                <a:solidFill>
                  <a:srgbClr val="f4efe6">
                    <a:alpha val="78000"/>
                  </a:srgbClr>
                </a:solidFill>
                <a:latin typeface="Inter"/>
                <a:ea typeface="Inter"/>
              </a:rPr>
              <a:t>Skills · Connectors · Enterprise Search · Research. The four capabilities that turn Claude into a real finance partner — reconciling, modelling, drafting commentary, and pulling answers out of the systems where your numbers actually live (ERP, BI, close folders, board archives).</a:t>
            </a:r>
            <a:endParaRPr b="0" lang="en-AU" sz="2400" spc="-1" strike="noStrike">
              <a:solidFill>
                <a:srgbClr val="ffffff"/>
              </a:solidFill>
              <a:latin typeface="Arial"/>
            </a:endParaRPr>
          </a:p>
        </p:txBody>
      </p:sp>
      <p:sp>
        <p:nvSpPr>
          <p:cNvPr id="391" name="Text 8"/>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f4efe6">
                    <a:alpha val="50000"/>
                  </a:srgbClr>
                </a:solidFill>
                <a:latin typeface="JetBrains Mono"/>
                <a:ea typeface="JetBrains Mono"/>
              </a:rPr>
              <a:t>15 / 30</a:t>
            </a:r>
            <a:endParaRPr b="0" lang="en-AU"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392" name="Image 0" descr="preencoded.png"/>
          <p:cNvPicPr/>
          <p:nvPr/>
        </p:nvPicPr>
        <p:blipFill>
          <a:blip r:embed="rId1"/>
          <a:stretch/>
        </p:blipFill>
        <p:spPr>
          <a:xfrm>
            <a:off x="1219320" y="468360"/>
            <a:ext cx="304560" cy="304560"/>
          </a:xfrm>
          <a:prstGeom prst="rect">
            <a:avLst/>
          </a:prstGeom>
          <a:ln w="0">
            <a:noFill/>
          </a:ln>
        </p:spPr>
      </p:pic>
      <p:sp>
        <p:nvSpPr>
          <p:cNvPr id="393"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394"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395"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396"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397" name="Text 4"/>
          <p:cNvSpPr/>
          <p:nvPr/>
        </p:nvSpPr>
        <p:spPr>
          <a:xfrm>
            <a:off x="1409760" y="1619280"/>
            <a:ext cx="234936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06 · SKILLS</a:t>
            </a:r>
            <a:endParaRPr b="0" lang="en-AU" sz="1350" spc="-1" strike="noStrike">
              <a:solidFill>
                <a:srgbClr val="000000"/>
              </a:solidFill>
              <a:latin typeface="Arial"/>
            </a:endParaRPr>
          </a:p>
        </p:txBody>
      </p:sp>
      <p:sp>
        <p:nvSpPr>
          <p:cNvPr id="398"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Skills are expertise packages.</a:t>
            </a:r>
            <a:endParaRPr b="0" lang="en-AU" sz="7200" spc="-1" strike="noStrike">
              <a:solidFill>
                <a:srgbClr val="000000"/>
              </a:solidFill>
              <a:latin typeface="Arial"/>
            </a:endParaRPr>
          </a:p>
        </p:txBody>
      </p:sp>
      <p:sp>
        <p:nvSpPr>
          <p:cNvPr id="399" name="Text 6"/>
          <p:cNvSpPr/>
          <p:nvPr/>
        </p:nvSpPr>
        <p:spPr>
          <a:xfrm>
            <a:off x="1219320" y="3239280"/>
            <a:ext cx="10791360" cy="1335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42000"/>
              </a:lnSpc>
              <a:tabLst>
                <a:tab algn="l" pos="0"/>
              </a:tabLst>
            </a:pPr>
            <a:r>
              <a:rPr b="0" lang="en-US" sz="2400" spc="-12" strike="noStrike">
                <a:solidFill>
                  <a:srgbClr val="1f2329"/>
                </a:solidFill>
                <a:latin typeface="Inter"/>
                <a:ea typeface="Inter"/>
              </a:rPr>
              <a:t>Folders of instructions, scripts and resources that Claude loads dynamically. They teach Claude how to complete </a:t>
            </a:r>
            <a:r>
              <a:rPr b="1" lang="en-US" sz="2400" spc="-12" strike="noStrike">
                <a:solidFill>
                  <a:srgbClr val="0e1116"/>
                </a:solidFill>
                <a:latin typeface="Inter"/>
                <a:ea typeface="Inter"/>
              </a:rPr>
              <a:t>specific tasks </a:t>
            </a:r>
            <a:r>
              <a:rPr b="0" lang="en-US" sz="2400" spc="-12" strike="noStrike">
                <a:solidFill>
                  <a:srgbClr val="1f2329"/>
                </a:solidFill>
                <a:latin typeface="Inter"/>
                <a:ea typeface="Inter"/>
              </a:rPr>
              <a:t>in a repeatable way.</a:t>
            </a:r>
            <a:endParaRPr b="0" lang="en-AU" sz="2400" spc="-1" strike="noStrike">
              <a:solidFill>
                <a:srgbClr val="000000"/>
              </a:solidFill>
              <a:latin typeface="Arial"/>
            </a:endParaRPr>
          </a:p>
        </p:txBody>
      </p:sp>
      <p:sp>
        <p:nvSpPr>
          <p:cNvPr id="400" name="Text 7"/>
          <p:cNvSpPr/>
          <p:nvPr/>
        </p:nvSpPr>
        <p:spPr>
          <a:xfrm>
            <a:off x="1219320" y="5070960"/>
            <a:ext cx="8005320" cy="4795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6000"/>
              </a:lnSpc>
              <a:tabLst>
                <a:tab algn="l" pos="0"/>
              </a:tabLst>
            </a:pPr>
            <a:r>
              <a:rPr b="1" lang="en-US" sz="3000" spc="-38" strike="noStrike">
                <a:solidFill>
                  <a:srgbClr val="0e1116"/>
                </a:solidFill>
                <a:latin typeface="Space Grotesk"/>
                <a:ea typeface="Space Grotesk"/>
              </a:rPr>
              <a:t>What a Skill encodes</a:t>
            </a:r>
            <a:endParaRPr b="0" lang="en-AU" sz="3000" spc="-1" strike="noStrike">
              <a:solidFill>
                <a:srgbClr val="000000"/>
              </a:solidFill>
              <a:latin typeface="Arial"/>
            </a:endParaRPr>
          </a:p>
        </p:txBody>
      </p:sp>
      <p:sp>
        <p:nvSpPr>
          <p:cNvPr id="401" name="Text 8"/>
          <p:cNvSpPr/>
          <p:nvPr/>
        </p:nvSpPr>
        <p:spPr>
          <a:xfrm>
            <a:off x="1072440" y="5722560"/>
            <a:ext cx="7994880" cy="184932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650" spc="-1" strike="noStrike">
                <a:solidFill>
                  <a:srgbClr val="1f2329"/>
                </a:solidFill>
                <a:latin typeface="Inter"/>
                <a:ea typeface="Inter"/>
              </a:rPr>
              <a:t>A quarterly variance analysis methodology</a:t>
            </a:r>
            <a:endParaRPr b="0" lang="en-AU" sz="1650" spc="-1" strike="noStrike">
              <a:solidFill>
                <a:srgbClr val="000000"/>
              </a:solidFill>
              <a:latin typeface="Arial"/>
            </a:endParaRPr>
          </a:p>
          <a:p>
            <a:pPr defTabSz="914400">
              <a:lnSpc>
                <a:spcPct val="148000"/>
              </a:lnSpc>
              <a:tabLst>
                <a:tab algn="l" pos="0"/>
              </a:tabLst>
            </a:pPr>
            <a:r>
              <a:rPr b="0" lang="en-US" sz="1650" spc="-1" strike="noStrike">
                <a:solidFill>
                  <a:srgbClr val="1f2329"/>
                </a:solidFill>
                <a:latin typeface="Inter"/>
                <a:ea typeface="Inter"/>
              </a:rPr>
              <a:t>A brand voice review process</a:t>
            </a:r>
            <a:endParaRPr b="0" lang="en-AU" sz="1650" spc="-1" strike="noStrike">
              <a:solidFill>
                <a:srgbClr val="000000"/>
              </a:solidFill>
              <a:latin typeface="Arial"/>
            </a:endParaRPr>
          </a:p>
          <a:p>
            <a:pPr defTabSz="914400">
              <a:lnSpc>
                <a:spcPct val="148000"/>
              </a:lnSpc>
              <a:tabLst>
                <a:tab algn="l" pos="0"/>
              </a:tabLst>
            </a:pPr>
            <a:r>
              <a:rPr b="0" lang="en-US" sz="1650" spc="-1" strike="noStrike">
                <a:solidFill>
                  <a:srgbClr val="1f2329"/>
                </a:solidFill>
                <a:latin typeface="Inter"/>
                <a:ea typeface="Inter"/>
              </a:rPr>
              <a:t>A compliance checklist</a:t>
            </a:r>
            <a:endParaRPr b="0" lang="en-AU" sz="1650" spc="-1" strike="noStrike">
              <a:solidFill>
                <a:srgbClr val="000000"/>
              </a:solidFill>
              <a:latin typeface="Arial"/>
            </a:endParaRPr>
          </a:p>
          <a:p>
            <a:pPr defTabSz="914400">
              <a:lnSpc>
                <a:spcPct val="148000"/>
              </a:lnSpc>
              <a:tabLst>
                <a:tab algn="l" pos="0"/>
              </a:tabLst>
            </a:pPr>
            <a:r>
              <a:rPr b="0" lang="en-US" sz="1650" spc="-1" strike="noStrike">
                <a:solidFill>
                  <a:srgbClr val="1f2329"/>
                </a:solidFill>
                <a:latin typeface="Inter"/>
                <a:ea typeface="Inter"/>
              </a:rPr>
              <a:t>Any repeatable workflow you want Claude to run the same way every time</a:t>
            </a:r>
            <a:endParaRPr b="0" lang="en-AU" sz="1650" spc="-1" strike="noStrike">
              <a:solidFill>
                <a:srgbClr val="000000"/>
              </a:solidFill>
              <a:latin typeface="Arial"/>
            </a:endParaRPr>
          </a:p>
        </p:txBody>
      </p:sp>
      <p:sp>
        <p:nvSpPr>
          <p:cNvPr id="402" name="Text 9"/>
          <p:cNvSpPr/>
          <p:nvPr/>
        </p:nvSpPr>
        <p:spPr>
          <a:xfrm>
            <a:off x="9296280" y="5070960"/>
            <a:ext cx="8005320" cy="4795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6000"/>
              </a:lnSpc>
              <a:tabLst>
                <a:tab algn="l" pos="0"/>
              </a:tabLst>
            </a:pPr>
            <a:r>
              <a:rPr b="1" lang="en-US" sz="3000" spc="-38" strike="noStrike">
                <a:solidFill>
                  <a:srgbClr val="0e1116"/>
                </a:solidFill>
                <a:latin typeface="Space Grotesk"/>
                <a:ea typeface="Space Grotesk"/>
              </a:rPr>
              <a:t>Turning Skills on</a:t>
            </a:r>
            <a:endParaRPr b="0" lang="en-AU" sz="3000" spc="-1" strike="noStrike">
              <a:solidFill>
                <a:srgbClr val="000000"/>
              </a:solidFill>
              <a:latin typeface="Arial"/>
            </a:endParaRPr>
          </a:p>
        </p:txBody>
      </p:sp>
      <p:sp>
        <p:nvSpPr>
          <p:cNvPr id="403" name="Text 10"/>
          <p:cNvSpPr/>
          <p:nvPr/>
        </p:nvSpPr>
        <p:spPr>
          <a:xfrm>
            <a:off x="9296280" y="5722560"/>
            <a:ext cx="380520" cy="337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580" spc="-1" strike="noStrike">
                <a:solidFill>
                  <a:srgbClr val="e36a2c"/>
                </a:solidFill>
                <a:latin typeface="JetBrains Mono"/>
                <a:ea typeface="JetBrains Mono"/>
              </a:rPr>
              <a:t>01</a:t>
            </a:r>
            <a:endParaRPr b="0" lang="en-AU" sz="1580" spc="-1" strike="noStrike">
              <a:solidFill>
                <a:srgbClr val="000000"/>
              </a:solidFill>
              <a:latin typeface="Arial"/>
            </a:endParaRPr>
          </a:p>
        </p:txBody>
      </p:sp>
      <p:sp>
        <p:nvSpPr>
          <p:cNvPr id="404" name="Text 11"/>
          <p:cNvSpPr/>
          <p:nvPr/>
        </p:nvSpPr>
        <p:spPr>
          <a:xfrm>
            <a:off x="9772560" y="5751000"/>
            <a:ext cx="2258280" cy="275760"/>
          </a:xfrm>
          <a:prstGeom prst="rect">
            <a:avLst/>
          </a:prstGeom>
          <a:noFill/>
          <a:ln w="0">
            <a:noFill/>
          </a:ln>
        </p:spPr>
        <p:style>
          <a:lnRef idx="0"/>
          <a:fillRef idx="0"/>
          <a:effectRef idx="0"/>
          <a:fontRef idx="minor"/>
        </p:style>
        <p:txBody>
          <a:bodyPr lIns="0" rIns="0" tIns="0" bIns="0" anchor="t">
            <a:normAutofit fontScale="87222" lnSpcReduction="10000"/>
          </a:bodyPr>
          <a:p>
            <a:pPr defTabSz="914400">
              <a:lnSpc>
                <a:spcPct val="150000"/>
              </a:lnSpc>
              <a:tabLst>
                <a:tab algn="l" pos="0"/>
              </a:tabLst>
            </a:pPr>
            <a:r>
              <a:rPr b="0" lang="en-US" sz="1580" spc="-1" strike="noStrike">
                <a:solidFill>
                  <a:srgbClr val="1f2329"/>
                </a:solidFill>
                <a:latin typeface="Inter"/>
                <a:ea typeface="Inter"/>
              </a:rPr>
              <a:t>Settings → Capabilities</a:t>
            </a:r>
            <a:endParaRPr b="0" lang="en-AU" sz="1580" spc="-1" strike="noStrike">
              <a:solidFill>
                <a:srgbClr val="000000"/>
              </a:solidFill>
              <a:latin typeface="Arial"/>
            </a:endParaRPr>
          </a:p>
        </p:txBody>
      </p:sp>
      <p:sp>
        <p:nvSpPr>
          <p:cNvPr id="405" name="Text 12"/>
          <p:cNvSpPr/>
          <p:nvPr/>
        </p:nvSpPr>
        <p:spPr>
          <a:xfrm>
            <a:off x="9296280" y="6174720"/>
            <a:ext cx="380520" cy="337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580" spc="-1" strike="noStrike">
                <a:solidFill>
                  <a:srgbClr val="e36a2c"/>
                </a:solidFill>
                <a:latin typeface="JetBrains Mono"/>
                <a:ea typeface="JetBrains Mono"/>
              </a:rPr>
              <a:t>02</a:t>
            </a:r>
            <a:endParaRPr b="0" lang="en-AU" sz="1580" spc="-1" strike="noStrike">
              <a:solidFill>
                <a:srgbClr val="000000"/>
              </a:solidFill>
              <a:latin typeface="Arial"/>
            </a:endParaRPr>
          </a:p>
        </p:txBody>
      </p:sp>
      <p:sp>
        <p:nvSpPr>
          <p:cNvPr id="406" name="Text 13"/>
          <p:cNvSpPr/>
          <p:nvPr/>
        </p:nvSpPr>
        <p:spPr>
          <a:xfrm>
            <a:off x="9772560" y="6203520"/>
            <a:ext cx="719640" cy="275760"/>
          </a:xfrm>
          <a:prstGeom prst="rect">
            <a:avLst/>
          </a:prstGeom>
          <a:noFill/>
          <a:ln w="0">
            <a:noFill/>
          </a:ln>
        </p:spPr>
        <p:style>
          <a:lnRef idx="0"/>
          <a:fillRef idx="0"/>
          <a:effectRef idx="0"/>
          <a:fontRef idx="minor"/>
        </p:style>
        <p:txBody>
          <a:bodyPr lIns="0" rIns="0" tIns="0" bIns="0" anchor="t">
            <a:normAutofit fontScale="87222" lnSpcReduction="10000"/>
          </a:bodyPr>
          <a:p>
            <a:pPr defTabSz="914400">
              <a:lnSpc>
                <a:spcPct val="150000"/>
              </a:lnSpc>
              <a:tabLst>
                <a:tab algn="l" pos="0"/>
              </a:tabLst>
            </a:pPr>
            <a:r>
              <a:rPr b="0" lang="en-US" sz="1580" spc="-1" strike="noStrike">
                <a:solidFill>
                  <a:srgbClr val="1f2329"/>
                </a:solidFill>
                <a:latin typeface="Inter"/>
                <a:ea typeface="Inter"/>
              </a:rPr>
              <a:t>Toggle</a:t>
            </a:r>
            <a:endParaRPr b="0" lang="en-AU" sz="1580" spc="-1" strike="noStrike">
              <a:solidFill>
                <a:srgbClr val="000000"/>
              </a:solidFill>
              <a:latin typeface="Arial"/>
            </a:endParaRPr>
          </a:p>
        </p:txBody>
      </p:sp>
      <p:sp>
        <p:nvSpPr>
          <p:cNvPr id="407" name="Text 14"/>
          <p:cNvSpPr/>
          <p:nvPr/>
        </p:nvSpPr>
        <p:spPr>
          <a:xfrm>
            <a:off x="10587960" y="6174720"/>
            <a:ext cx="3244680" cy="337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580" spc="-1" strike="noStrike">
                <a:solidFill>
                  <a:srgbClr val="0e1116"/>
                </a:solidFill>
                <a:latin typeface="Inter"/>
                <a:ea typeface="Inter"/>
              </a:rPr>
              <a:t>Code execution and file creation</a:t>
            </a:r>
            <a:endParaRPr b="0" lang="en-AU" sz="1580" spc="-1" strike="noStrike">
              <a:solidFill>
                <a:srgbClr val="000000"/>
              </a:solidFill>
              <a:latin typeface="Arial"/>
            </a:endParaRPr>
          </a:p>
        </p:txBody>
      </p:sp>
      <p:sp>
        <p:nvSpPr>
          <p:cNvPr id="408" name="Text 15"/>
          <p:cNvSpPr/>
          <p:nvPr/>
        </p:nvSpPr>
        <p:spPr>
          <a:xfrm>
            <a:off x="13909680" y="6203520"/>
            <a:ext cx="313920" cy="275760"/>
          </a:xfrm>
          <a:prstGeom prst="rect">
            <a:avLst/>
          </a:prstGeom>
          <a:noFill/>
          <a:ln w="0">
            <a:noFill/>
          </a:ln>
        </p:spPr>
        <p:style>
          <a:lnRef idx="0"/>
          <a:fillRef idx="0"/>
          <a:effectRef idx="0"/>
          <a:fontRef idx="minor"/>
        </p:style>
        <p:txBody>
          <a:bodyPr lIns="0" rIns="0" tIns="0" bIns="0" anchor="t">
            <a:normAutofit fontScale="87222" lnSpcReduction="10000"/>
          </a:bodyPr>
          <a:p>
            <a:pPr defTabSz="914400">
              <a:lnSpc>
                <a:spcPct val="150000"/>
              </a:lnSpc>
              <a:tabLst>
                <a:tab algn="l" pos="0"/>
              </a:tabLst>
            </a:pPr>
            <a:r>
              <a:rPr b="0" lang="en-US" sz="1580" spc="-1" strike="noStrike">
                <a:solidFill>
                  <a:srgbClr val="1f2329"/>
                </a:solidFill>
                <a:latin typeface="Inter"/>
                <a:ea typeface="Inter"/>
              </a:rPr>
              <a:t>on</a:t>
            </a:r>
            <a:endParaRPr b="0" lang="en-AU" sz="1580" spc="-1" strike="noStrike">
              <a:solidFill>
                <a:srgbClr val="000000"/>
              </a:solidFill>
              <a:latin typeface="Arial"/>
            </a:endParaRPr>
          </a:p>
        </p:txBody>
      </p:sp>
      <p:sp>
        <p:nvSpPr>
          <p:cNvPr id="409" name="Text 16"/>
          <p:cNvSpPr/>
          <p:nvPr/>
        </p:nvSpPr>
        <p:spPr>
          <a:xfrm>
            <a:off x="9296280" y="6627240"/>
            <a:ext cx="380520" cy="337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580" spc="-1" strike="noStrike">
                <a:solidFill>
                  <a:srgbClr val="e36a2c"/>
                </a:solidFill>
                <a:latin typeface="JetBrains Mono"/>
                <a:ea typeface="JetBrains Mono"/>
              </a:rPr>
              <a:t>03</a:t>
            </a:r>
            <a:endParaRPr b="0" lang="en-AU" sz="1580" spc="-1" strike="noStrike">
              <a:solidFill>
                <a:srgbClr val="000000"/>
              </a:solidFill>
              <a:latin typeface="Arial"/>
            </a:endParaRPr>
          </a:p>
        </p:txBody>
      </p:sp>
      <p:sp>
        <p:nvSpPr>
          <p:cNvPr id="410" name="Text 17"/>
          <p:cNvSpPr/>
          <p:nvPr/>
        </p:nvSpPr>
        <p:spPr>
          <a:xfrm>
            <a:off x="9772560" y="6656040"/>
            <a:ext cx="4677840" cy="275760"/>
          </a:xfrm>
          <a:prstGeom prst="rect">
            <a:avLst/>
          </a:prstGeom>
          <a:noFill/>
          <a:ln w="0">
            <a:noFill/>
          </a:ln>
        </p:spPr>
        <p:style>
          <a:lnRef idx="0"/>
          <a:fillRef idx="0"/>
          <a:effectRef idx="0"/>
          <a:fontRef idx="minor"/>
        </p:style>
        <p:txBody>
          <a:bodyPr lIns="0" rIns="0" tIns="0" bIns="0" anchor="t">
            <a:normAutofit fontScale="87222" lnSpcReduction="10000"/>
          </a:bodyPr>
          <a:p>
            <a:pPr defTabSz="914400">
              <a:lnSpc>
                <a:spcPct val="150000"/>
              </a:lnSpc>
              <a:tabLst>
                <a:tab algn="l" pos="0"/>
              </a:tabLst>
            </a:pPr>
            <a:r>
              <a:rPr b="0" lang="en-US" sz="1580" spc="-1" strike="noStrike">
                <a:solidFill>
                  <a:srgbClr val="1f2329"/>
                </a:solidFill>
                <a:latin typeface="Inter"/>
                <a:ea typeface="Inter"/>
              </a:rPr>
              <a:t>Scroll to Skills section, toggle individual skills on</a:t>
            </a:r>
            <a:endParaRPr b="0" lang="en-AU" sz="1580" spc="-1" strike="noStrike">
              <a:solidFill>
                <a:srgbClr val="000000"/>
              </a:solidFill>
              <a:latin typeface="Arial"/>
            </a:endParaRPr>
          </a:p>
        </p:txBody>
      </p:sp>
      <p:sp>
        <p:nvSpPr>
          <p:cNvPr id="411" name="Text 18"/>
          <p:cNvSpPr/>
          <p:nvPr/>
        </p:nvSpPr>
        <p:spPr>
          <a:xfrm>
            <a:off x="9296280" y="7079760"/>
            <a:ext cx="380520" cy="337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580" spc="-1" strike="noStrike">
                <a:solidFill>
                  <a:srgbClr val="e36a2c"/>
                </a:solidFill>
                <a:latin typeface="JetBrains Mono"/>
                <a:ea typeface="JetBrains Mono"/>
              </a:rPr>
              <a:t>04</a:t>
            </a:r>
            <a:endParaRPr b="0" lang="en-AU" sz="1580" spc="-1" strike="noStrike">
              <a:solidFill>
                <a:srgbClr val="000000"/>
              </a:solidFill>
              <a:latin typeface="Arial"/>
            </a:endParaRPr>
          </a:p>
        </p:txBody>
      </p:sp>
      <p:sp>
        <p:nvSpPr>
          <p:cNvPr id="412" name="Text 19"/>
          <p:cNvSpPr/>
          <p:nvPr/>
        </p:nvSpPr>
        <p:spPr>
          <a:xfrm>
            <a:off x="9772560" y="7108200"/>
            <a:ext cx="5489640" cy="275760"/>
          </a:xfrm>
          <a:prstGeom prst="rect">
            <a:avLst/>
          </a:prstGeom>
          <a:noFill/>
          <a:ln w="0">
            <a:noFill/>
          </a:ln>
        </p:spPr>
        <p:style>
          <a:lnRef idx="0"/>
          <a:fillRef idx="0"/>
          <a:effectRef idx="0"/>
          <a:fontRef idx="minor"/>
        </p:style>
        <p:txBody>
          <a:bodyPr lIns="0" rIns="0" tIns="0" bIns="0" anchor="t">
            <a:normAutofit fontScale="87222" lnSpcReduction="10000"/>
          </a:bodyPr>
          <a:p>
            <a:pPr defTabSz="914400">
              <a:lnSpc>
                <a:spcPct val="150000"/>
              </a:lnSpc>
              <a:tabLst>
                <a:tab algn="l" pos="0"/>
              </a:tabLst>
            </a:pPr>
            <a:r>
              <a:rPr b="0" lang="en-US" sz="1580" spc="-1" strike="noStrike">
                <a:solidFill>
                  <a:srgbClr val="1f2329"/>
                </a:solidFill>
                <a:latin typeface="Inter"/>
                <a:ea typeface="Inter"/>
              </a:rPr>
              <a:t>Ask normally — Claude picks the right skill automatically</a:t>
            </a:r>
            <a:endParaRPr b="0" lang="en-AU" sz="1580" spc="-1" strike="noStrike">
              <a:solidFill>
                <a:srgbClr val="000000"/>
              </a:solidFill>
              <a:latin typeface="Arial"/>
            </a:endParaRPr>
          </a:p>
        </p:txBody>
      </p:sp>
      <p:sp>
        <p:nvSpPr>
          <p:cNvPr id="413" name="Shape 20"/>
          <p:cNvSpPr/>
          <p:nvPr/>
        </p:nvSpPr>
        <p:spPr>
          <a:xfrm>
            <a:off x="9296280" y="7684560"/>
            <a:ext cx="7772040" cy="952560"/>
          </a:xfrm>
          <a:prstGeom prst="roundRect">
            <a:avLst>
              <a:gd name="adj" fmla="val 15990"/>
            </a:avLst>
          </a:prstGeom>
          <a:solidFill>
            <a:srgbClr val="fbe3d4"/>
          </a:solidFill>
          <a:ln w="9525">
            <a:solidFill>
              <a:srgbClr val="e36a2c">
                <a:alpha val="25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14" name="Text 21"/>
          <p:cNvSpPr/>
          <p:nvPr/>
        </p:nvSpPr>
        <p:spPr>
          <a:xfrm>
            <a:off x="9572760" y="7884720"/>
            <a:ext cx="7436160" cy="590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32000"/>
              </a:lnSpc>
              <a:tabLst>
                <a:tab algn="l" pos="0"/>
              </a:tabLst>
            </a:pPr>
            <a:r>
              <a:rPr b="0" lang="en-US" sz="1650" spc="-15" strike="noStrike">
                <a:solidFill>
                  <a:srgbClr val="0e1116"/>
                </a:solidFill>
                <a:latin typeface="Space Grotesk"/>
                <a:ea typeface="Space Grotesk"/>
              </a:rPr>
              <a:t>"Generate a PDF report summarizing this data" → Claude picks the PDF skill.</a:t>
            </a:r>
            <a:endParaRPr b="0" lang="en-AU" sz="1650" spc="-1" strike="noStrike">
              <a:solidFill>
                <a:srgbClr val="000000"/>
              </a:solidFill>
              <a:latin typeface="Arial"/>
            </a:endParaRPr>
          </a:p>
        </p:txBody>
      </p:sp>
      <p:sp>
        <p:nvSpPr>
          <p:cNvPr id="415" name="Text 22"/>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16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416" name="Image 0" descr="preencoded.png"/>
          <p:cNvPicPr/>
          <p:nvPr/>
        </p:nvPicPr>
        <p:blipFill>
          <a:blip r:embed="rId1"/>
          <a:stretch/>
        </p:blipFill>
        <p:spPr>
          <a:xfrm>
            <a:off x="1219320" y="468360"/>
            <a:ext cx="304560" cy="304560"/>
          </a:xfrm>
          <a:prstGeom prst="rect">
            <a:avLst/>
          </a:prstGeom>
          <a:ln w="0">
            <a:noFill/>
          </a:ln>
        </p:spPr>
      </p:pic>
      <p:sp>
        <p:nvSpPr>
          <p:cNvPr id="417"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418"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419"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420"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421" name="Text 4"/>
          <p:cNvSpPr/>
          <p:nvPr/>
        </p:nvSpPr>
        <p:spPr>
          <a:xfrm>
            <a:off x="1409760" y="1619280"/>
            <a:ext cx="87840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SKILLS</a:t>
            </a:r>
            <a:endParaRPr b="0" lang="en-AU" sz="1350" spc="-1" strike="noStrike">
              <a:solidFill>
                <a:srgbClr val="000000"/>
              </a:solidFill>
              <a:latin typeface="Arial"/>
            </a:endParaRPr>
          </a:p>
        </p:txBody>
      </p:sp>
      <p:sp>
        <p:nvSpPr>
          <p:cNvPr id="422" name="Text 5"/>
          <p:cNvSpPr/>
          <p:nvPr/>
        </p:nvSpPr>
        <p:spPr>
          <a:xfrm>
            <a:off x="2326320" y="1600200"/>
            <a:ext cx="343440" cy="30528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i="1" lang="en-US" sz="1350" spc="242" strike="noStrike">
                <a:solidFill>
                  <a:srgbClr val="7a736a"/>
                </a:solidFill>
                <a:latin typeface="JetBrains Mono"/>
                <a:ea typeface="JetBrains Mono"/>
              </a:rPr>
              <a:t>VS</a:t>
            </a:r>
            <a:endParaRPr b="0" lang="en-AU" sz="1350" spc="-1" strike="noStrike">
              <a:solidFill>
                <a:srgbClr val="000000"/>
              </a:solidFill>
              <a:latin typeface="Arial"/>
            </a:endParaRPr>
          </a:p>
        </p:txBody>
      </p:sp>
      <p:sp>
        <p:nvSpPr>
          <p:cNvPr id="423" name="Text 6"/>
          <p:cNvSpPr/>
          <p:nvPr/>
        </p:nvSpPr>
        <p:spPr>
          <a:xfrm>
            <a:off x="2708280" y="1619280"/>
            <a:ext cx="11458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PROJECTS</a:t>
            </a:r>
            <a:endParaRPr b="0" lang="en-AU" sz="1350" spc="-1" strike="noStrike">
              <a:solidFill>
                <a:srgbClr val="000000"/>
              </a:solidFill>
              <a:latin typeface="Arial"/>
            </a:endParaRPr>
          </a:p>
        </p:txBody>
      </p:sp>
      <p:sp>
        <p:nvSpPr>
          <p:cNvPr id="424" name="Text 7"/>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The </a:t>
            </a:r>
            <a:r>
              <a:rPr b="0" i="1" lang="en-US" sz="7200" spc="-145" strike="noStrike">
                <a:solidFill>
                  <a:srgbClr val="0e1116"/>
                </a:solidFill>
                <a:latin typeface="Space Grotesk"/>
                <a:ea typeface="Space Grotesk"/>
              </a:rPr>
              <a:t>what </a:t>
            </a:r>
            <a:r>
              <a:rPr b="0" lang="en-US" sz="7200" spc="-145" strike="noStrike">
                <a:solidFill>
                  <a:srgbClr val="0e1116"/>
                </a:solidFill>
                <a:latin typeface="Space Grotesk"/>
                <a:ea typeface="Space Grotesk"/>
              </a:rPr>
              <a:t>and the </a:t>
            </a:r>
            <a:r>
              <a:rPr b="0" i="1" lang="en-US" sz="7200" spc="-145" strike="noStrike">
                <a:solidFill>
                  <a:srgbClr val="0e1116"/>
                </a:solidFill>
                <a:latin typeface="Space Grotesk"/>
                <a:ea typeface="Space Grotesk"/>
              </a:rPr>
              <a:t>how</a:t>
            </a:r>
            <a:r>
              <a:rPr b="0" lang="en-US" sz="7200" spc="-145" strike="noStrike">
                <a:solidFill>
                  <a:srgbClr val="0e1116"/>
                </a:solidFill>
                <a:latin typeface="Space Grotesk"/>
                <a:ea typeface="Space Grotesk"/>
              </a:rPr>
              <a:t>.</a:t>
            </a:r>
            <a:endParaRPr b="0" lang="en-AU" sz="7200" spc="-1" strike="noStrike">
              <a:solidFill>
                <a:srgbClr val="000000"/>
              </a:solidFill>
              <a:latin typeface="Arial"/>
            </a:endParaRPr>
          </a:p>
        </p:txBody>
      </p:sp>
      <p:sp>
        <p:nvSpPr>
          <p:cNvPr id="425" name="Shape 8"/>
          <p:cNvSpPr/>
          <p:nvPr/>
        </p:nvSpPr>
        <p:spPr>
          <a:xfrm>
            <a:off x="1219320" y="3544200"/>
            <a:ext cx="7772040" cy="4827240"/>
          </a:xfrm>
          <a:prstGeom prst="roundRect">
            <a:avLst>
              <a:gd name="adj" fmla="val 276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26" name="Shape 9"/>
          <p:cNvSpPr/>
          <p:nvPr/>
        </p:nvSpPr>
        <p:spPr>
          <a:xfrm>
            <a:off x="1800360" y="4087080"/>
            <a:ext cx="107496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27" name="Text 10"/>
          <p:cNvSpPr/>
          <p:nvPr/>
        </p:nvSpPr>
        <p:spPr>
          <a:xfrm>
            <a:off x="1943280" y="4153680"/>
            <a:ext cx="86544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PROJECTS</a:t>
            </a:r>
            <a:endParaRPr b="0" lang="en-AU" sz="1050" spc="-1" strike="noStrike">
              <a:solidFill>
                <a:srgbClr val="000000"/>
              </a:solidFill>
              <a:latin typeface="Arial"/>
            </a:endParaRPr>
          </a:p>
        </p:txBody>
      </p:sp>
      <p:sp>
        <p:nvSpPr>
          <p:cNvPr id="428" name="Text 11"/>
          <p:cNvSpPr/>
          <p:nvPr/>
        </p:nvSpPr>
        <p:spPr>
          <a:xfrm>
            <a:off x="1800360" y="4637880"/>
            <a:ext cx="6808320" cy="5194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3300" spc="-41" strike="noStrike">
                <a:solidFill>
                  <a:srgbClr val="0e1116"/>
                </a:solidFill>
                <a:latin typeface="Space Grotesk"/>
                <a:ea typeface="Space Grotesk"/>
              </a:rPr>
              <a:t>Knowledge hubs</a:t>
            </a:r>
            <a:endParaRPr b="0" lang="en-AU" sz="3300" spc="-1" strike="noStrike">
              <a:solidFill>
                <a:srgbClr val="000000"/>
              </a:solidFill>
              <a:latin typeface="Arial"/>
            </a:endParaRPr>
          </a:p>
        </p:txBody>
      </p:sp>
      <p:sp>
        <p:nvSpPr>
          <p:cNvPr id="429" name="Text 12"/>
          <p:cNvSpPr/>
          <p:nvPr/>
        </p:nvSpPr>
        <p:spPr>
          <a:xfrm>
            <a:off x="1800360" y="5234040"/>
            <a:ext cx="6808320" cy="937800"/>
          </a:xfrm>
          <a:prstGeom prst="rect">
            <a:avLst/>
          </a:prstGeom>
          <a:noFill/>
          <a:ln w="0">
            <a:noFill/>
          </a:ln>
        </p:spPr>
        <p:style>
          <a:lnRef idx="0"/>
          <a:fillRef idx="0"/>
          <a:effectRef idx="0"/>
          <a:fontRef idx="minor"/>
        </p:style>
        <p:txBody>
          <a:bodyPr lIns="25560" rIns="25560" tIns="25560" bIns="25560" anchor="t">
            <a:normAutofit fontScale="93333" lnSpcReduction="20000"/>
          </a:bodyPr>
          <a:p>
            <a:pPr defTabSz="914400">
              <a:lnSpc>
                <a:spcPct val="150000"/>
              </a:lnSpc>
              <a:tabLst>
                <a:tab algn="l" pos="0"/>
              </a:tabLst>
            </a:pPr>
            <a:r>
              <a:rPr b="0" lang="en-US" sz="1580" spc="-9" strike="noStrike">
                <a:solidFill>
                  <a:srgbClr val="1f2329"/>
                </a:solidFill>
                <a:latin typeface="Inter"/>
                <a:ea typeface="Inter"/>
              </a:rPr>
              <a:t>Hold the reference materials Claude needs to understand your work — specs, notes, research, documents. Claude draws on them across every conversation.</a:t>
            </a:r>
            <a:endParaRPr b="0" lang="en-AU" sz="1580" spc="-1" strike="noStrike">
              <a:solidFill>
                <a:srgbClr val="000000"/>
              </a:solidFill>
              <a:latin typeface="Arial"/>
            </a:endParaRPr>
          </a:p>
        </p:txBody>
      </p:sp>
      <p:sp>
        <p:nvSpPr>
          <p:cNvPr id="430" name="Text 13"/>
          <p:cNvSpPr/>
          <p:nvPr/>
        </p:nvSpPr>
        <p:spPr>
          <a:xfrm>
            <a:off x="1800360" y="6477120"/>
            <a:ext cx="6808320" cy="45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2100" spc="-1" strike="noStrike">
                <a:solidFill>
                  <a:srgbClr val="1f5240"/>
                </a:solidFill>
                <a:latin typeface="Space Grotesk"/>
                <a:ea typeface="Space Grotesk"/>
              </a:rPr>
              <a:t>= The </a:t>
            </a:r>
            <a:r>
              <a:rPr b="0" i="1" lang="en-US" sz="2100" spc="-1" strike="noStrike">
                <a:solidFill>
                  <a:srgbClr val="1f5240"/>
                </a:solidFill>
                <a:latin typeface="Space Grotesk"/>
                <a:ea typeface="Space Grotesk"/>
              </a:rPr>
              <a:t>what</a:t>
            </a:r>
            <a:endParaRPr b="0" lang="en-AU" sz="2100" spc="-1" strike="noStrike">
              <a:solidFill>
                <a:srgbClr val="000000"/>
              </a:solidFill>
              <a:latin typeface="Arial"/>
            </a:endParaRPr>
          </a:p>
        </p:txBody>
      </p:sp>
      <p:sp>
        <p:nvSpPr>
          <p:cNvPr id="431" name="Shape 14"/>
          <p:cNvSpPr/>
          <p:nvPr/>
        </p:nvSpPr>
        <p:spPr>
          <a:xfrm>
            <a:off x="9296280" y="3544200"/>
            <a:ext cx="7772040" cy="4827240"/>
          </a:xfrm>
          <a:prstGeom prst="roundRect">
            <a:avLst>
              <a:gd name="adj" fmla="val 2762"/>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32" name="Shape 15"/>
          <p:cNvSpPr/>
          <p:nvPr/>
        </p:nvSpPr>
        <p:spPr>
          <a:xfrm>
            <a:off x="9877320" y="4087080"/>
            <a:ext cx="87768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33" name="Text 16"/>
          <p:cNvSpPr/>
          <p:nvPr/>
        </p:nvSpPr>
        <p:spPr>
          <a:xfrm>
            <a:off x="10020240" y="4153680"/>
            <a:ext cx="66816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SKILLS</a:t>
            </a:r>
            <a:endParaRPr b="0" lang="en-AU" sz="1050" spc="-1" strike="noStrike">
              <a:solidFill>
                <a:srgbClr val="000000"/>
              </a:solidFill>
              <a:latin typeface="Arial"/>
            </a:endParaRPr>
          </a:p>
        </p:txBody>
      </p:sp>
      <p:sp>
        <p:nvSpPr>
          <p:cNvPr id="434" name="Text 17"/>
          <p:cNvSpPr/>
          <p:nvPr/>
        </p:nvSpPr>
        <p:spPr>
          <a:xfrm>
            <a:off x="9877320" y="4637880"/>
            <a:ext cx="6808320" cy="5194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3300" spc="-41" strike="noStrike">
                <a:solidFill>
                  <a:srgbClr val="0e1116"/>
                </a:solidFill>
                <a:latin typeface="Space Grotesk"/>
                <a:ea typeface="Space Grotesk"/>
              </a:rPr>
              <a:t>Procedural machines</a:t>
            </a:r>
            <a:endParaRPr b="0" lang="en-AU" sz="3300" spc="-1" strike="noStrike">
              <a:solidFill>
                <a:srgbClr val="000000"/>
              </a:solidFill>
              <a:latin typeface="Arial"/>
            </a:endParaRPr>
          </a:p>
        </p:txBody>
      </p:sp>
      <p:sp>
        <p:nvSpPr>
          <p:cNvPr id="435" name="Text 18"/>
          <p:cNvSpPr/>
          <p:nvPr/>
        </p:nvSpPr>
        <p:spPr>
          <a:xfrm>
            <a:off x="9877320" y="5234040"/>
            <a:ext cx="6808320" cy="6379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0" lang="en-US" sz="1580" spc="-9" strike="noStrike">
                <a:solidFill>
                  <a:srgbClr val="1f2329"/>
                </a:solidFill>
                <a:latin typeface="Inter"/>
                <a:ea typeface="Inter"/>
              </a:rPr>
              <a:t>Encode how Claude should execute a task — the specific steps, order of operations and methodology you want run consistently every time.</a:t>
            </a:r>
            <a:endParaRPr b="0" lang="en-AU" sz="1580" spc="-1" strike="noStrike">
              <a:solidFill>
                <a:srgbClr val="000000"/>
              </a:solidFill>
              <a:latin typeface="Arial"/>
            </a:endParaRPr>
          </a:p>
        </p:txBody>
      </p:sp>
      <p:sp>
        <p:nvSpPr>
          <p:cNvPr id="436" name="Text 19"/>
          <p:cNvSpPr/>
          <p:nvPr/>
        </p:nvSpPr>
        <p:spPr>
          <a:xfrm>
            <a:off x="9877320" y="6176880"/>
            <a:ext cx="6808320" cy="45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2100" spc="-1" strike="noStrike">
                <a:solidFill>
                  <a:srgbClr val="e36a2c"/>
                </a:solidFill>
                <a:latin typeface="Space Grotesk"/>
                <a:ea typeface="Space Grotesk"/>
              </a:rPr>
              <a:t>= The </a:t>
            </a:r>
            <a:r>
              <a:rPr b="0" i="1" lang="en-US" sz="2100" spc="-1" strike="noStrike">
                <a:solidFill>
                  <a:srgbClr val="e36a2c"/>
                </a:solidFill>
                <a:latin typeface="Space Grotesk"/>
                <a:ea typeface="Space Grotesk"/>
              </a:rPr>
              <a:t>how</a:t>
            </a:r>
            <a:endParaRPr b="0" lang="en-AU" sz="2100" spc="-1" strike="noStrike">
              <a:solidFill>
                <a:srgbClr val="000000"/>
              </a:solidFill>
              <a:latin typeface="Arial"/>
            </a:endParaRPr>
          </a:p>
        </p:txBody>
      </p:sp>
      <p:sp>
        <p:nvSpPr>
          <p:cNvPr id="437" name="Text 20"/>
          <p:cNvSpPr/>
          <p:nvPr/>
        </p:nvSpPr>
        <p:spPr>
          <a:xfrm>
            <a:off x="4238640" y="8752680"/>
            <a:ext cx="9810360" cy="657720"/>
          </a:xfrm>
          <a:prstGeom prst="rect">
            <a:avLst/>
          </a:prstGeom>
          <a:noFill/>
          <a:ln w="0">
            <a:noFill/>
          </a:ln>
        </p:spPr>
        <p:style>
          <a:lnRef idx="0"/>
          <a:fillRef idx="0"/>
          <a:effectRef idx="0"/>
          <a:fontRef idx="minor"/>
        </p:style>
        <p:txBody>
          <a:bodyPr lIns="25560" rIns="25560" tIns="25560" bIns="25560" anchor="t">
            <a:normAutofit fontScale="81111"/>
          </a:bodyPr>
          <a:p>
            <a:pPr algn="ctr" defTabSz="914400">
              <a:lnSpc>
                <a:spcPct val="155000"/>
              </a:lnSpc>
              <a:tabLst>
                <a:tab algn="l" pos="0"/>
              </a:tabLst>
            </a:pPr>
            <a:r>
              <a:rPr b="0" lang="en-US" sz="1580" spc="-1" strike="noStrike">
                <a:solidFill>
                  <a:srgbClr val="1f2329"/>
                </a:solidFill>
                <a:latin typeface="Inter"/>
                <a:ea typeface="Inter"/>
              </a:rPr>
              <a:t>A skill </a:t>
            </a:r>
            <a:r>
              <a:rPr b="0" i="1" lang="en-US" sz="1580" spc="-1" strike="noStrike">
                <a:solidFill>
                  <a:srgbClr val="1f2329"/>
                </a:solidFill>
                <a:latin typeface="Inter"/>
                <a:ea typeface="Inter"/>
              </a:rPr>
              <a:t>can </a:t>
            </a:r>
            <a:r>
              <a:rPr b="0" lang="en-US" sz="1580" spc="-1" strike="noStrike">
                <a:solidFill>
                  <a:srgbClr val="1f2329"/>
                </a:solidFill>
                <a:latin typeface="Inter"/>
                <a:ea typeface="Inter"/>
              </a:rPr>
              <a:t>reference knowledge stored in a project — your "customer call prep" skill might pull from customer profiles in a project's knowledge base.</a:t>
            </a:r>
            <a:endParaRPr b="0" lang="en-AU" sz="1580" spc="-1" strike="noStrike">
              <a:solidFill>
                <a:srgbClr val="000000"/>
              </a:solidFill>
              <a:latin typeface="Arial"/>
            </a:endParaRPr>
          </a:p>
        </p:txBody>
      </p:sp>
      <p:sp>
        <p:nvSpPr>
          <p:cNvPr id="438" name="Text 21"/>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17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439" name="Image 0" descr="preencoded.png"/>
          <p:cNvPicPr/>
          <p:nvPr/>
        </p:nvPicPr>
        <p:blipFill>
          <a:blip r:embed="rId1"/>
          <a:stretch/>
        </p:blipFill>
        <p:spPr>
          <a:xfrm>
            <a:off x="1219320" y="468360"/>
            <a:ext cx="304560" cy="304560"/>
          </a:xfrm>
          <a:prstGeom prst="rect">
            <a:avLst/>
          </a:prstGeom>
          <a:ln w="0">
            <a:noFill/>
          </a:ln>
        </p:spPr>
      </p:pic>
      <p:sp>
        <p:nvSpPr>
          <p:cNvPr id="440"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441"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442"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443"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444" name="Text 4"/>
          <p:cNvSpPr/>
          <p:nvPr/>
        </p:nvSpPr>
        <p:spPr>
          <a:xfrm>
            <a:off x="1409760" y="1619280"/>
            <a:ext cx="28922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07 · CONNECTORS</a:t>
            </a:r>
            <a:endParaRPr b="0" lang="en-AU" sz="1350" spc="-1" strike="noStrike">
              <a:solidFill>
                <a:srgbClr val="000000"/>
              </a:solidFill>
              <a:latin typeface="Arial"/>
            </a:endParaRPr>
          </a:p>
        </p:txBody>
      </p:sp>
      <p:sp>
        <p:nvSpPr>
          <p:cNvPr id="445"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From assistant to collaborator.</a:t>
            </a:r>
            <a:endParaRPr b="0" lang="en-AU" sz="7200" spc="-1" strike="noStrike">
              <a:solidFill>
                <a:srgbClr val="000000"/>
              </a:solidFill>
              <a:latin typeface="Arial"/>
            </a:endParaRPr>
          </a:p>
        </p:txBody>
      </p:sp>
      <p:sp>
        <p:nvSpPr>
          <p:cNvPr id="446" name="Text 6"/>
          <p:cNvSpPr/>
          <p:nvPr/>
        </p:nvSpPr>
        <p:spPr>
          <a:xfrm>
            <a:off x="1219320" y="3239280"/>
            <a:ext cx="11772720" cy="13359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2000"/>
              </a:lnSpc>
              <a:tabLst>
                <a:tab algn="l" pos="0"/>
              </a:tabLst>
            </a:pPr>
            <a:r>
              <a:rPr b="0" lang="en-US" sz="2400" spc="-12" strike="noStrike">
                <a:solidFill>
                  <a:srgbClr val="1f2329"/>
                </a:solidFill>
                <a:latin typeface="Inter"/>
                <a:ea typeface="Inter"/>
              </a:rPr>
              <a:t>Connectors give Claude access to the same tools, data and context </a:t>
            </a:r>
            <a:r>
              <a:rPr b="0" i="1" lang="en-US" sz="2400" spc="-12" strike="noStrike">
                <a:solidFill>
                  <a:srgbClr val="1f2329"/>
                </a:solidFill>
                <a:latin typeface="Inter"/>
                <a:ea typeface="Inter"/>
              </a:rPr>
              <a:t>you </a:t>
            </a:r>
            <a:r>
              <a:rPr b="0" lang="en-US" sz="2400" spc="-12" strike="noStrike">
                <a:solidFill>
                  <a:srgbClr val="1f2329"/>
                </a:solidFill>
                <a:latin typeface="Inter"/>
                <a:ea typeface="Inter"/>
              </a:rPr>
              <a:t>use every day. Search files, retrieve documents, analyze data, create content, update records — across your connected apps.</a:t>
            </a:r>
            <a:endParaRPr b="0" lang="en-AU" sz="2400" spc="-1" strike="noStrike">
              <a:solidFill>
                <a:srgbClr val="000000"/>
              </a:solidFill>
              <a:latin typeface="Arial"/>
            </a:endParaRPr>
          </a:p>
        </p:txBody>
      </p:sp>
      <p:sp>
        <p:nvSpPr>
          <p:cNvPr id="447" name="Shape 7"/>
          <p:cNvSpPr/>
          <p:nvPr/>
        </p:nvSpPr>
        <p:spPr>
          <a:xfrm>
            <a:off x="1219320" y="5070960"/>
            <a:ext cx="7772040" cy="3191040"/>
          </a:xfrm>
          <a:prstGeom prst="roundRect">
            <a:avLst>
              <a:gd name="adj" fmla="val 417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48" name="Shape 8"/>
          <p:cNvSpPr/>
          <p:nvPr/>
        </p:nvSpPr>
        <p:spPr>
          <a:xfrm>
            <a:off x="1647720" y="5461560"/>
            <a:ext cx="166680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49" name="Text 9"/>
          <p:cNvSpPr/>
          <p:nvPr/>
        </p:nvSpPr>
        <p:spPr>
          <a:xfrm>
            <a:off x="1790640" y="5528160"/>
            <a:ext cx="14572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WEB CONNECTORS</a:t>
            </a:r>
            <a:endParaRPr b="0" lang="en-AU" sz="1050" spc="-1" strike="noStrike">
              <a:solidFill>
                <a:srgbClr val="000000"/>
              </a:solidFill>
              <a:latin typeface="Arial"/>
            </a:endParaRPr>
          </a:p>
        </p:txBody>
      </p:sp>
      <p:sp>
        <p:nvSpPr>
          <p:cNvPr id="450" name="Text 10"/>
          <p:cNvSpPr/>
          <p:nvPr/>
        </p:nvSpPr>
        <p:spPr>
          <a:xfrm>
            <a:off x="1647720" y="5974200"/>
            <a:ext cx="7122240" cy="3664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2250" spc="-29" strike="noStrike">
                <a:solidFill>
                  <a:srgbClr val="0e1116"/>
                </a:solidFill>
                <a:latin typeface="Space Grotesk"/>
                <a:ea typeface="Space Grotesk"/>
              </a:rPr>
              <a:t>Cloud services</a:t>
            </a:r>
            <a:endParaRPr b="0" lang="en-AU" sz="2250" spc="-1" strike="noStrike">
              <a:solidFill>
                <a:srgbClr val="000000"/>
              </a:solidFill>
              <a:latin typeface="Arial"/>
            </a:endParaRPr>
          </a:p>
        </p:txBody>
      </p:sp>
      <p:sp>
        <p:nvSpPr>
          <p:cNvPr id="451" name="Text 11"/>
          <p:cNvSpPr/>
          <p:nvPr/>
        </p:nvSpPr>
        <p:spPr>
          <a:xfrm>
            <a:off x="1647720" y="6417000"/>
            <a:ext cx="7122240" cy="580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430" spc="-7" strike="noStrike">
                <a:solidFill>
                  <a:srgbClr val="1f2329"/>
                </a:solidFill>
                <a:latin typeface="Inter"/>
                <a:ea typeface="Inter"/>
              </a:rPr>
              <a:t>Google Drive · Notion · Slack · Asana · Stripe · Salesforce. Visit </a:t>
            </a:r>
            <a:r>
              <a:rPr b="1" lang="en-US" sz="1430" spc="-7" strike="noStrike">
                <a:solidFill>
                  <a:srgbClr val="0e1116"/>
                </a:solidFill>
                <a:latin typeface="Inter"/>
                <a:ea typeface="Inter"/>
              </a:rPr>
              <a:t>claude.ai/directory </a:t>
            </a:r>
            <a:r>
              <a:rPr b="0" lang="en-US" sz="1430" spc="-7" strike="noStrike">
                <a:solidFill>
                  <a:srgbClr val="1f2329"/>
                </a:solidFill>
                <a:latin typeface="Inter"/>
                <a:ea typeface="Inter"/>
              </a:rPr>
              <a:t>or click </a:t>
            </a:r>
            <a:r>
              <a:rPr b="1" lang="en-US" sz="1430" spc="-7" strike="noStrike">
                <a:solidFill>
                  <a:srgbClr val="0e1116"/>
                </a:solidFill>
                <a:latin typeface="Inter"/>
                <a:ea typeface="Inter"/>
              </a:rPr>
              <a:t>+ → Connectors </a:t>
            </a:r>
            <a:r>
              <a:rPr b="0" lang="en-US" sz="1430" spc="-7" strike="noStrike">
                <a:solidFill>
                  <a:srgbClr val="1f2329"/>
                </a:solidFill>
                <a:latin typeface="Inter"/>
                <a:ea typeface="Inter"/>
              </a:rPr>
              <a:t>in any chat.</a:t>
            </a:r>
            <a:endParaRPr b="0" lang="en-AU" sz="1430" spc="-1" strike="noStrike">
              <a:solidFill>
                <a:srgbClr val="000000"/>
              </a:solidFill>
              <a:latin typeface="Arial"/>
            </a:endParaRPr>
          </a:p>
        </p:txBody>
      </p:sp>
      <p:sp>
        <p:nvSpPr>
          <p:cNvPr id="452" name="Shape 12"/>
          <p:cNvSpPr/>
          <p:nvPr/>
        </p:nvSpPr>
        <p:spPr>
          <a:xfrm>
            <a:off x="9296280" y="5070960"/>
            <a:ext cx="7772040" cy="3191040"/>
          </a:xfrm>
          <a:prstGeom prst="roundRect">
            <a:avLst>
              <a:gd name="adj" fmla="val 417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53" name="Shape 13"/>
          <p:cNvSpPr/>
          <p:nvPr/>
        </p:nvSpPr>
        <p:spPr>
          <a:xfrm>
            <a:off x="9725040" y="5461560"/>
            <a:ext cx="206172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54" name="Text 14"/>
          <p:cNvSpPr/>
          <p:nvPr/>
        </p:nvSpPr>
        <p:spPr>
          <a:xfrm>
            <a:off x="9867960" y="5528160"/>
            <a:ext cx="185220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DESKTOP EXTENSIONS</a:t>
            </a:r>
            <a:endParaRPr b="0" lang="en-AU" sz="1050" spc="-1" strike="noStrike">
              <a:solidFill>
                <a:srgbClr val="000000"/>
              </a:solidFill>
              <a:latin typeface="Arial"/>
            </a:endParaRPr>
          </a:p>
        </p:txBody>
      </p:sp>
      <p:sp>
        <p:nvSpPr>
          <p:cNvPr id="455" name="Text 15"/>
          <p:cNvSpPr/>
          <p:nvPr/>
        </p:nvSpPr>
        <p:spPr>
          <a:xfrm>
            <a:off x="9725040" y="5974200"/>
            <a:ext cx="7122240" cy="3664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2250" spc="-29" strike="noStrike">
                <a:solidFill>
                  <a:srgbClr val="0e1116"/>
                </a:solidFill>
                <a:latin typeface="Space Grotesk"/>
                <a:ea typeface="Space Grotesk"/>
              </a:rPr>
              <a:t>Local apps &amp; files</a:t>
            </a:r>
            <a:endParaRPr b="0" lang="en-AU" sz="2250" spc="-1" strike="noStrike">
              <a:solidFill>
                <a:srgbClr val="000000"/>
              </a:solidFill>
              <a:latin typeface="Arial"/>
            </a:endParaRPr>
          </a:p>
        </p:txBody>
      </p:sp>
      <p:sp>
        <p:nvSpPr>
          <p:cNvPr id="456" name="Text 16"/>
          <p:cNvSpPr/>
          <p:nvPr/>
        </p:nvSpPr>
        <p:spPr>
          <a:xfrm>
            <a:off x="9725040" y="6417000"/>
            <a:ext cx="7122240" cy="580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0000"/>
              </a:lnSpc>
              <a:tabLst>
                <a:tab algn="l" pos="0"/>
              </a:tabLst>
            </a:pPr>
            <a:r>
              <a:rPr b="0" lang="en-US" sz="1430" spc="-7" strike="noStrike">
                <a:solidFill>
                  <a:srgbClr val="1f2329"/>
                </a:solidFill>
                <a:latin typeface="Inter"/>
                <a:ea typeface="Inter"/>
              </a:rPr>
              <a:t>Run locally through Claude Desktop. Local file access, browser control, native app integration (e.g. Figma for design work).</a:t>
            </a:r>
            <a:endParaRPr b="0" lang="en-AU" sz="1430" spc="-1" strike="noStrike">
              <a:solidFill>
                <a:srgbClr val="000000"/>
              </a:solidFill>
              <a:latin typeface="Arial"/>
            </a:endParaRPr>
          </a:p>
        </p:txBody>
      </p:sp>
      <p:sp>
        <p:nvSpPr>
          <p:cNvPr id="457" name="Shape 17"/>
          <p:cNvSpPr/>
          <p:nvPr/>
        </p:nvSpPr>
        <p:spPr>
          <a:xfrm>
            <a:off x="1219320" y="8605440"/>
            <a:ext cx="15849360" cy="766800"/>
          </a:xfrm>
          <a:prstGeom prst="roundRect">
            <a:avLst>
              <a:gd name="adj" fmla="val 4966"/>
            </a:avLst>
          </a:prstGeom>
          <a:solidFill>
            <a:srgbClr val="1f2329">
              <a:alpha val="4000"/>
            </a:srgbClr>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458" name="Shape 18"/>
          <p:cNvSpPr/>
          <p:nvPr/>
        </p:nvSpPr>
        <p:spPr>
          <a:xfrm>
            <a:off x="1219320" y="8605440"/>
            <a:ext cx="28080" cy="766800"/>
          </a:xfrm>
          <a:prstGeom prst="rect">
            <a:avLst/>
          </a:prstGeom>
          <a:solidFill>
            <a:srgbClr val="e36a2c"/>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459" name="Text 19"/>
          <p:cNvSpPr/>
          <p:nvPr/>
        </p:nvSpPr>
        <p:spPr>
          <a:xfrm>
            <a:off x="1590840" y="8834040"/>
            <a:ext cx="1558908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050" spc="-1" strike="noStrike">
                <a:solidFill>
                  <a:srgbClr val="0e1116"/>
                </a:solidFill>
                <a:latin typeface="JetBrains Mono"/>
                <a:ea typeface="JetBrains Mono"/>
              </a:rPr>
              <a:t>MCP —</a:t>
            </a:r>
            <a:r>
              <a:rPr b="0" lang="en-US" sz="1580" spc="-1" strike="noStrike">
                <a:solidFill>
                  <a:srgbClr val="1f2329"/>
                </a:solidFill>
                <a:latin typeface="Inter"/>
                <a:ea typeface="Inter"/>
              </a:rPr>
              <a:t>the Model Context Protocol — is "USB-C for AI": one standard, any tool. That's why the connector library keeps growing.</a:t>
            </a:r>
            <a:endParaRPr b="0" lang="en-AU" sz="1580" spc="-1" strike="noStrike">
              <a:solidFill>
                <a:srgbClr val="000000"/>
              </a:solidFill>
              <a:latin typeface="Arial"/>
            </a:endParaRPr>
          </a:p>
        </p:txBody>
      </p:sp>
      <p:sp>
        <p:nvSpPr>
          <p:cNvPr id="460" name="Text 20"/>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18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461" name="Image 0" descr="preencoded.png"/>
          <p:cNvPicPr/>
          <p:nvPr/>
        </p:nvPicPr>
        <p:blipFill>
          <a:blip r:embed="rId1"/>
          <a:stretch/>
        </p:blipFill>
        <p:spPr>
          <a:xfrm>
            <a:off x="1219320" y="468360"/>
            <a:ext cx="304560" cy="304560"/>
          </a:xfrm>
          <a:prstGeom prst="rect">
            <a:avLst/>
          </a:prstGeom>
          <a:ln w="0">
            <a:noFill/>
          </a:ln>
        </p:spPr>
      </p:pic>
      <p:sp>
        <p:nvSpPr>
          <p:cNvPr id="462"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463"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464"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465"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466" name="Text 4"/>
          <p:cNvSpPr/>
          <p:nvPr/>
        </p:nvSpPr>
        <p:spPr>
          <a:xfrm>
            <a:off x="1409760" y="1619280"/>
            <a:ext cx="33055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CONNECTORS · IN PRACTICE</a:t>
            </a:r>
            <a:endParaRPr b="0" lang="en-AU" sz="1350" spc="-1" strike="noStrike">
              <a:solidFill>
                <a:srgbClr val="000000"/>
              </a:solidFill>
              <a:latin typeface="Arial"/>
            </a:endParaRPr>
          </a:p>
        </p:txBody>
      </p:sp>
      <p:sp>
        <p:nvSpPr>
          <p:cNvPr id="467"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What you can ask.</a:t>
            </a:r>
            <a:endParaRPr b="0" lang="en-AU" sz="7200" spc="-1" strike="noStrike">
              <a:solidFill>
                <a:srgbClr val="000000"/>
              </a:solidFill>
              <a:latin typeface="Arial"/>
            </a:endParaRPr>
          </a:p>
        </p:txBody>
      </p:sp>
      <p:sp>
        <p:nvSpPr>
          <p:cNvPr id="468" name="Shape 6"/>
          <p:cNvSpPr/>
          <p:nvPr/>
        </p:nvSpPr>
        <p:spPr>
          <a:xfrm>
            <a:off x="1219320" y="3544200"/>
            <a:ext cx="3790440" cy="5182200"/>
          </a:xfrm>
          <a:prstGeom prst="roundRect">
            <a:avLst>
              <a:gd name="adj" fmla="val 351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69" name="Shape 7"/>
          <p:cNvSpPr/>
          <p:nvPr/>
        </p:nvSpPr>
        <p:spPr>
          <a:xfrm>
            <a:off x="1533600" y="3858480"/>
            <a:ext cx="107496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70" name="Text 8"/>
          <p:cNvSpPr/>
          <p:nvPr/>
        </p:nvSpPr>
        <p:spPr>
          <a:xfrm>
            <a:off x="1676520" y="3925080"/>
            <a:ext cx="86544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PM TOOLS</a:t>
            </a:r>
            <a:endParaRPr b="0" lang="en-AU" sz="1050" spc="-1" strike="noStrike">
              <a:solidFill>
                <a:srgbClr val="000000"/>
              </a:solidFill>
              <a:latin typeface="Arial"/>
            </a:endParaRPr>
          </a:p>
        </p:txBody>
      </p:sp>
      <p:sp>
        <p:nvSpPr>
          <p:cNvPr id="471" name="Text 9"/>
          <p:cNvSpPr/>
          <p:nvPr/>
        </p:nvSpPr>
        <p:spPr>
          <a:xfrm>
            <a:off x="1533600" y="4352040"/>
            <a:ext cx="3256920" cy="2786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15000"/>
              </a:lnSpc>
              <a:tabLst>
                <a:tab algn="l" pos="0"/>
              </a:tabLst>
            </a:pPr>
            <a:r>
              <a:rPr b="1" lang="en-US" sz="1650" spc="-21" strike="noStrike">
                <a:solidFill>
                  <a:srgbClr val="0e1116"/>
                </a:solidFill>
                <a:latin typeface="Space Grotesk"/>
                <a:ea typeface="Space Grotesk"/>
              </a:rPr>
              <a:t>Asana · Linear · Jira</a:t>
            </a:r>
            <a:endParaRPr b="0" lang="en-AU" sz="1650" spc="-1" strike="noStrike">
              <a:solidFill>
                <a:srgbClr val="000000"/>
              </a:solidFill>
              <a:latin typeface="Arial"/>
            </a:endParaRPr>
          </a:p>
        </p:txBody>
      </p:sp>
      <p:sp>
        <p:nvSpPr>
          <p:cNvPr id="472" name="Text 10"/>
          <p:cNvSpPr/>
          <p:nvPr/>
        </p:nvSpPr>
        <p:spPr>
          <a:xfrm>
            <a:off x="1413360" y="4764600"/>
            <a:ext cx="3358080" cy="116640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350" spc="-1" strike="noStrike">
                <a:solidFill>
                  <a:srgbClr val="1f2329"/>
                </a:solidFill>
                <a:latin typeface="Inter"/>
                <a:ea typeface="Inter"/>
              </a:rPr>
              <a:t>"Highest-priority tasks due this week?"</a:t>
            </a:r>
            <a:endParaRPr b="0" lang="en-AU" sz="1350" spc="-1" strike="noStrike">
              <a:solidFill>
                <a:srgbClr val="000000"/>
              </a:solidFill>
              <a:latin typeface="Arial"/>
            </a:endParaRPr>
          </a:p>
          <a:p>
            <a:pPr defTabSz="914400">
              <a:lnSpc>
                <a:spcPct val="148000"/>
              </a:lnSpc>
              <a:tabLst>
                <a:tab algn="l" pos="0"/>
              </a:tabLst>
            </a:pPr>
            <a:r>
              <a:rPr b="0" lang="en-US" sz="1350" spc="-1" strike="noStrike">
                <a:solidFill>
                  <a:srgbClr val="1f2329"/>
                </a:solidFill>
                <a:latin typeface="Inter"/>
                <a:ea typeface="Inter"/>
              </a:rPr>
              <a:t>"Create a task for the Q4 budget review."</a:t>
            </a:r>
            <a:endParaRPr b="0" lang="en-AU" sz="1350" spc="-1" strike="noStrike">
              <a:solidFill>
                <a:srgbClr val="000000"/>
              </a:solidFill>
              <a:latin typeface="Arial"/>
            </a:endParaRPr>
          </a:p>
        </p:txBody>
      </p:sp>
      <p:sp>
        <p:nvSpPr>
          <p:cNvPr id="473" name="Shape 11"/>
          <p:cNvSpPr/>
          <p:nvPr/>
        </p:nvSpPr>
        <p:spPr>
          <a:xfrm>
            <a:off x="5238720" y="3544200"/>
            <a:ext cx="3790440" cy="5182200"/>
          </a:xfrm>
          <a:prstGeom prst="roundRect">
            <a:avLst>
              <a:gd name="adj" fmla="val 351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74" name="Shape 12"/>
          <p:cNvSpPr/>
          <p:nvPr/>
        </p:nvSpPr>
        <p:spPr>
          <a:xfrm>
            <a:off x="5553000" y="3858480"/>
            <a:ext cx="77904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75" name="Text 13"/>
          <p:cNvSpPr/>
          <p:nvPr/>
        </p:nvSpPr>
        <p:spPr>
          <a:xfrm>
            <a:off x="5695920" y="3925080"/>
            <a:ext cx="56952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COMMS</a:t>
            </a:r>
            <a:endParaRPr b="0" lang="en-AU" sz="1050" spc="-1" strike="noStrike">
              <a:solidFill>
                <a:srgbClr val="000000"/>
              </a:solidFill>
              <a:latin typeface="Arial"/>
            </a:endParaRPr>
          </a:p>
        </p:txBody>
      </p:sp>
      <p:sp>
        <p:nvSpPr>
          <p:cNvPr id="476" name="Text 14"/>
          <p:cNvSpPr/>
          <p:nvPr/>
        </p:nvSpPr>
        <p:spPr>
          <a:xfrm>
            <a:off x="5553000" y="4352040"/>
            <a:ext cx="3256920" cy="2786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15000"/>
              </a:lnSpc>
              <a:tabLst>
                <a:tab algn="l" pos="0"/>
              </a:tabLst>
            </a:pPr>
            <a:r>
              <a:rPr b="1" lang="en-US" sz="1650" spc="-21" strike="noStrike">
                <a:solidFill>
                  <a:srgbClr val="0e1116"/>
                </a:solidFill>
                <a:latin typeface="Space Grotesk"/>
                <a:ea typeface="Space Grotesk"/>
              </a:rPr>
              <a:t>Slack · Gmail</a:t>
            </a:r>
            <a:endParaRPr b="0" lang="en-AU" sz="1650" spc="-1" strike="noStrike">
              <a:solidFill>
                <a:srgbClr val="000000"/>
              </a:solidFill>
              <a:latin typeface="Arial"/>
            </a:endParaRPr>
          </a:p>
        </p:txBody>
      </p:sp>
      <p:sp>
        <p:nvSpPr>
          <p:cNvPr id="477" name="Text 15"/>
          <p:cNvSpPr/>
          <p:nvPr/>
        </p:nvSpPr>
        <p:spPr>
          <a:xfrm>
            <a:off x="5433120" y="4764600"/>
            <a:ext cx="3358080" cy="116640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350" spc="-1" strike="noStrike">
                <a:solidFill>
                  <a:srgbClr val="1f2329"/>
                </a:solidFill>
                <a:latin typeface="Inter"/>
                <a:ea typeface="Inter"/>
              </a:rPr>
              <a:t>"Find the thread on the vendor contract."</a:t>
            </a:r>
            <a:endParaRPr b="0" lang="en-AU" sz="1350" spc="-1" strike="noStrike">
              <a:solidFill>
                <a:srgbClr val="000000"/>
              </a:solidFill>
              <a:latin typeface="Arial"/>
            </a:endParaRPr>
          </a:p>
          <a:p>
            <a:pPr defTabSz="914400">
              <a:lnSpc>
                <a:spcPct val="148000"/>
              </a:lnSpc>
              <a:tabLst>
                <a:tab algn="l" pos="0"/>
              </a:tabLst>
            </a:pPr>
            <a:r>
              <a:rPr b="0" lang="en-US" sz="1350" spc="-1" strike="noStrike">
                <a:solidFill>
                  <a:srgbClr val="1f2329"/>
                </a:solidFill>
                <a:latin typeface="Inter"/>
                <a:ea typeface="Inter"/>
              </a:rPr>
              <a:t>"Draft a reply to yesterday's #marketing message."</a:t>
            </a:r>
            <a:endParaRPr b="0" lang="en-AU" sz="1350" spc="-1" strike="noStrike">
              <a:solidFill>
                <a:srgbClr val="000000"/>
              </a:solidFill>
              <a:latin typeface="Arial"/>
            </a:endParaRPr>
          </a:p>
        </p:txBody>
      </p:sp>
      <p:sp>
        <p:nvSpPr>
          <p:cNvPr id="478" name="Shape 16"/>
          <p:cNvSpPr/>
          <p:nvPr/>
        </p:nvSpPr>
        <p:spPr>
          <a:xfrm>
            <a:off x="9258480" y="3544200"/>
            <a:ext cx="3790440" cy="5182200"/>
          </a:xfrm>
          <a:prstGeom prst="roundRect">
            <a:avLst>
              <a:gd name="adj" fmla="val 351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79" name="Shape 17"/>
          <p:cNvSpPr/>
          <p:nvPr/>
        </p:nvSpPr>
        <p:spPr>
          <a:xfrm>
            <a:off x="9572760" y="3858480"/>
            <a:ext cx="68040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80" name="Text 18"/>
          <p:cNvSpPr/>
          <p:nvPr/>
        </p:nvSpPr>
        <p:spPr>
          <a:xfrm>
            <a:off x="9715680" y="3925080"/>
            <a:ext cx="47052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DOCS</a:t>
            </a:r>
            <a:endParaRPr b="0" lang="en-AU" sz="1050" spc="-1" strike="noStrike">
              <a:solidFill>
                <a:srgbClr val="000000"/>
              </a:solidFill>
              <a:latin typeface="Arial"/>
            </a:endParaRPr>
          </a:p>
        </p:txBody>
      </p:sp>
      <p:sp>
        <p:nvSpPr>
          <p:cNvPr id="481" name="Text 19"/>
          <p:cNvSpPr/>
          <p:nvPr/>
        </p:nvSpPr>
        <p:spPr>
          <a:xfrm>
            <a:off x="9572760" y="4352040"/>
            <a:ext cx="3256920" cy="2786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15000"/>
              </a:lnSpc>
              <a:tabLst>
                <a:tab algn="l" pos="0"/>
              </a:tabLst>
            </a:pPr>
            <a:r>
              <a:rPr b="1" lang="en-US" sz="1650" spc="-21" strike="noStrike">
                <a:solidFill>
                  <a:srgbClr val="0e1116"/>
                </a:solidFill>
                <a:latin typeface="Space Grotesk"/>
                <a:ea typeface="Space Grotesk"/>
              </a:rPr>
              <a:t>Notion · Drive · Confluence</a:t>
            </a:r>
            <a:endParaRPr b="0" lang="en-AU" sz="1650" spc="-1" strike="noStrike">
              <a:solidFill>
                <a:srgbClr val="000000"/>
              </a:solidFill>
              <a:latin typeface="Arial"/>
            </a:endParaRPr>
          </a:p>
        </p:txBody>
      </p:sp>
      <p:sp>
        <p:nvSpPr>
          <p:cNvPr id="482" name="Text 20"/>
          <p:cNvSpPr/>
          <p:nvPr/>
        </p:nvSpPr>
        <p:spPr>
          <a:xfrm>
            <a:off x="9452520" y="4764600"/>
            <a:ext cx="3358080" cy="116640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350" spc="-1" strike="noStrike">
                <a:solidFill>
                  <a:srgbClr val="1f2329"/>
                </a:solidFill>
                <a:latin typeface="Inter"/>
                <a:ea typeface="Inter"/>
              </a:rPr>
              <a:t>"Search docs for our brand voice guide."</a:t>
            </a:r>
            <a:endParaRPr b="0" lang="en-AU" sz="1350" spc="-1" strike="noStrike">
              <a:solidFill>
                <a:srgbClr val="000000"/>
              </a:solidFill>
              <a:latin typeface="Arial"/>
            </a:endParaRPr>
          </a:p>
          <a:p>
            <a:pPr defTabSz="914400">
              <a:lnSpc>
                <a:spcPct val="148000"/>
              </a:lnSpc>
              <a:tabLst>
                <a:tab algn="l" pos="0"/>
              </a:tabLst>
            </a:pPr>
            <a:r>
              <a:rPr b="0" lang="en-US" sz="1350" spc="-1" strike="noStrike">
                <a:solidFill>
                  <a:srgbClr val="1f2329"/>
                </a:solidFill>
                <a:latin typeface="Inter"/>
                <a:ea typeface="Inter"/>
              </a:rPr>
              <a:t>"Summarize last week's product review notes."</a:t>
            </a:r>
            <a:endParaRPr b="0" lang="en-AU" sz="1350" spc="-1" strike="noStrike">
              <a:solidFill>
                <a:srgbClr val="000000"/>
              </a:solidFill>
              <a:latin typeface="Arial"/>
            </a:endParaRPr>
          </a:p>
        </p:txBody>
      </p:sp>
      <p:sp>
        <p:nvSpPr>
          <p:cNvPr id="483" name="Shape 21"/>
          <p:cNvSpPr/>
          <p:nvPr/>
        </p:nvSpPr>
        <p:spPr>
          <a:xfrm>
            <a:off x="13277880" y="3544200"/>
            <a:ext cx="3790440" cy="5182200"/>
          </a:xfrm>
          <a:prstGeom prst="roundRect">
            <a:avLst>
              <a:gd name="adj" fmla="val 351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84" name="Shape 22"/>
          <p:cNvSpPr/>
          <p:nvPr/>
        </p:nvSpPr>
        <p:spPr>
          <a:xfrm>
            <a:off x="13592160" y="3858480"/>
            <a:ext cx="107496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85" name="Text 23"/>
          <p:cNvSpPr/>
          <p:nvPr/>
        </p:nvSpPr>
        <p:spPr>
          <a:xfrm>
            <a:off x="13735080" y="3925080"/>
            <a:ext cx="86544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BUSINESS</a:t>
            </a:r>
            <a:endParaRPr b="0" lang="en-AU" sz="1050" spc="-1" strike="noStrike">
              <a:solidFill>
                <a:srgbClr val="000000"/>
              </a:solidFill>
              <a:latin typeface="Arial"/>
            </a:endParaRPr>
          </a:p>
        </p:txBody>
      </p:sp>
      <p:sp>
        <p:nvSpPr>
          <p:cNvPr id="486" name="Text 24"/>
          <p:cNvSpPr/>
          <p:nvPr/>
        </p:nvSpPr>
        <p:spPr>
          <a:xfrm>
            <a:off x="13592160" y="4352040"/>
            <a:ext cx="3256920" cy="2786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15000"/>
              </a:lnSpc>
              <a:tabLst>
                <a:tab algn="l" pos="0"/>
              </a:tabLst>
            </a:pPr>
            <a:r>
              <a:rPr b="1" lang="en-US" sz="1650" spc="-21" strike="noStrike">
                <a:solidFill>
                  <a:srgbClr val="0e1116"/>
                </a:solidFill>
                <a:latin typeface="Space Grotesk"/>
                <a:ea typeface="Space Grotesk"/>
              </a:rPr>
              <a:t>Stripe · Salesforce</a:t>
            </a:r>
            <a:endParaRPr b="0" lang="en-AU" sz="1650" spc="-1" strike="noStrike">
              <a:solidFill>
                <a:srgbClr val="000000"/>
              </a:solidFill>
              <a:latin typeface="Arial"/>
            </a:endParaRPr>
          </a:p>
        </p:txBody>
      </p:sp>
      <p:sp>
        <p:nvSpPr>
          <p:cNvPr id="487" name="Text 25"/>
          <p:cNvSpPr/>
          <p:nvPr/>
        </p:nvSpPr>
        <p:spPr>
          <a:xfrm>
            <a:off x="13472280" y="4764600"/>
            <a:ext cx="3358080" cy="116640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350" spc="-1" strike="noStrike">
                <a:solidFill>
                  <a:srgbClr val="1f2329"/>
                </a:solidFill>
                <a:latin typeface="Inter"/>
                <a:ea typeface="Inter"/>
              </a:rPr>
              <a:t>"Revenue trends for the past quarter?"</a:t>
            </a:r>
            <a:endParaRPr b="0" lang="en-AU" sz="1350" spc="-1" strike="noStrike">
              <a:solidFill>
                <a:srgbClr val="000000"/>
              </a:solidFill>
              <a:latin typeface="Arial"/>
            </a:endParaRPr>
          </a:p>
          <a:p>
            <a:pPr defTabSz="914400">
              <a:lnSpc>
                <a:spcPct val="148000"/>
              </a:lnSpc>
              <a:tabLst>
                <a:tab algn="l" pos="0"/>
              </a:tabLst>
            </a:pPr>
            <a:r>
              <a:rPr b="0" lang="en-US" sz="1350" spc="-1" strike="noStrike">
                <a:solidFill>
                  <a:srgbClr val="1f2329"/>
                </a:solidFill>
                <a:latin typeface="Inter"/>
                <a:ea typeface="Inter"/>
              </a:rPr>
              <a:t>"Status of the Acme Corp opportunity?"</a:t>
            </a:r>
            <a:endParaRPr b="0" lang="en-AU" sz="1350" spc="-1" strike="noStrike">
              <a:solidFill>
                <a:srgbClr val="000000"/>
              </a:solidFill>
              <a:latin typeface="Arial"/>
            </a:endParaRPr>
          </a:p>
        </p:txBody>
      </p:sp>
      <p:sp>
        <p:nvSpPr>
          <p:cNvPr id="488" name="Shape 26"/>
          <p:cNvSpPr/>
          <p:nvPr/>
        </p:nvSpPr>
        <p:spPr>
          <a:xfrm>
            <a:off x="1219320" y="9031320"/>
            <a:ext cx="107496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489" name="Text 27"/>
          <p:cNvSpPr/>
          <p:nvPr/>
        </p:nvSpPr>
        <p:spPr>
          <a:xfrm>
            <a:off x="1362240" y="9097920"/>
            <a:ext cx="86544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SECURITY</a:t>
            </a:r>
            <a:endParaRPr b="0" lang="en-AU" sz="1050" spc="-1" strike="noStrike">
              <a:solidFill>
                <a:srgbClr val="000000"/>
              </a:solidFill>
              <a:latin typeface="Arial"/>
            </a:endParaRPr>
          </a:p>
        </p:txBody>
      </p:sp>
      <p:sp>
        <p:nvSpPr>
          <p:cNvPr id="490" name="Text 28"/>
          <p:cNvSpPr/>
          <p:nvPr/>
        </p:nvSpPr>
        <p:spPr>
          <a:xfrm>
            <a:off x="2523240" y="9046800"/>
            <a:ext cx="908532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580" spc="-1" strike="noStrike">
                <a:solidFill>
                  <a:srgbClr val="0e1116"/>
                </a:solidFill>
                <a:latin typeface="Inter"/>
                <a:ea typeface="Inter"/>
              </a:rPr>
              <a:t>Claude sees what you see. </a:t>
            </a:r>
            <a:r>
              <a:rPr b="0" lang="en-US" sz="1580" spc="-1" strike="noStrike">
                <a:solidFill>
                  <a:srgbClr val="1f2329"/>
                </a:solidFill>
                <a:latin typeface="Inter"/>
                <a:ea typeface="Inter"/>
              </a:rPr>
              <a:t>Scoped access · revocable anytime · permissions toggle per app.</a:t>
            </a:r>
            <a:endParaRPr b="0" lang="en-AU" sz="1580" spc="-1" strike="noStrike">
              <a:solidFill>
                <a:srgbClr val="000000"/>
              </a:solidFill>
              <a:latin typeface="Arial"/>
            </a:endParaRPr>
          </a:p>
        </p:txBody>
      </p:sp>
      <p:sp>
        <p:nvSpPr>
          <p:cNvPr id="491" name="Text 29"/>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19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492" name="Image 0" descr="preencoded.png"/>
          <p:cNvPicPr/>
          <p:nvPr/>
        </p:nvPicPr>
        <p:blipFill>
          <a:blip r:embed="rId1"/>
          <a:stretch/>
        </p:blipFill>
        <p:spPr>
          <a:xfrm>
            <a:off x="1219320" y="468360"/>
            <a:ext cx="304560" cy="304560"/>
          </a:xfrm>
          <a:prstGeom prst="rect">
            <a:avLst/>
          </a:prstGeom>
          <a:ln w="0">
            <a:noFill/>
          </a:ln>
        </p:spPr>
      </p:pic>
      <p:sp>
        <p:nvSpPr>
          <p:cNvPr id="493"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494"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495"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496"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497" name="Text 4"/>
          <p:cNvSpPr/>
          <p:nvPr/>
        </p:nvSpPr>
        <p:spPr>
          <a:xfrm>
            <a:off x="1409760" y="1619280"/>
            <a:ext cx="38563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08 · ENTERPRISE SEARCH</a:t>
            </a:r>
            <a:endParaRPr b="0" lang="en-AU" sz="1350" spc="-1" strike="noStrike">
              <a:solidFill>
                <a:srgbClr val="000000"/>
              </a:solidFill>
              <a:latin typeface="Arial"/>
            </a:endParaRPr>
          </a:p>
        </p:txBody>
      </p:sp>
      <p:sp>
        <p:nvSpPr>
          <p:cNvPr id="498"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"Ask </a:t>
            </a:r>
            <a:r>
              <a:rPr b="0" lang="en-US" sz="7200" spc="-145" strike="noStrike">
                <a:solidFill>
                  <a:srgbClr val="e36a2c"/>
                </a:solidFill>
                <a:latin typeface="Space Grotesk"/>
                <a:ea typeface="Space Grotesk"/>
              </a:rPr>
              <a:t>{Your Org}</a:t>
            </a:r>
            <a:r>
              <a:rPr b="0" lang="en-US" sz="7200" spc="-145" strike="noStrike">
                <a:solidFill>
                  <a:srgbClr val="0e1116"/>
                </a:solidFill>
                <a:latin typeface="Space Grotesk"/>
                <a:ea typeface="Space Grotesk"/>
              </a:rPr>
              <a:t>" in your sidebar.</a:t>
            </a:r>
            <a:endParaRPr b="0" lang="en-AU" sz="7200" spc="-1" strike="noStrike">
              <a:solidFill>
                <a:srgbClr val="000000"/>
              </a:solidFill>
              <a:latin typeface="Arial"/>
            </a:endParaRPr>
          </a:p>
        </p:txBody>
      </p:sp>
      <p:sp>
        <p:nvSpPr>
          <p:cNvPr id="499" name="Text 6"/>
          <p:cNvSpPr/>
          <p:nvPr/>
        </p:nvSpPr>
        <p:spPr>
          <a:xfrm>
            <a:off x="1219320" y="3239280"/>
            <a:ext cx="11772720" cy="1335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42000"/>
              </a:lnSpc>
              <a:tabLst>
                <a:tab algn="l" pos="0"/>
              </a:tabLst>
            </a:pPr>
            <a:r>
              <a:rPr b="0" lang="en-US" sz="2400" spc="-12" strike="noStrike">
                <a:solidFill>
                  <a:srgbClr val="1f2329"/>
                </a:solidFill>
                <a:latin typeface="Inter"/>
                <a:ea typeface="Inter"/>
              </a:rPr>
              <a:t>A dedicated entry point for finding and synthesizing knowledge buried across your company's tools. Think of it as a pre-built Project for the </a:t>
            </a:r>
            <a:r>
              <a:rPr b="0" i="1" lang="en-US" sz="2400" spc="-12" strike="noStrike">
                <a:solidFill>
                  <a:srgbClr val="1f2329"/>
                </a:solidFill>
                <a:latin typeface="Inter"/>
                <a:ea typeface="Inter"/>
              </a:rPr>
              <a:t>entire </a:t>
            </a:r>
            <a:r>
              <a:rPr b="0" lang="en-US" sz="2400" spc="-12" strike="noStrike">
                <a:solidFill>
                  <a:srgbClr val="1f2329"/>
                </a:solidFill>
                <a:latin typeface="Inter"/>
                <a:ea typeface="Inter"/>
              </a:rPr>
              <a:t>organization.</a:t>
            </a:r>
            <a:endParaRPr b="0" lang="en-AU" sz="2400" spc="-1" strike="noStrike">
              <a:solidFill>
                <a:srgbClr val="000000"/>
              </a:solidFill>
              <a:latin typeface="Arial"/>
            </a:endParaRPr>
          </a:p>
        </p:txBody>
      </p:sp>
      <p:sp>
        <p:nvSpPr>
          <p:cNvPr id="500" name="Shape 7"/>
          <p:cNvSpPr/>
          <p:nvPr/>
        </p:nvSpPr>
        <p:spPr>
          <a:xfrm>
            <a:off x="1219320" y="5070960"/>
            <a:ext cx="5105160" cy="3033360"/>
          </a:xfrm>
          <a:prstGeom prst="roundRect">
            <a:avLst>
              <a:gd name="adj" fmla="val 4395"/>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01" name="Text 8"/>
          <p:cNvSpPr/>
          <p:nvPr/>
        </p:nvSpPr>
        <p:spPr>
          <a:xfrm>
            <a:off x="1609560" y="5423400"/>
            <a:ext cx="445356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01</a:t>
            </a:r>
            <a:endParaRPr b="0" lang="en-AU" sz="2100" spc="-1" strike="noStrike">
              <a:solidFill>
                <a:srgbClr val="000000"/>
              </a:solidFill>
              <a:latin typeface="Arial"/>
            </a:endParaRPr>
          </a:p>
        </p:txBody>
      </p:sp>
      <p:sp>
        <p:nvSpPr>
          <p:cNvPr id="502" name="Text 9"/>
          <p:cNvSpPr/>
          <p:nvPr/>
        </p:nvSpPr>
        <p:spPr>
          <a:xfrm>
            <a:off x="1609560" y="5823360"/>
            <a:ext cx="445356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Getting up to speed</a:t>
            </a:r>
            <a:endParaRPr b="0" lang="en-AU" sz="1800" spc="-1" strike="noStrike">
              <a:solidFill>
                <a:srgbClr val="000000"/>
              </a:solidFill>
              <a:latin typeface="Arial"/>
            </a:endParaRPr>
          </a:p>
        </p:txBody>
      </p:sp>
      <p:sp>
        <p:nvSpPr>
          <p:cNvPr id="503" name="Text 10"/>
          <p:cNvSpPr/>
          <p:nvPr/>
        </p:nvSpPr>
        <p:spPr>
          <a:xfrm>
            <a:off x="1496520" y="6200640"/>
            <a:ext cx="4513680" cy="94716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280" spc="-1" strike="noStrike">
                <a:solidFill>
                  <a:srgbClr val="1f2329"/>
                </a:solidFill>
                <a:latin typeface="Inter"/>
                <a:ea typeface="Inter"/>
              </a:rPr>
              <a:t>"What happened yesterday while I was out?"</a:t>
            </a:r>
            <a:endParaRPr b="0" lang="en-AU" sz="1280" spc="-1" strike="noStrike">
              <a:solidFill>
                <a:srgbClr val="000000"/>
              </a:solidFill>
              <a:latin typeface="Arial"/>
            </a:endParaRPr>
          </a:p>
          <a:p>
            <a:pPr defTabSz="914400">
              <a:lnSpc>
                <a:spcPct val="148000"/>
              </a:lnSpc>
              <a:tabLst>
                <a:tab algn="l" pos="0"/>
              </a:tabLst>
            </a:pPr>
            <a:r>
              <a:rPr b="0" lang="en-US" sz="1280" spc="-1" strike="noStrike">
                <a:solidFill>
                  <a:srgbClr val="1f2329"/>
                </a:solidFill>
                <a:latin typeface="Inter"/>
                <a:ea typeface="Inter"/>
              </a:rPr>
              <a:t>"Key updates from the last week."</a:t>
            </a:r>
            <a:endParaRPr b="0" lang="en-AU" sz="1280" spc="-1" strike="noStrike">
              <a:solidFill>
                <a:srgbClr val="000000"/>
              </a:solidFill>
              <a:latin typeface="Arial"/>
            </a:endParaRPr>
          </a:p>
          <a:p>
            <a:pPr defTabSz="914400">
              <a:lnSpc>
                <a:spcPct val="148000"/>
              </a:lnSpc>
              <a:tabLst>
                <a:tab algn="l" pos="0"/>
              </a:tabLst>
            </a:pPr>
            <a:r>
              <a:rPr b="0" lang="en-US" sz="1280" spc="-1" strike="noStrike">
                <a:solidFill>
                  <a:srgbClr val="1f2329"/>
                </a:solidFill>
                <a:latin typeface="Inter"/>
                <a:ea typeface="Inter"/>
              </a:rPr>
              <a:t>"Current blockers on the Platform project."</a:t>
            </a:r>
            <a:endParaRPr b="0" lang="en-AU" sz="1280" spc="-1" strike="noStrike">
              <a:solidFill>
                <a:srgbClr val="000000"/>
              </a:solidFill>
              <a:latin typeface="Arial"/>
            </a:endParaRPr>
          </a:p>
        </p:txBody>
      </p:sp>
      <p:sp>
        <p:nvSpPr>
          <p:cNvPr id="504" name="Shape 11"/>
          <p:cNvSpPr/>
          <p:nvPr/>
        </p:nvSpPr>
        <p:spPr>
          <a:xfrm>
            <a:off x="6591240" y="5070960"/>
            <a:ext cx="5105160" cy="3033360"/>
          </a:xfrm>
          <a:prstGeom prst="roundRect">
            <a:avLst>
              <a:gd name="adj" fmla="val 4395"/>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05" name="Text 12"/>
          <p:cNvSpPr/>
          <p:nvPr/>
        </p:nvSpPr>
        <p:spPr>
          <a:xfrm>
            <a:off x="6981840" y="5423400"/>
            <a:ext cx="445356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02</a:t>
            </a:r>
            <a:endParaRPr b="0" lang="en-AU" sz="2100" spc="-1" strike="noStrike">
              <a:solidFill>
                <a:srgbClr val="000000"/>
              </a:solidFill>
              <a:latin typeface="Arial"/>
            </a:endParaRPr>
          </a:p>
        </p:txBody>
      </p:sp>
      <p:sp>
        <p:nvSpPr>
          <p:cNvPr id="506" name="Text 13"/>
          <p:cNvSpPr/>
          <p:nvPr/>
        </p:nvSpPr>
        <p:spPr>
          <a:xfrm>
            <a:off x="6981840" y="5823360"/>
            <a:ext cx="445356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Policy &amp; process</a:t>
            </a:r>
            <a:endParaRPr b="0" lang="en-AU" sz="1800" spc="-1" strike="noStrike">
              <a:solidFill>
                <a:srgbClr val="000000"/>
              </a:solidFill>
              <a:latin typeface="Arial"/>
            </a:endParaRPr>
          </a:p>
        </p:txBody>
      </p:sp>
      <p:sp>
        <p:nvSpPr>
          <p:cNvPr id="507" name="Text 14"/>
          <p:cNvSpPr/>
          <p:nvPr/>
        </p:nvSpPr>
        <p:spPr>
          <a:xfrm>
            <a:off x="6868440" y="6200640"/>
            <a:ext cx="4513680" cy="94716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280" spc="-1" strike="noStrike">
                <a:solidFill>
                  <a:srgbClr val="1f2329"/>
                </a:solidFill>
                <a:latin typeface="Inter"/>
                <a:ea typeface="Inter"/>
              </a:rPr>
              <a:t>"Our remote work policy?"</a:t>
            </a:r>
            <a:endParaRPr b="0" lang="en-AU" sz="1280" spc="-1" strike="noStrike">
              <a:solidFill>
                <a:srgbClr val="000000"/>
              </a:solidFill>
              <a:latin typeface="Arial"/>
            </a:endParaRPr>
          </a:p>
          <a:p>
            <a:pPr defTabSz="914400">
              <a:lnSpc>
                <a:spcPct val="148000"/>
              </a:lnSpc>
              <a:tabLst>
                <a:tab algn="l" pos="0"/>
              </a:tabLst>
            </a:pPr>
            <a:r>
              <a:rPr b="0" lang="en-US" sz="1280" spc="-1" strike="noStrike">
                <a:solidFill>
                  <a:srgbClr val="1f2329"/>
                </a:solidFill>
                <a:latin typeface="Inter"/>
                <a:ea typeface="Inter"/>
              </a:rPr>
              <a:t>"How do I submit an expense report?"</a:t>
            </a:r>
            <a:endParaRPr b="0" lang="en-AU" sz="1280" spc="-1" strike="noStrike">
              <a:solidFill>
                <a:srgbClr val="000000"/>
              </a:solidFill>
              <a:latin typeface="Arial"/>
            </a:endParaRPr>
          </a:p>
          <a:p>
            <a:pPr defTabSz="914400">
              <a:lnSpc>
                <a:spcPct val="148000"/>
              </a:lnSpc>
              <a:tabLst>
                <a:tab algn="l" pos="0"/>
              </a:tabLst>
            </a:pPr>
            <a:r>
              <a:rPr b="0" lang="en-US" sz="1280" spc="-1" strike="noStrike">
                <a:solidFill>
                  <a:srgbClr val="1f2329"/>
                </a:solidFill>
                <a:latin typeface="Inter"/>
                <a:ea typeface="Inter"/>
              </a:rPr>
              <a:t>"Process for requesting time off?"</a:t>
            </a:r>
            <a:endParaRPr b="0" lang="en-AU" sz="1280" spc="-1" strike="noStrike">
              <a:solidFill>
                <a:srgbClr val="000000"/>
              </a:solidFill>
              <a:latin typeface="Arial"/>
            </a:endParaRPr>
          </a:p>
        </p:txBody>
      </p:sp>
      <p:sp>
        <p:nvSpPr>
          <p:cNvPr id="508" name="Shape 15"/>
          <p:cNvSpPr/>
          <p:nvPr/>
        </p:nvSpPr>
        <p:spPr>
          <a:xfrm>
            <a:off x="11963520" y="5070960"/>
            <a:ext cx="5105160" cy="3033360"/>
          </a:xfrm>
          <a:prstGeom prst="roundRect">
            <a:avLst>
              <a:gd name="adj" fmla="val 4395"/>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09" name="Text 16"/>
          <p:cNvSpPr/>
          <p:nvPr/>
        </p:nvSpPr>
        <p:spPr>
          <a:xfrm>
            <a:off x="12353760" y="5423400"/>
            <a:ext cx="4453560" cy="3045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0" lang="en-US" sz="2100" spc="-29" strike="noStrike">
                <a:solidFill>
                  <a:srgbClr val="e36a2c"/>
                </a:solidFill>
                <a:latin typeface="Space Grotesk"/>
                <a:ea typeface="Space Grotesk"/>
              </a:rPr>
              <a:t>03</a:t>
            </a:r>
            <a:endParaRPr b="0" lang="en-AU" sz="2100" spc="-1" strike="noStrike">
              <a:solidFill>
                <a:srgbClr val="000000"/>
              </a:solidFill>
              <a:latin typeface="Arial"/>
            </a:endParaRPr>
          </a:p>
        </p:txBody>
      </p:sp>
      <p:sp>
        <p:nvSpPr>
          <p:cNvPr id="510" name="Text 17"/>
          <p:cNvSpPr/>
          <p:nvPr/>
        </p:nvSpPr>
        <p:spPr>
          <a:xfrm>
            <a:off x="12353760" y="5823360"/>
            <a:ext cx="4453560" cy="300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1800" spc="-24" strike="noStrike">
                <a:solidFill>
                  <a:srgbClr val="0e1116"/>
                </a:solidFill>
                <a:latin typeface="Space Grotesk"/>
                <a:ea typeface="Space Grotesk"/>
              </a:rPr>
              <a:t>Onboarding &amp; research</a:t>
            </a:r>
            <a:endParaRPr b="0" lang="en-AU" sz="1800" spc="-1" strike="noStrike">
              <a:solidFill>
                <a:srgbClr val="000000"/>
              </a:solidFill>
              <a:latin typeface="Arial"/>
            </a:endParaRPr>
          </a:p>
        </p:txBody>
      </p:sp>
      <p:sp>
        <p:nvSpPr>
          <p:cNvPr id="511" name="Text 18"/>
          <p:cNvSpPr/>
          <p:nvPr/>
        </p:nvSpPr>
        <p:spPr>
          <a:xfrm>
            <a:off x="12240720" y="6200640"/>
            <a:ext cx="4513680" cy="947160"/>
          </a:xfrm>
          <a:prstGeom prst="rect">
            <a:avLst/>
          </a:prstGeom>
          <a:noFill/>
          <a:ln w="0">
            <a:noFill/>
          </a:ln>
        </p:spPr>
        <p:style>
          <a:lnRef idx="0"/>
          <a:fillRef idx="0"/>
          <a:effectRef idx="0"/>
          <a:fontRef idx="minor"/>
        </p:style>
        <p:txBody>
          <a:bodyPr lIns="25560" rIns="25560" tIns="25560" bIns="25560" anchor="t">
            <a:normAutofit/>
          </a:bodyPr>
          <a:p>
            <a:pPr defTabSz="914400">
              <a:lnSpc>
                <a:spcPct val="148000"/>
              </a:lnSpc>
              <a:tabLst>
                <a:tab algn="l" pos="0"/>
              </a:tabLst>
            </a:pPr>
            <a:r>
              <a:rPr b="0" lang="en-US" sz="1280" spc="-1" strike="noStrike">
                <a:solidFill>
                  <a:srgbClr val="1f2329"/>
                </a:solidFill>
                <a:latin typeface="Inter"/>
                <a:ea typeface="Inter"/>
              </a:rPr>
              <a:t>"How does our auth system work?"</a:t>
            </a:r>
            <a:endParaRPr b="0" lang="en-AU" sz="1280" spc="-1" strike="noStrike">
              <a:solidFill>
                <a:srgbClr val="000000"/>
              </a:solidFill>
              <a:latin typeface="Arial"/>
            </a:endParaRPr>
          </a:p>
          <a:p>
            <a:pPr defTabSz="914400">
              <a:lnSpc>
                <a:spcPct val="148000"/>
              </a:lnSpc>
              <a:tabLst>
                <a:tab algn="l" pos="0"/>
              </a:tabLst>
            </a:pPr>
            <a:r>
              <a:rPr b="0" lang="en-US" sz="1280" spc="-1" strike="noStrike">
                <a:solidFill>
                  <a:srgbClr val="1f2329"/>
                </a:solidFill>
                <a:latin typeface="Inter"/>
                <a:ea typeface="Inter"/>
              </a:rPr>
              <a:t>"Why do customers choose competitors?"</a:t>
            </a:r>
            <a:endParaRPr b="0" lang="en-AU" sz="1280" spc="-1" strike="noStrike">
              <a:solidFill>
                <a:srgbClr val="000000"/>
              </a:solidFill>
              <a:latin typeface="Arial"/>
            </a:endParaRPr>
          </a:p>
          <a:p>
            <a:pPr defTabSz="914400">
              <a:lnSpc>
                <a:spcPct val="148000"/>
              </a:lnSpc>
              <a:tabLst>
                <a:tab algn="l" pos="0"/>
              </a:tabLst>
            </a:pPr>
            <a:r>
              <a:rPr b="0" lang="en-US" sz="1280" spc="-1" strike="noStrike">
                <a:solidFill>
                  <a:srgbClr val="1f2329"/>
                </a:solidFill>
                <a:latin typeface="Inter"/>
                <a:ea typeface="Inter"/>
              </a:rPr>
              <a:t>"Summarize Q4 product roadmap discussions."</a:t>
            </a:r>
            <a:endParaRPr b="0" lang="en-AU" sz="1280" spc="-1" strike="noStrike">
              <a:solidFill>
                <a:srgbClr val="000000"/>
              </a:solidFill>
              <a:latin typeface="Arial"/>
            </a:endParaRPr>
          </a:p>
        </p:txBody>
      </p:sp>
      <p:sp>
        <p:nvSpPr>
          <p:cNvPr id="512" name="Shape 19"/>
          <p:cNvSpPr/>
          <p:nvPr/>
        </p:nvSpPr>
        <p:spPr>
          <a:xfrm>
            <a:off x="1219320" y="8409600"/>
            <a:ext cx="15849360" cy="962640"/>
          </a:xfrm>
          <a:prstGeom prst="roundRect">
            <a:avLst>
              <a:gd name="adj" fmla="val 7913"/>
            </a:avLst>
          </a:prstGeom>
          <a:solidFill>
            <a:srgbClr val="1f5240">
              <a:alpha val="8000"/>
            </a:srgbClr>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513" name="Shape 20"/>
          <p:cNvSpPr/>
          <p:nvPr/>
        </p:nvSpPr>
        <p:spPr>
          <a:xfrm>
            <a:off x="1486080" y="8720280"/>
            <a:ext cx="68040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14" name="Text 21"/>
          <p:cNvSpPr/>
          <p:nvPr/>
        </p:nvSpPr>
        <p:spPr>
          <a:xfrm>
            <a:off x="1628640" y="8787240"/>
            <a:ext cx="47052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SAFE</a:t>
            </a:r>
            <a:endParaRPr b="0" lang="en-AU" sz="1050" spc="-1" strike="noStrike">
              <a:solidFill>
                <a:srgbClr val="000000"/>
              </a:solidFill>
              <a:latin typeface="Arial"/>
            </a:endParaRPr>
          </a:p>
        </p:txBody>
      </p:sp>
      <p:sp>
        <p:nvSpPr>
          <p:cNvPr id="515" name="Text 22"/>
          <p:cNvSpPr/>
          <p:nvPr/>
        </p:nvSpPr>
        <p:spPr>
          <a:xfrm>
            <a:off x="2318760" y="8580960"/>
            <a:ext cx="14917320" cy="657720"/>
          </a:xfrm>
          <a:prstGeom prst="rect">
            <a:avLst/>
          </a:prstGeom>
          <a:noFill/>
          <a:ln w="0">
            <a:noFill/>
          </a:ln>
        </p:spPr>
        <p:style>
          <a:lnRef idx="0"/>
          <a:fillRef idx="0"/>
          <a:effectRef idx="0"/>
          <a:fontRef idx="minor"/>
        </p:style>
        <p:txBody>
          <a:bodyPr lIns="25560" rIns="25560" tIns="25560" bIns="25560" anchor="t">
            <a:normAutofit fontScale="98333" lnSpcReduction="20000"/>
          </a:bodyPr>
          <a:p>
            <a:pPr defTabSz="914400">
              <a:lnSpc>
                <a:spcPct val="155000"/>
              </a:lnSpc>
              <a:tabLst>
                <a:tab algn="l" pos="0"/>
              </a:tabLst>
            </a:pPr>
            <a:r>
              <a:rPr b="0" lang="en-US" sz="1580" spc="-1" strike="noStrike">
                <a:solidFill>
                  <a:srgbClr val="1f2329"/>
                </a:solidFill>
                <a:latin typeface="Inter"/>
                <a:ea typeface="Inter"/>
              </a:rPr>
              <a:t>Enterprise Search only shows what you already have permission to access in the source tool. Conversations stay private; connected data isn't indexed separately.</a:t>
            </a:r>
            <a:endParaRPr b="0" lang="en-AU" sz="1580" spc="-1" strike="noStrike">
              <a:solidFill>
                <a:srgbClr val="000000"/>
              </a:solidFill>
              <a:latin typeface="Arial"/>
            </a:endParaRPr>
          </a:p>
        </p:txBody>
      </p:sp>
      <p:sp>
        <p:nvSpPr>
          <p:cNvPr id="516" name="Text 23"/>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20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517" name="Image 0" descr="preencoded.png"/>
          <p:cNvPicPr/>
          <p:nvPr/>
        </p:nvPicPr>
        <p:blipFill>
          <a:blip r:embed="rId1"/>
          <a:stretch/>
        </p:blipFill>
        <p:spPr>
          <a:xfrm>
            <a:off x="1219320" y="468360"/>
            <a:ext cx="304560" cy="304560"/>
          </a:xfrm>
          <a:prstGeom prst="rect">
            <a:avLst/>
          </a:prstGeom>
          <a:ln w="0">
            <a:noFill/>
          </a:ln>
        </p:spPr>
      </p:pic>
      <p:sp>
        <p:nvSpPr>
          <p:cNvPr id="518"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519"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520"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521"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522" name="Text 4"/>
          <p:cNvSpPr/>
          <p:nvPr/>
        </p:nvSpPr>
        <p:spPr>
          <a:xfrm>
            <a:off x="1409760" y="1619280"/>
            <a:ext cx="34430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ENTERPRISE SEARCH · SETUP</a:t>
            </a:r>
            <a:endParaRPr b="0" lang="en-AU" sz="1350" spc="-1" strike="noStrike">
              <a:solidFill>
                <a:srgbClr val="000000"/>
              </a:solidFill>
              <a:latin typeface="Arial"/>
            </a:endParaRPr>
          </a:p>
        </p:txBody>
      </p:sp>
      <p:sp>
        <p:nvSpPr>
          <p:cNvPr id="523"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Two-step setup.</a:t>
            </a:r>
            <a:endParaRPr b="0" lang="en-AU" sz="7200" spc="-1" strike="noStrike">
              <a:solidFill>
                <a:srgbClr val="000000"/>
              </a:solidFill>
              <a:latin typeface="Arial"/>
            </a:endParaRPr>
          </a:p>
        </p:txBody>
      </p:sp>
      <p:sp>
        <p:nvSpPr>
          <p:cNvPr id="524" name="Shape 6"/>
          <p:cNvSpPr/>
          <p:nvPr/>
        </p:nvSpPr>
        <p:spPr>
          <a:xfrm>
            <a:off x="1219320" y="3467880"/>
            <a:ext cx="7772040" cy="5904360"/>
          </a:xfrm>
          <a:prstGeom prst="roundRect">
            <a:avLst>
              <a:gd name="adj" fmla="val 225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25" name="Shape 7"/>
          <p:cNvSpPr/>
          <p:nvPr/>
        </p:nvSpPr>
        <p:spPr>
          <a:xfrm>
            <a:off x="1685880" y="3896640"/>
            <a:ext cx="1765800" cy="340920"/>
          </a:xfrm>
          <a:prstGeom prst="roundRect">
            <a:avLst>
              <a:gd name="adj" fmla="val 50000"/>
            </a:avLst>
          </a:prstGeom>
          <a:solidFill>
            <a:srgbClr val="0e1116"/>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526" name="Text 8"/>
          <p:cNvSpPr/>
          <p:nvPr/>
        </p:nvSpPr>
        <p:spPr>
          <a:xfrm>
            <a:off x="1828800" y="3963240"/>
            <a:ext cx="155592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f4efe6"/>
                </a:solidFill>
                <a:latin typeface="JetBrains Mono"/>
                <a:ea typeface="JetBrains Mono"/>
              </a:rPr>
              <a:t>STEP 01 · ADMIN</a:t>
            </a:r>
            <a:endParaRPr b="0" lang="en-AU" sz="1050" spc="-1" strike="noStrike">
              <a:solidFill>
                <a:srgbClr val="000000"/>
              </a:solidFill>
              <a:latin typeface="Arial"/>
            </a:endParaRPr>
          </a:p>
        </p:txBody>
      </p:sp>
      <p:sp>
        <p:nvSpPr>
          <p:cNvPr id="527" name="Text 9"/>
          <p:cNvSpPr/>
          <p:nvPr/>
        </p:nvSpPr>
        <p:spPr>
          <a:xfrm>
            <a:off x="1685880" y="4409280"/>
            <a:ext cx="7043760" cy="3664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2250" spc="-29" strike="noStrike">
                <a:solidFill>
                  <a:srgbClr val="0e1116"/>
                </a:solidFill>
                <a:latin typeface="Space Grotesk"/>
                <a:ea typeface="Space Grotesk"/>
              </a:rPr>
              <a:t>Owners set it up once</a:t>
            </a:r>
            <a:endParaRPr b="0" lang="en-AU" sz="2250" spc="-1" strike="noStrike">
              <a:solidFill>
                <a:srgbClr val="000000"/>
              </a:solidFill>
              <a:latin typeface="Arial"/>
            </a:endParaRPr>
          </a:p>
        </p:txBody>
      </p:sp>
      <p:sp>
        <p:nvSpPr>
          <p:cNvPr id="528" name="Text 10"/>
          <p:cNvSpPr/>
          <p:nvPr/>
        </p:nvSpPr>
        <p:spPr>
          <a:xfrm>
            <a:off x="1685880" y="4966560"/>
            <a:ext cx="185040" cy="309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1" lang="en-US" sz="1430" spc="-1" strike="noStrike">
                <a:solidFill>
                  <a:srgbClr val="e36a2c"/>
                </a:solidFill>
                <a:latin typeface="JetBrains Mono"/>
                <a:ea typeface="JetBrains Mono"/>
              </a:rPr>
              <a:t>→</a:t>
            </a:r>
            <a:endParaRPr b="0" lang="en-AU" sz="1430" spc="-1" strike="noStrike">
              <a:solidFill>
                <a:srgbClr val="000000"/>
              </a:solidFill>
              <a:latin typeface="Arial"/>
            </a:endParaRPr>
          </a:p>
        </p:txBody>
      </p:sp>
      <p:sp>
        <p:nvSpPr>
          <p:cNvPr id="529" name="Text 11"/>
          <p:cNvSpPr/>
          <p:nvPr/>
        </p:nvSpPr>
        <p:spPr>
          <a:xfrm>
            <a:off x="1928520" y="4985280"/>
            <a:ext cx="30556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0000"/>
              </a:lnSpc>
              <a:tabLst>
                <a:tab algn="l" pos="0"/>
              </a:tabLst>
            </a:pPr>
            <a:r>
              <a:rPr b="0" lang="en-US" sz="1430" spc="-1" strike="noStrike">
                <a:solidFill>
                  <a:srgbClr val="1f2329"/>
                </a:solidFill>
                <a:latin typeface="Inter"/>
                <a:ea typeface="Inter"/>
              </a:rPr>
              <a:t>Click "Ask Your Org" in left sidebar</a:t>
            </a:r>
            <a:endParaRPr b="0" lang="en-AU" sz="1430" spc="-1" strike="noStrike">
              <a:solidFill>
                <a:srgbClr val="000000"/>
              </a:solidFill>
              <a:latin typeface="Arial"/>
            </a:endParaRPr>
          </a:p>
        </p:txBody>
      </p:sp>
      <p:sp>
        <p:nvSpPr>
          <p:cNvPr id="530" name="Text 12"/>
          <p:cNvSpPr/>
          <p:nvPr/>
        </p:nvSpPr>
        <p:spPr>
          <a:xfrm>
            <a:off x="1685880" y="5352120"/>
            <a:ext cx="185040" cy="309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1" lang="en-US" sz="1430" spc="-1" strike="noStrike">
                <a:solidFill>
                  <a:srgbClr val="e36a2c"/>
                </a:solidFill>
                <a:latin typeface="JetBrains Mono"/>
                <a:ea typeface="JetBrains Mono"/>
              </a:rPr>
              <a:t>→</a:t>
            </a:r>
            <a:endParaRPr b="0" lang="en-AU" sz="1430" spc="-1" strike="noStrike">
              <a:solidFill>
                <a:srgbClr val="000000"/>
              </a:solidFill>
              <a:latin typeface="Arial"/>
            </a:endParaRPr>
          </a:p>
        </p:txBody>
      </p:sp>
      <p:sp>
        <p:nvSpPr>
          <p:cNvPr id="531" name="Text 13"/>
          <p:cNvSpPr/>
          <p:nvPr/>
        </p:nvSpPr>
        <p:spPr>
          <a:xfrm>
            <a:off x="1928520" y="5371200"/>
            <a:ext cx="18514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0000"/>
              </a:lnSpc>
              <a:tabLst>
                <a:tab algn="l" pos="0"/>
              </a:tabLst>
            </a:pPr>
            <a:r>
              <a:rPr b="0" lang="en-US" sz="1430" spc="-1" strike="noStrike">
                <a:solidFill>
                  <a:srgbClr val="1f2329"/>
                </a:solidFill>
                <a:latin typeface="Inter"/>
                <a:ea typeface="Inter"/>
              </a:rPr>
              <a:t>"Set up for your org"</a:t>
            </a:r>
            <a:endParaRPr b="0" lang="en-AU" sz="1430" spc="-1" strike="noStrike">
              <a:solidFill>
                <a:srgbClr val="000000"/>
              </a:solidFill>
              <a:latin typeface="Arial"/>
            </a:endParaRPr>
          </a:p>
        </p:txBody>
      </p:sp>
      <p:sp>
        <p:nvSpPr>
          <p:cNvPr id="532" name="Text 14"/>
          <p:cNvSpPr/>
          <p:nvPr/>
        </p:nvSpPr>
        <p:spPr>
          <a:xfrm>
            <a:off x="1685880" y="5738040"/>
            <a:ext cx="185040" cy="309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1" lang="en-US" sz="1430" spc="-1" strike="noStrike">
                <a:solidFill>
                  <a:srgbClr val="e36a2c"/>
                </a:solidFill>
                <a:latin typeface="JetBrains Mono"/>
                <a:ea typeface="JetBrains Mono"/>
              </a:rPr>
              <a:t>→</a:t>
            </a:r>
            <a:endParaRPr b="0" lang="en-AU" sz="1430" spc="-1" strike="noStrike">
              <a:solidFill>
                <a:srgbClr val="000000"/>
              </a:solidFill>
              <a:latin typeface="Arial"/>
            </a:endParaRPr>
          </a:p>
        </p:txBody>
      </p:sp>
      <p:sp>
        <p:nvSpPr>
          <p:cNvPr id="533" name="Text 15"/>
          <p:cNvSpPr/>
          <p:nvPr/>
        </p:nvSpPr>
        <p:spPr>
          <a:xfrm>
            <a:off x="1928520" y="5757120"/>
            <a:ext cx="48265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0000"/>
              </a:lnSpc>
              <a:tabLst>
                <a:tab algn="l" pos="0"/>
              </a:tabLst>
            </a:pPr>
            <a:r>
              <a:rPr b="0" lang="en-US" sz="1430" spc="-1" strike="noStrike">
                <a:solidFill>
                  <a:srgbClr val="1f2329"/>
                </a:solidFill>
                <a:latin typeface="Inter"/>
                <a:ea typeface="Inter"/>
              </a:rPr>
              <a:t>Pick connectors for Documents + Chat (Email optional)</a:t>
            </a:r>
            <a:endParaRPr b="0" lang="en-AU" sz="1430" spc="-1" strike="noStrike">
              <a:solidFill>
                <a:srgbClr val="000000"/>
              </a:solidFill>
              <a:latin typeface="Arial"/>
            </a:endParaRPr>
          </a:p>
        </p:txBody>
      </p:sp>
      <p:sp>
        <p:nvSpPr>
          <p:cNvPr id="534" name="Text 16"/>
          <p:cNvSpPr/>
          <p:nvPr/>
        </p:nvSpPr>
        <p:spPr>
          <a:xfrm>
            <a:off x="1685880" y="6123600"/>
            <a:ext cx="185040" cy="309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1" lang="en-US" sz="1430" spc="-1" strike="noStrike">
                <a:solidFill>
                  <a:srgbClr val="e36a2c"/>
                </a:solidFill>
                <a:latin typeface="JetBrains Mono"/>
                <a:ea typeface="JetBrains Mono"/>
              </a:rPr>
              <a:t>→</a:t>
            </a:r>
            <a:endParaRPr b="0" lang="en-AU" sz="1430" spc="-1" strike="noStrike">
              <a:solidFill>
                <a:srgbClr val="000000"/>
              </a:solidFill>
              <a:latin typeface="Arial"/>
            </a:endParaRPr>
          </a:p>
        </p:txBody>
      </p:sp>
      <p:sp>
        <p:nvSpPr>
          <p:cNvPr id="535" name="Text 17"/>
          <p:cNvSpPr/>
          <p:nvPr/>
        </p:nvSpPr>
        <p:spPr>
          <a:xfrm>
            <a:off x="1928520" y="6142680"/>
            <a:ext cx="357840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0000"/>
              </a:lnSpc>
              <a:tabLst>
                <a:tab algn="l" pos="0"/>
              </a:tabLst>
            </a:pPr>
            <a:r>
              <a:rPr b="0" lang="en-US" sz="1430" spc="-1" strike="noStrike">
                <a:solidFill>
                  <a:srgbClr val="1f2329"/>
                </a:solidFill>
                <a:latin typeface="Inter"/>
                <a:ea typeface="Inter"/>
              </a:rPr>
              <a:t>Name the project, add description, finish</a:t>
            </a:r>
            <a:endParaRPr b="0" lang="en-AU" sz="1430" spc="-1" strike="noStrike">
              <a:solidFill>
                <a:srgbClr val="000000"/>
              </a:solidFill>
              <a:latin typeface="Arial"/>
            </a:endParaRPr>
          </a:p>
        </p:txBody>
      </p:sp>
      <p:sp>
        <p:nvSpPr>
          <p:cNvPr id="536" name="Shape 18"/>
          <p:cNvSpPr/>
          <p:nvPr/>
        </p:nvSpPr>
        <p:spPr>
          <a:xfrm>
            <a:off x="9296280" y="3467880"/>
            <a:ext cx="7772040" cy="5904360"/>
          </a:xfrm>
          <a:prstGeom prst="roundRect">
            <a:avLst>
              <a:gd name="adj" fmla="val 225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37" name="Shape 19"/>
          <p:cNvSpPr/>
          <p:nvPr/>
        </p:nvSpPr>
        <p:spPr>
          <a:xfrm>
            <a:off x="9763200" y="3896640"/>
            <a:ext cx="176580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38" name="Text 20"/>
          <p:cNvSpPr/>
          <p:nvPr/>
        </p:nvSpPr>
        <p:spPr>
          <a:xfrm>
            <a:off x="9906120" y="3963240"/>
            <a:ext cx="155592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STEP 02 · USERS</a:t>
            </a:r>
            <a:endParaRPr b="0" lang="en-AU" sz="1050" spc="-1" strike="noStrike">
              <a:solidFill>
                <a:srgbClr val="000000"/>
              </a:solidFill>
              <a:latin typeface="Arial"/>
            </a:endParaRPr>
          </a:p>
        </p:txBody>
      </p:sp>
      <p:sp>
        <p:nvSpPr>
          <p:cNvPr id="539" name="Text 21"/>
          <p:cNvSpPr/>
          <p:nvPr/>
        </p:nvSpPr>
        <p:spPr>
          <a:xfrm>
            <a:off x="9763200" y="4409280"/>
            <a:ext cx="7043760" cy="3664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5000"/>
              </a:lnSpc>
              <a:tabLst>
                <a:tab algn="l" pos="0"/>
              </a:tabLst>
            </a:pPr>
            <a:r>
              <a:rPr b="1" lang="en-US" sz="2250" spc="-29" strike="noStrike">
                <a:solidFill>
                  <a:srgbClr val="0e1116"/>
                </a:solidFill>
                <a:latin typeface="Space Grotesk"/>
                <a:ea typeface="Space Grotesk"/>
              </a:rPr>
              <a:t>Everyone authenticates</a:t>
            </a:r>
            <a:endParaRPr b="0" lang="en-AU" sz="2250" spc="-1" strike="noStrike">
              <a:solidFill>
                <a:srgbClr val="000000"/>
              </a:solidFill>
              <a:latin typeface="Arial"/>
            </a:endParaRPr>
          </a:p>
        </p:txBody>
      </p:sp>
      <p:sp>
        <p:nvSpPr>
          <p:cNvPr id="540" name="Text 22"/>
          <p:cNvSpPr/>
          <p:nvPr/>
        </p:nvSpPr>
        <p:spPr>
          <a:xfrm>
            <a:off x="9763200" y="4966560"/>
            <a:ext cx="185040" cy="309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1" lang="en-US" sz="1430" spc="-1" strike="noStrike">
                <a:solidFill>
                  <a:srgbClr val="e36a2c"/>
                </a:solidFill>
                <a:latin typeface="JetBrains Mono"/>
                <a:ea typeface="JetBrains Mono"/>
              </a:rPr>
              <a:t>→</a:t>
            </a:r>
            <a:endParaRPr b="0" lang="en-AU" sz="1430" spc="-1" strike="noStrike">
              <a:solidFill>
                <a:srgbClr val="000000"/>
              </a:solidFill>
              <a:latin typeface="Arial"/>
            </a:endParaRPr>
          </a:p>
        </p:txBody>
      </p:sp>
      <p:sp>
        <p:nvSpPr>
          <p:cNvPr id="541" name="Text 23"/>
          <p:cNvSpPr/>
          <p:nvPr/>
        </p:nvSpPr>
        <p:spPr>
          <a:xfrm>
            <a:off x="10005480" y="4985280"/>
            <a:ext cx="44402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0000"/>
              </a:lnSpc>
              <a:tabLst>
                <a:tab algn="l" pos="0"/>
              </a:tabLst>
            </a:pPr>
            <a:r>
              <a:rPr b="0" lang="en-US" sz="1430" spc="-1" strike="noStrike">
                <a:solidFill>
                  <a:srgbClr val="1f2329"/>
                </a:solidFill>
                <a:latin typeface="Inter"/>
                <a:ea typeface="Inter"/>
              </a:rPr>
              <a:t>Click the "Ask {Org Name}" project in your sidebar</a:t>
            </a:r>
            <a:endParaRPr b="0" lang="en-AU" sz="1430" spc="-1" strike="noStrike">
              <a:solidFill>
                <a:srgbClr val="000000"/>
              </a:solidFill>
              <a:latin typeface="Arial"/>
            </a:endParaRPr>
          </a:p>
        </p:txBody>
      </p:sp>
      <p:sp>
        <p:nvSpPr>
          <p:cNvPr id="542" name="Text 24"/>
          <p:cNvSpPr/>
          <p:nvPr/>
        </p:nvSpPr>
        <p:spPr>
          <a:xfrm>
            <a:off x="9763200" y="5352120"/>
            <a:ext cx="185040" cy="309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1" lang="en-US" sz="1430" spc="-1" strike="noStrike">
                <a:solidFill>
                  <a:srgbClr val="e36a2c"/>
                </a:solidFill>
                <a:latin typeface="JetBrains Mono"/>
                <a:ea typeface="JetBrains Mono"/>
              </a:rPr>
              <a:t>→</a:t>
            </a:r>
            <a:endParaRPr b="0" lang="en-AU" sz="1430" spc="-1" strike="noStrike">
              <a:solidFill>
                <a:srgbClr val="000000"/>
              </a:solidFill>
              <a:latin typeface="Arial"/>
            </a:endParaRPr>
          </a:p>
        </p:txBody>
      </p:sp>
      <p:sp>
        <p:nvSpPr>
          <p:cNvPr id="543" name="Text 25"/>
          <p:cNvSpPr/>
          <p:nvPr/>
        </p:nvSpPr>
        <p:spPr>
          <a:xfrm>
            <a:off x="10005480" y="5371200"/>
            <a:ext cx="26143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0000"/>
              </a:lnSpc>
              <a:tabLst>
                <a:tab algn="l" pos="0"/>
              </a:tabLst>
            </a:pPr>
            <a:r>
              <a:rPr b="0" lang="en-US" sz="1430" spc="-1" strike="noStrike">
                <a:solidFill>
                  <a:srgbClr val="1f2329"/>
                </a:solidFill>
                <a:latin typeface="Inter"/>
                <a:ea typeface="Inter"/>
              </a:rPr>
              <a:t>Follow the guided onboarding</a:t>
            </a:r>
            <a:endParaRPr b="0" lang="en-AU" sz="1430" spc="-1" strike="noStrike">
              <a:solidFill>
                <a:srgbClr val="000000"/>
              </a:solidFill>
              <a:latin typeface="Arial"/>
            </a:endParaRPr>
          </a:p>
        </p:txBody>
      </p:sp>
      <p:sp>
        <p:nvSpPr>
          <p:cNvPr id="544" name="Text 26"/>
          <p:cNvSpPr/>
          <p:nvPr/>
        </p:nvSpPr>
        <p:spPr>
          <a:xfrm>
            <a:off x="9763200" y="5738040"/>
            <a:ext cx="185040" cy="309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1" lang="en-US" sz="1430" spc="-1" strike="noStrike">
                <a:solidFill>
                  <a:srgbClr val="e36a2c"/>
                </a:solidFill>
                <a:latin typeface="JetBrains Mono"/>
                <a:ea typeface="JetBrains Mono"/>
              </a:rPr>
              <a:t>→</a:t>
            </a:r>
            <a:endParaRPr b="0" lang="en-AU" sz="1430" spc="-1" strike="noStrike">
              <a:solidFill>
                <a:srgbClr val="000000"/>
              </a:solidFill>
              <a:latin typeface="Arial"/>
            </a:endParaRPr>
          </a:p>
        </p:txBody>
      </p:sp>
      <p:sp>
        <p:nvSpPr>
          <p:cNvPr id="545" name="Text 27"/>
          <p:cNvSpPr/>
          <p:nvPr/>
        </p:nvSpPr>
        <p:spPr>
          <a:xfrm>
            <a:off x="10005480" y="5757120"/>
            <a:ext cx="447300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0000"/>
              </a:lnSpc>
              <a:tabLst>
                <a:tab algn="l" pos="0"/>
              </a:tabLst>
            </a:pPr>
            <a:r>
              <a:rPr b="0" lang="en-US" sz="1430" spc="-1" strike="noStrike">
                <a:solidFill>
                  <a:srgbClr val="1f2329"/>
                </a:solidFill>
                <a:latin typeface="Inter"/>
                <a:ea typeface="Inter"/>
              </a:rPr>
              <a:t>Authenticate each service (Slack, Google, M365…)</a:t>
            </a:r>
            <a:endParaRPr b="0" lang="en-AU" sz="1430" spc="-1" strike="noStrike">
              <a:solidFill>
                <a:srgbClr val="000000"/>
              </a:solidFill>
              <a:latin typeface="Arial"/>
            </a:endParaRPr>
          </a:p>
        </p:txBody>
      </p:sp>
      <p:sp>
        <p:nvSpPr>
          <p:cNvPr id="546" name="Text 28"/>
          <p:cNvSpPr/>
          <p:nvPr/>
        </p:nvSpPr>
        <p:spPr>
          <a:xfrm>
            <a:off x="9763200" y="6123600"/>
            <a:ext cx="185040" cy="3092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1" lang="en-US" sz="1430" spc="-1" strike="noStrike">
                <a:solidFill>
                  <a:srgbClr val="e36a2c"/>
                </a:solidFill>
                <a:latin typeface="JetBrains Mono"/>
                <a:ea typeface="JetBrains Mono"/>
              </a:rPr>
              <a:t>→</a:t>
            </a:r>
            <a:endParaRPr b="0" lang="en-AU" sz="1430" spc="-1" strike="noStrike">
              <a:solidFill>
                <a:srgbClr val="000000"/>
              </a:solidFill>
              <a:latin typeface="Arial"/>
            </a:endParaRPr>
          </a:p>
        </p:txBody>
      </p:sp>
      <p:sp>
        <p:nvSpPr>
          <p:cNvPr id="547" name="Text 29"/>
          <p:cNvSpPr/>
          <p:nvPr/>
        </p:nvSpPr>
        <p:spPr>
          <a:xfrm>
            <a:off x="10005480" y="6142680"/>
            <a:ext cx="41659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0000"/>
              </a:lnSpc>
              <a:tabLst>
                <a:tab algn="l" pos="0"/>
              </a:tabLst>
            </a:pPr>
            <a:r>
              <a:rPr b="0" lang="en-US" sz="1430" spc="-1" strike="noStrike">
                <a:solidFill>
                  <a:srgbClr val="1f2329"/>
                </a:solidFill>
                <a:latin typeface="Inter"/>
                <a:ea typeface="Inter"/>
              </a:rPr>
              <a:t>Ask away — more connectors = richer answers</a:t>
            </a:r>
            <a:endParaRPr b="0" lang="en-AU" sz="1430" spc="-1" strike="noStrike">
              <a:solidFill>
                <a:srgbClr val="000000"/>
              </a:solidFill>
              <a:latin typeface="Arial"/>
            </a:endParaRPr>
          </a:p>
        </p:txBody>
      </p:sp>
      <p:sp>
        <p:nvSpPr>
          <p:cNvPr id="548" name="Text 30"/>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21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549" name="Image 0" descr="preencoded.png"/>
          <p:cNvPicPr/>
          <p:nvPr/>
        </p:nvPicPr>
        <p:blipFill>
          <a:blip r:embed="rId1"/>
          <a:stretch/>
        </p:blipFill>
        <p:spPr>
          <a:xfrm>
            <a:off x="1219320" y="468360"/>
            <a:ext cx="304560" cy="304560"/>
          </a:xfrm>
          <a:prstGeom prst="rect">
            <a:avLst/>
          </a:prstGeom>
          <a:ln w="0">
            <a:noFill/>
          </a:ln>
        </p:spPr>
      </p:pic>
      <p:sp>
        <p:nvSpPr>
          <p:cNvPr id="550"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551"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552"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553"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554" name="Text 4"/>
          <p:cNvSpPr/>
          <p:nvPr/>
        </p:nvSpPr>
        <p:spPr>
          <a:xfrm>
            <a:off x="1409760" y="1619280"/>
            <a:ext cx="261684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09 · RESEARCH</a:t>
            </a:r>
            <a:endParaRPr b="0" lang="en-AU" sz="1350" spc="-1" strike="noStrike">
              <a:solidFill>
                <a:srgbClr val="000000"/>
              </a:solidFill>
              <a:latin typeface="Arial"/>
            </a:endParaRPr>
          </a:p>
        </p:txBody>
      </p:sp>
      <p:sp>
        <p:nvSpPr>
          <p:cNvPr id="555"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Claude as a systematic investigator.</a:t>
            </a:r>
            <a:endParaRPr b="0" lang="en-AU" sz="7200" spc="-1" strike="noStrike">
              <a:solidFill>
                <a:srgbClr val="000000"/>
              </a:solidFill>
              <a:latin typeface="Arial"/>
            </a:endParaRPr>
          </a:p>
        </p:txBody>
      </p:sp>
      <p:sp>
        <p:nvSpPr>
          <p:cNvPr id="556" name="Text 6"/>
          <p:cNvSpPr/>
          <p:nvPr/>
        </p:nvSpPr>
        <p:spPr>
          <a:xfrm>
            <a:off x="1219320" y="3239280"/>
            <a:ext cx="11772720" cy="133596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42000"/>
              </a:lnSpc>
              <a:tabLst>
                <a:tab algn="l" pos="0"/>
              </a:tabLst>
            </a:pPr>
            <a:r>
              <a:rPr b="0" lang="en-US" sz="2400" spc="-12" strike="noStrike">
                <a:solidFill>
                  <a:srgbClr val="1f2329"/>
                </a:solidFill>
                <a:latin typeface="Inter"/>
                <a:ea typeface="Inter"/>
              </a:rPr>
              <a:t>Research transforms Claude from a conversational assistant into a researcher. Multi-step exploration that pursues leads, cross-references sources and synthesizes findings — hours of manual work done in minutes.</a:t>
            </a:r>
            <a:endParaRPr b="0" lang="en-AU" sz="2400" spc="-1" strike="noStrike">
              <a:solidFill>
                <a:srgbClr val="000000"/>
              </a:solidFill>
              <a:latin typeface="Arial"/>
            </a:endParaRPr>
          </a:p>
        </p:txBody>
      </p:sp>
      <p:sp>
        <p:nvSpPr>
          <p:cNvPr id="557" name="Text 7"/>
          <p:cNvSpPr/>
          <p:nvPr/>
        </p:nvSpPr>
        <p:spPr>
          <a:xfrm>
            <a:off x="1219320" y="5147280"/>
            <a:ext cx="3904200" cy="5713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4200" spc="-60" strike="noStrike">
                <a:solidFill>
                  <a:srgbClr val="e36a2c"/>
                </a:solidFill>
                <a:latin typeface="Space Grotesk"/>
                <a:ea typeface="Space Grotesk"/>
              </a:rPr>
              <a:t>01</a:t>
            </a:r>
            <a:endParaRPr b="0" lang="en-AU" sz="4200" spc="-1" strike="noStrike">
              <a:solidFill>
                <a:srgbClr val="000000"/>
              </a:solidFill>
              <a:latin typeface="Arial"/>
            </a:endParaRPr>
          </a:p>
        </p:txBody>
      </p:sp>
      <p:sp>
        <p:nvSpPr>
          <p:cNvPr id="558" name="Text 8"/>
          <p:cNvSpPr/>
          <p:nvPr/>
        </p:nvSpPr>
        <p:spPr>
          <a:xfrm>
            <a:off x="1219320" y="5833080"/>
            <a:ext cx="3904200" cy="347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6000"/>
              </a:lnSpc>
              <a:tabLst>
                <a:tab algn="l" pos="0"/>
              </a:tabLst>
            </a:pPr>
            <a:r>
              <a:rPr b="1" lang="en-US" sz="2100" spc="-26" strike="noStrike">
                <a:solidFill>
                  <a:srgbClr val="0e1116"/>
                </a:solidFill>
                <a:latin typeface="Space Grotesk"/>
                <a:ea typeface="Space Grotesk"/>
              </a:rPr>
              <a:t>Plan the approach</a:t>
            </a:r>
            <a:endParaRPr b="0" lang="en-AU" sz="2100" spc="-1" strike="noStrike">
              <a:solidFill>
                <a:srgbClr val="000000"/>
              </a:solidFill>
              <a:latin typeface="Arial"/>
            </a:endParaRPr>
          </a:p>
        </p:txBody>
      </p:sp>
      <p:sp>
        <p:nvSpPr>
          <p:cNvPr id="559" name="Text 9"/>
          <p:cNvSpPr/>
          <p:nvPr/>
        </p:nvSpPr>
        <p:spPr>
          <a:xfrm>
            <a:off x="1219320" y="6256440"/>
            <a:ext cx="3904200" cy="8787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5000"/>
              </a:lnSpc>
              <a:tabLst>
                <a:tab algn="l" pos="0"/>
              </a:tabLst>
            </a:pPr>
            <a:r>
              <a:rPr b="0" lang="en-US" sz="1430" spc="-1" strike="noStrike">
                <a:solidFill>
                  <a:srgbClr val="1f2329"/>
                </a:solidFill>
                <a:latin typeface="Inter"/>
                <a:ea typeface="Inter"/>
              </a:rPr>
              <a:t>Extended thinking activates automatically. Claude breaks down the request and plans how to investigate.</a:t>
            </a:r>
            <a:endParaRPr b="0" lang="en-AU" sz="1430" spc="-1" strike="noStrike">
              <a:solidFill>
                <a:srgbClr val="000000"/>
              </a:solidFill>
              <a:latin typeface="Arial"/>
            </a:endParaRPr>
          </a:p>
        </p:txBody>
      </p:sp>
      <p:sp>
        <p:nvSpPr>
          <p:cNvPr id="560" name="Text 10"/>
          <p:cNvSpPr/>
          <p:nvPr/>
        </p:nvSpPr>
        <p:spPr>
          <a:xfrm>
            <a:off x="5238720" y="5147280"/>
            <a:ext cx="3904200" cy="5713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4200" spc="-60" strike="noStrike">
                <a:solidFill>
                  <a:srgbClr val="e36a2c"/>
                </a:solidFill>
                <a:latin typeface="Space Grotesk"/>
                <a:ea typeface="Space Grotesk"/>
              </a:rPr>
              <a:t>02</a:t>
            </a:r>
            <a:endParaRPr b="0" lang="en-AU" sz="4200" spc="-1" strike="noStrike">
              <a:solidFill>
                <a:srgbClr val="000000"/>
              </a:solidFill>
              <a:latin typeface="Arial"/>
            </a:endParaRPr>
          </a:p>
        </p:txBody>
      </p:sp>
      <p:sp>
        <p:nvSpPr>
          <p:cNvPr id="561" name="Text 11"/>
          <p:cNvSpPr/>
          <p:nvPr/>
        </p:nvSpPr>
        <p:spPr>
          <a:xfrm>
            <a:off x="5238720" y="5833080"/>
            <a:ext cx="3904200" cy="347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6000"/>
              </a:lnSpc>
              <a:tabLst>
                <a:tab algn="l" pos="0"/>
              </a:tabLst>
            </a:pPr>
            <a:r>
              <a:rPr b="1" lang="en-US" sz="2100" spc="-26" strike="noStrike">
                <a:solidFill>
                  <a:srgbClr val="0e1116"/>
                </a:solidFill>
                <a:latin typeface="Space Grotesk"/>
                <a:ea typeface="Space Grotesk"/>
              </a:rPr>
              <a:t>Run many searches</a:t>
            </a:r>
            <a:endParaRPr b="0" lang="en-AU" sz="2100" spc="-1" strike="noStrike">
              <a:solidFill>
                <a:srgbClr val="000000"/>
              </a:solidFill>
              <a:latin typeface="Arial"/>
            </a:endParaRPr>
          </a:p>
        </p:txBody>
      </p:sp>
      <p:sp>
        <p:nvSpPr>
          <p:cNvPr id="562" name="Text 12"/>
          <p:cNvSpPr/>
          <p:nvPr/>
        </p:nvSpPr>
        <p:spPr>
          <a:xfrm>
            <a:off x="5238720" y="6256440"/>
            <a:ext cx="3904200" cy="598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5000"/>
              </a:lnSpc>
              <a:tabLst>
                <a:tab algn="l" pos="0"/>
              </a:tabLst>
            </a:pPr>
            <a:r>
              <a:rPr b="0" lang="en-US" sz="1430" spc="-1" strike="noStrike">
                <a:solidFill>
                  <a:srgbClr val="1f2329"/>
                </a:solidFill>
                <a:latin typeface="Inter"/>
                <a:ea typeface="Inter"/>
              </a:rPr>
              <a:t>Searches build on each other. Claude pursues promising leads, fills in gaps.</a:t>
            </a:r>
            <a:endParaRPr b="0" lang="en-AU" sz="1430" spc="-1" strike="noStrike">
              <a:solidFill>
                <a:srgbClr val="000000"/>
              </a:solidFill>
              <a:latin typeface="Arial"/>
            </a:endParaRPr>
          </a:p>
        </p:txBody>
      </p:sp>
      <p:sp>
        <p:nvSpPr>
          <p:cNvPr id="563" name="Text 13"/>
          <p:cNvSpPr/>
          <p:nvPr/>
        </p:nvSpPr>
        <p:spPr>
          <a:xfrm>
            <a:off x="9258480" y="5147280"/>
            <a:ext cx="3904200" cy="5713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4200" spc="-60" strike="noStrike">
                <a:solidFill>
                  <a:srgbClr val="e36a2c"/>
                </a:solidFill>
                <a:latin typeface="Space Grotesk"/>
                <a:ea typeface="Space Grotesk"/>
              </a:rPr>
              <a:t>03</a:t>
            </a:r>
            <a:endParaRPr b="0" lang="en-AU" sz="4200" spc="-1" strike="noStrike">
              <a:solidFill>
                <a:srgbClr val="000000"/>
              </a:solidFill>
              <a:latin typeface="Arial"/>
            </a:endParaRPr>
          </a:p>
        </p:txBody>
      </p:sp>
      <p:sp>
        <p:nvSpPr>
          <p:cNvPr id="564" name="Text 14"/>
          <p:cNvSpPr/>
          <p:nvPr/>
        </p:nvSpPr>
        <p:spPr>
          <a:xfrm>
            <a:off x="9258480" y="5833080"/>
            <a:ext cx="3904200" cy="347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6000"/>
              </a:lnSpc>
              <a:tabLst>
                <a:tab algn="l" pos="0"/>
              </a:tabLst>
            </a:pPr>
            <a:r>
              <a:rPr b="1" lang="en-US" sz="2100" spc="-26" strike="noStrike">
                <a:solidFill>
                  <a:srgbClr val="0e1116"/>
                </a:solidFill>
                <a:latin typeface="Space Grotesk"/>
                <a:ea typeface="Space Grotesk"/>
              </a:rPr>
              <a:t>Synthesize findings</a:t>
            </a:r>
            <a:endParaRPr b="0" lang="en-AU" sz="2100" spc="-1" strike="noStrike">
              <a:solidFill>
                <a:srgbClr val="000000"/>
              </a:solidFill>
              <a:latin typeface="Arial"/>
            </a:endParaRPr>
          </a:p>
        </p:txBody>
      </p:sp>
      <p:sp>
        <p:nvSpPr>
          <p:cNvPr id="565" name="Text 15"/>
          <p:cNvSpPr/>
          <p:nvPr/>
        </p:nvSpPr>
        <p:spPr>
          <a:xfrm>
            <a:off x="9258480" y="6256440"/>
            <a:ext cx="3904200" cy="878760"/>
          </a:xfrm>
          <a:prstGeom prst="rect">
            <a:avLst/>
          </a:prstGeom>
          <a:noFill/>
          <a:ln w="0">
            <a:noFill/>
          </a:ln>
        </p:spPr>
        <p:style>
          <a:lnRef idx="0"/>
          <a:fillRef idx="0"/>
          <a:effectRef idx="0"/>
          <a:fontRef idx="minor"/>
        </p:style>
        <p:txBody>
          <a:bodyPr lIns="25560" rIns="25560" tIns="25560" bIns="25560" anchor="t">
            <a:normAutofit fontScale="96666" lnSpcReduction="20000"/>
          </a:bodyPr>
          <a:p>
            <a:pPr defTabSz="914400">
              <a:lnSpc>
                <a:spcPct val="155000"/>
              </a:lnSpc>
              <a:tabLst>
                <a:tab algn="l" pos="0"/>
              </a:tabLst>
            </a:pPr>
            <a:r>
              <a:rPr b="0" lang="en-US" sz="1430" spc="-1" strike="noStrike">
                <a:solidFill>
                  <a:srgbClr val="1f2329"/>
                </a:solidFill>
                <a:latin typeface="Inter"/>
                <a:ea typeface="Inter"/>
              </a:rPr>
              <a:t>Compile information from web + your connected integrations into a structured report.</a:t>
            </a:r>
            <a:endParaRPr b="0" lang="en-AU" sz="1430" spc="-1" strike="noStrike">
              <a:solidFill>
                <a:srgbClr val="000000"/>
              </a:solidFill>
              <a:latin typeface="Arial"/>
            </a:endParaRPr>
          </a:p>
        </p:txBody>
      </p:sp>
      <p:sp>
        <p:nvSpPr>
          <p:cNvPr id="566" name="Text 16"/>
          <p:cNvSpPr/>
          <p:nvPr/>
        </p:nvSpPr>
        <p:spPr>
          <a:xfrm>
            <a:off x="13277880" y="5147280"/>
            <a:ext cx="3904200" cy="5713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4200" spc="-60" strike="noStrike">
                <a:solidFill>
                  <a:srgbClr val="e36a2c"/>
                </a:solidFill>
                <a:latin typeface="Space Grotesk"/>
                <a:ea typeface="Space Grotesk"/>
              </a:rPr>
              <a:t>04</a:t>
            </a:r>
            <a:endParaRPr b="0" lang="en-AU" sz="4200" spc="-1" strike="noStrike">
              <a:solidFill>
                <a:srgbClr val="000000"/>
              </a:solidFill>
              <a:latin typeface="Arial"/>
            </a:endParaRPr>
          </a:p>
        </p:txBody>
      </p:sp>
      <p:sp>
        <p:nvSpPr>
          <p:cNvPr id="567" name="Text 17"/>
          <p:cNvSpPr/>
          <p:nvPr/>
        </p:nvSpPr>
        <p:spPr>
          <a:xfrm>
            <a:off x="13277880" y="5833080"/>
            <a:ext cx="3904200" cy="347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6000"/>
              </a:lnSpc>
              <a:tabLst>
                <a:tab algn="l" pos="0"/>
              </a:tabLst>
            </a:pPr>
            <a:r>
              <a:rPr b="1" lang="en-US" sz="2100" spc="-26" strike="noStrike">
                <a:solidFill>
                  <a:srgbClr val="0e1116"/>
                </a:solidFill>
                <a:latin typeface="Space Grotesk"/>
                <a:ea typeface="Space Grotesk"/>
              </a:rPr>
              <a:t>Cite everything</a:t>
            </a:r>
            <a:endParaRPr b="0" lang="en-AU" sz="2100" spc="-1" strike="noStrike">
              <a:solidFill>
                <a:srgbClr val="000000"/>
              </a:solidFill>
              <a:latin typeface="Arial"/>
            </a:endParaRPr>
          </a:p>
        </p:txBody>
      </p:sp>
      <p:sp>
        <p:nvSpPr>
          <p:cNvPr id="568" name="Text 18"/>
          <p:cNvSpPr/>
          <p:nvPr/>
        </p:nvSpPr>
        <p:spPr>
          <a:xfrm>
            <a:off x="13277880" y="6256440"/>
            <a:ext cx="3904200" cy="59868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55000"/>
              </a:lnSpc>
              <a:tabLst>
                <a:tab algn="l" pos="0"/>
              </a:tabLst>
            </a:pPr>
            <a:r>
              <a:rPr b="0" lang="en-US" sz="1430" spc="-1" strike="noStrike">
                <a:solidFill>
                  <a:srgbClr val="1f2329"/>
                </a:solidFill>
                <a:latin typeface="Inter"/>
                <a:ea typeface="Inter"/>
              </a:rPr>
              <a:t>Every claim links to its source. Verify, dig deeper, trust the output.</a:t>
            </a:r>
            <a:endParaRPr b="0" lang="en-AU" sz="1430" spc="-1" strike="noStrike">
              <a:solidFill>
                <a:srgbClr val="000000"/>
              </a:solidFill>
              <a:latin typeface="Arial"/>
            </a:endParaRPr>
          </a:p>
        </p:txBody>
      </p:sp>
      <p:sp>
        <p:nvSpPr>
          <p:cNvPr id="569" name="Text 19"/>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22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570" name="Image 0" descr="preencoded.png"/>
          <p:cNvPicPr/>
          <p:nvPr/>
        </p:nvPicPr>
        <p:blipFill>
          <a:blip r:embed="rId1"/>
          <a:stretch/>
        </p:blipFill>
        <p:spPr>
          <a:xfrm>
            <a:off x="1219320" y="468360"/>
            <a:ext cx="304560" cy="304560"/>
          </a:xfrm>
          <a:prstGeom prst="rect">
            <a:avLst/>
          </a:prstGeom>
          <a:ln w="0">
            <a:noFill/>
          </a:ln>
        </p:spPr>
      </p:pic>
      <p:sp>
        <p:nvSpPr>
          <p:cNvPr id="571"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572"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573"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574"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575" name="Text 4"/>
          <p:cNvSpPr/>
          <p:nvPr/>
        </p:nvSpPr>
        <p:spPr>
          <a:xfrm>
            <a:off x="1409760" y="1619280"/>
            <a:ext cx="35809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RESEARCH · DECISION MATRIX</a:t>
            </a:r>
            <a:endParaRPr b="0" lang="en-AU" sz="1350" spc="-1" strike="noStrike">
              <a:solidFill>
                <a:srgbClr val="000000"/>
              </a:solidFill>
              <a:latin typeface="Arial"/>
            </a:endParaRPr>
          </a:p>
        </p:txBody>
      </p:sp>
      <p:sp>
        <p:nvSpPr>
          <p:cNvPr id="576"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When to reach for which.</a:t>
            </a:r>
            <a:endParaRPr b="0" lang="en-AU" sz="7200" spc="-1" strike="noStrike">
              <a:solidFill>
                <a:srgbClr val="000000"/>
              </a:solidFill>
              <a:latin typeface="Arial"/>
            </a:endParaRPr>
          </a:p>
        </p:txBody>
      </p:sp>
      <p:sp>
        <p:nvSpPr>
          <p:cNvPr id="577" name="Shape 6"/>
          <p:cNvSpPr/>
          <p:nvPr/>
        </p:nvSpPr>
        <p:spPr>
          <a:xfrm>
            <a:off x="1219320" y="346788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578" name="Shape 7"/>
          <p:cNvSpPr/>
          <p:nvPr/>
        </p:nvSpPr>
        <p:spPr>
          <a:xfrm>
            <a:off x="1219320" y="3916440"/>
            <a:ext cx="247608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79" name="Text 8"/>
          <p:cNvSpPr/>
          <p:nvPr/>
        </p:nvSpPr>
        <p:spPr>
          <a:xfrm>
            <a:off x="1362240" y="3983040"/>
            <a:ext cx="226656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RESEARCH</a:t>
            </a:r>
            <a:endParaRPr b="0" lang="en-AU" sz="1050" spc="-1" strike="noStrike">
              <a:solidFill>
                <a:srgbClr val="000000"/>
              </a:solidFill>
              <a:latin typeface="Arial"/>
            </a:endParaRPr>
          </a:p>
        </p:txBody>
      </p:sp>
      <p:sp>
        <p:nvSpPr>
          <p:cNvPr id="580" name="Text 9"/>
          <p:cNvSpPr/>
          <p:nvPr/>
        </p:nvSpPr>
        <p:spPr>
          <a:xfrm>
            <a:off x="4152960" y="3744000"/>
            <a:ext cx="6415920" cy="72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800" spc="-1" strike="noStrike">
                <a:solidFill>
                  <a:srgbClr val="0e1116"/>
                </a:solidFill>
                <a:latin typeface="Inter"/>
                <a:ea typeface="Inter"/>
              </a:rPr>
              <a:t>Multi-source synthesis. </a:t>
            </a:r>
            <a:r>
              <a:rPr b="0" lang="en-US" sz="1800" spc="-1" strike="noStrike">
                <a:solidFill>
                  <a:srgbClr val="1f2329"/>
                </a:solidFill>
                <a:latin typeface="Inter"/>
                <a:ea typeface="Inter"/>
              </a:rPr>
              <a:t>Market analysis, competitive research, comprehensive reports with citations.</a:t>
            </a:r>
            <a:endParaRPr b="0" lang="en-AU" sz="1800" spc="-1" strike="noStrike">
              <a:solidFill>
                <a:srgbClr val="000000"/>
              </a:solidFill>
              <a:latin typeface="Arial"/>
            </a:endParaRPr>
          </a:p>
        </p:txBody>
      </p:sp>
      <p:sp>
        <p:nvSpPr>
          <p:cNvPr id="581" name="Text 10"/>
          <p:cNvSpPr/>
          <p:nvPr/>
        </p:nvSpPr>
        <p:spPr>
          <a:xfrm>
            <a:off x="10839600" y="3777120"/>
            <a:ext cx="6415920" cy="6577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5000"/>
              </a:lnSpc>
              <a:tabLst>
                <a:tab algn="l" pos="0"/>
              </a:tabLst>
            </a:pPr>
            <a:r>
              <a:rPr b="0" lang="en-US" sz="1580" spc="-1" strike="noStrike">
                <a:solidFill>
                  <a:srgbClr val="1f2329"/>
                </a:solidFill>
                <a:latin typeface="Inter"/>
                <a:ea typeface="Inter"/>
              </a:rPr>
              <a:t>"Compare top 5 vendors for AI orchestration; pull internal notes about each."</a:t>
            </a:r>
            <a:endParaRPr b="0" lang="en-AU" sz="1580" spc="-1" strike="noStrike">
              <a:solidFill>
                <a:srgbClr val="000000"/>
              </a:solidFill>
              <a:latin typeface="Arial"/>
            </a:endParaRPr>
          </a:p>
        </p:txBody>
      </p:sp>
      <p:sp>
        <p:nvSpPr>
          <p:cNvPr id="582" name="Shape 11"/>
          <p:cNvSpPr/>
          <p:nvPr/>
        </p:nvSpPr>
        <p:spPr>
          <a:xfrm>
            <a:off x="1219320" y="469656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583" name="Shape 12"/>
          <p:cNvSpPr/>
          <p:nvPr/>
        </p:nvSpPr>
        <p:spPr>
          <a:xfrm>
            <a:off x="1219320" y="5145120"/>
            <a:ext cx="247608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84" name="Text 13"/>
          <p:cNvSpPr/>
          <p:nvPr/>
        </p:nvSpPr>
        <p:spPr>
          <a:xfrm>
            <a:off x="1362240" y="5211720"/>
            <a:ext cx="226656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WEB SEARCH</a:t>
            </a:r>
            <a:endParaRPr b="0" lang="en-AU" sz="1050" spc="-1" strike="noStrike">
              <a:solidFill>
                <a:srgbClr val="000000"/>
              </a:solidFill>
              <a:latin typeface="Arial"/>
            </a:endParaRPr>
          </a:p>
        </p:txBody>
      </p:sp>
      <p:sp>
        <p:nvSpPr>
          <p:cNvPr id="585" name="Text 14"/>
          <p:cNvSpPr/>
          <p:nvPr/>
        </p:nvSpPr>
        <p:spPr>
          <a:xfrm>
            <a:off x="4152960" y="4972680"/>
            <a:ext cx="6415920" cy="72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800" spc="-1" strike="noStrike">
                <a:solidFill>
                  <a:srgbClr val="0e1116"/>
                </a:solidFill>
                <a:latin typeface="Inter"/>
                <a:ea typeface="Inter"/>
              </a:rPr>
              <a:t>Quick fact. </a:t>
            </a:r>
            <a:r>
              <a:rPr b="0" lang="en-US" sz="1800" spc="-1" strike="noStrike">
                <a:solidFill>
                  <a:srgbClr val="1f2329"/>
                </a:solidFill>
                <a:latin typeface="Inter"/>
                <a:ea typeface="Inter"/>
              </a:rPr>
              <a:t>One or two sources, answer in a sentence, speed over depth.</a:t>
            </a:r>
            <a:endParaRPr b="0" lang="en-AU" sz="1800" spc="-1" strike="noStrike">
              <a:solidFill>
                <a:srgbClr val="000000"/>
              </a:solidFill>
              <a:latin typeface="Arial"/>
            </a:endParaRPr>
          </a:p>
        </p:txBody>
      </p:sp>
      <p:sp>
        <p:nvSpPr>
          <p:cNvPr id="586" name="Text 15"/>
          <p:cNvSpPr/>
          <p:nvPr/>
        </p:nvSpPr>
        <p:spPr>
          <a:xfrm>
            <a:off x="10839600" y="5160600"/>
            <a:ext cx="641592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0" lang="en-US" sz="1580" spc="-1" strike="noStrike">
                <a:solidFill>
                  <a:srgbClr val="1f2329"/>
                </a:solidFill>
                <a:latin typeface="Inter"/>
                <a:ea typeface="Inter"/>
              </a:rPr>
              <a:t>"What's the current Fed funds rate?"</a:t>
            </a:r>
            <a:endParaRPr b="0" lang="en-AU" sz="1580" spc="-1" strike="noStrike">
              <a:solidFill>
                <a:srgbClr val="000000"/>
              </a:solidFill>
              <a:latin typeface="Arial"/>
            </a:endParaRPr>
          </a:p>
        </p:txBody>
      </p:sp>
      <p:sp>
        <p:nvSpPr>
          <p:cNvPr id="587" name="Shape 16"/>
          <p:cNvSpPr/>
          <p:nvPr/>
        </p:nvSpPr>
        <p:spPr>
          <a:xfrm>
            <a:off x="1219320" y="592524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588" name="Shape 17"/>
          <p:cNvSpPr/>
          <p:nvPr/>
        </p:nvSpPr>
        <p:spPr>
          <a:xfrm>
            <a:off x="1219320" y="6373800"/>
            <a:ext cx="2476080" cy="340920"/>
          </a:xfrm>
          <a:prstGeom prst="roundRect">
            <a:avLst>
              <a:gd name="adj" fmla="val 50000"/>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89" name="Text 18"/>
          <p:cNvSpPr/>
          <p:nvPr/>
        </p:nvSpPr>
        <p:spPr>
          <a:xfrm>
            <a:off x="1362240" y="6440400"/>
            <a:ext cx="226656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7a736a"/>
                </a:solidFill>
                <a:latin typeface="JetBrains Mono"/>
                <a:ea typeface="JetBrains Mono"/>
              </a:rPr>
              <a:t>EXTENDED THINKING</a:t>
            </a:r>
            <a:endParaRPr b="0" lang="en-AU" sz="1050" spc="-1" strike="noStrike">
              <a:solidFill>
                <a:srgbClr val="000000"/>
              </a:solidFill>
              <a:latin typeface="Arial"/>
            </a:endParaRPr>
          </a:p>
        </p:txBody>
      </p:sp>
      <p:sp>
        <p:nvSpPr>
          <p:cNvPr id="590" name="Text 19"/>
          <p:cNvSpPr/>
          <p:nvPr/>
        </p:nvSpPr>
        <p:spPr>
          <a:xfrm>
            <a:off x="4152960" y="6201360"/>
            <a:ext cx="6415920" cy="72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800" spc="-1" strike="noStrike">
                <a:solidFill>
                  <a:srgbClr val="0e1116"/>
                </a:solidFill>
                <a:latin typeface="Inter"/>
                <a:ea typeface="Inter"/>
              </a:rPr>
              <a:t>Deep reasoning. </a:t>
            </a:r>
            <a:r>
              <a:rPr b="0" lang="en-US" sz="1800" spc="-1" strike="noStrike">
                <a:solidFill>
                  <a:srgbClr val="1f2329"/>
                </a:solidFill>
                <a:latin typeface="Inter"/>
                <a:ea typeface="Inter"/>
              </a:rPr>
              <a:t>No external info needed — math, debugging, logical analysis.</a:t>
            </a:r>
            <a:endParaRPr b="0" lang="en-AU" sz="1800" spc="-1" strike="noStrike">
              <a:solidFill>
                <a:srgbClr val="000000"/>
              </a:solidFill>
              <a:latin typeface="Arial"/>
            </a:endParaRPr>
          </a:p>
        </p:txBody>
      </p:sp>
      <p:sp>
        <p:nvSpPr>
          <p:cNvPr id="591" name="Text 20"/>
          <p:cNvSpPr/>
          <p:nvPr/>
        </p:nvSpPr>
        <p:spPr>
          <a:xfrm>
            <a:off x="10839600" y="6389280"/>
            <a:ext cx="641592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0" lang="en-US" sz="1580" spc="-1" strike="noStrike">
                <a:solidFill>
                  <a:srgbClr val="1f2329"/>
                </a:solidFill>
                <a:latin typeface="Inter"/>
                <a:ea typeface="Inter"/>
              </a:rPr>
              <a:t>"Find the bug in this 200-line function."</a:t>
            </a:r>
            <a:endParaRPr b="0" lang="en-AU" sz="1580" spc="-1" strike="noStrike">
              <a:solidFill>
                <a:srgbClr val="000000"/>
              </a:solidFill>
              <a:latin typeface="Arial"/>
            </a:endParaRPr>
          </a:p>
        </p:txBody>
      </p:sp>
      <p:sp>
        <p:nvSpPr>
          <p:cNvPr id="592" name="Shape 21"/>
          <p:cNvSpPr/>
          <p:nvPr/>
        </p:nvSpPr>
        <p:spPr>
          <a:xfrm>
            <a:off x="1219320" y="715392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593" name="Shape 22"/>
          <p:cNvSpPr/>
          <p:nvPr/>
        </p:nvSpPr>
        <p:spPr>
          <a:xfrm>
            <a:off x="1219320" y="7602480"/>
            <a:ext cx="247608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94" name="Text 23"/>
          <p:cNvSpPr/>
          <p:nvPr/>
        </p:nvSpPr>
        <p:spPr>
          <a:xfrm>
            <a:off x="1362240" y="7669080"/>
            <a:ext cx="226656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ENTERPRISE SEARCH</a:t>
            </a:r>
            <a:endParaRPr b="0" lang="en-AU" sz="1050" spc="-1" strike="noStrike">
              <a:solidFill>
                <a:srgbClr val="000000"/>
              </a:solidFill>
              <a:latin typeface="Arial"/>
            </a:endParaRPr>
          </a:p>
        </p:txBody>
      </p:sp>
      <p:sp>
        <p:nvSpPr>
          <p:cNvPr id="595" name="Text 24"/>
          <p:cNvSpPr/>
          <p:nvPr/>
        </p:nvSpPr>
        <p:spPr>
          <a:xfrm>
            <a:off x="4152960" y="7430400"/>
            <a:ext cx="6415920" cy="7236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1" lang="en-US" sz="1800" spc="-1" strike="noStrike">
                <a:solidFill>
                  <a:srgbClr val="0e1116"/>
                </a:solidFill>
                <a:latin typeface="Inter"/>
                <a:ea typeface="Inter"/>
              </a:rPr>
              <a:t>Internal-only knowledge. </a:t>
            </a:r>
            <a:r>
              <a:rPr b="0" lang="en-US" sz="1800" spc="-1" strike="noStrike">
                <a:solidFill>
                  <a:srgbClr val="1f2329"/>
                </a:solidFill>
                <a:latin typeface="Inter"/>
                <a:ea typeface="Inter"/>
              </a:rPr>
              <a:t>Your docs, Slack threads, meeting notes — questions specific to </a:t>
            </a:r>
            <a:r>
              <a:rPr b="0" i="1" lang="en-US" sz="1800" spc="-1" strike="noStrike">
                <a:solidFill>
                  <a:srgbClr val="1f2329"/>
                </a:solidFill>
                <a:latin typeface="Inter"/>
                <a:ea typeface="Inter"/>
              </a:rPr>
              <a:t>your </a:t>
            </a:r>
            <a:r>
              <a:rPr b="0" lang="en-US" sz="1800" spc="-1" strike="noStrike">
                <a:solidFill>
                  <a:srgbClr val="1f2329"/>
                </a:solidFill>
                <a:latin typeface="Inter"/>
                <a:ea typeface="Inter"/>
              </a:rPr>
              <a:t>company.</a:t>
            </a:r>
            <a:endParaRPr b="0" lang="en-AU" sz="1800" spc="-1" strike="noStrike">
              <a:solidFill>
                <a:srgbClr val="000000"/>
              </a:solidFill>
              <a:latin typeface="Arial"/>
            </a:endParaRPr>
          </a:p>
        </p:txBody>
      </p:sp>
      <p:sp>
        <p:nvSpPr>
          <p:cNvPr id="596" name="Text 25"/>
          <p:cNvSpPr/>
          <p:nvPr/>
        </p:nvSpPr>
        <p:spPr>
          <a:xfrm>
            <a:off x="10839600" y="7617960"/>
            <a:ext cx="641592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0" lang="en-US" sz="1580" spc="-1" strike="noStrike">
                <a:solidFill>
                  <a:srgbClr val="1f2329"/>
                </a:solidFill>
                <a:latin typeface="Inter"/>
                <a:ea typeface="Inter"/>
              </a:rPr>
              <a:t>"How does our auth system work?"</a:t>
            </a:r>
            <a:endParaRPr b="0" lang="en-AU" sz="1580" spc="-1" strike="noStrike">
              <a:solidFill>
                <a:srgbClr val="000000"/>
              </a:solidFill>
              <a:latin typeface="Arial"/>
            </a:endParaRPr>
          </a:p>
        </p:txBody>
      </p:sp>
      <p:sp>
        <p:nvSpPr>
          <p:cNvPr id="597" name="Shape 26"/>
          <p:cNvSpPr/>
          <p:nvPr/>
        </p:nvSpPr>
        <p:spPr>
          <a:xfrm>
            <a:off x="1219320" y="838260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598" name="Text 27"/>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23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116"/>
        </a:solidFill>
      </p:bgPr>
    </p:bg>
    <p:spTree>
      <p:nvGrpSpPr>
        <p:cNvPr id="1" name=""/>
        <p:cNvGrpSpPr/>
        <p:nvPr/>
      </p:nvGrpSpPr>
      <p:grpSpPr>
        <a:xfrm>
          <a:off x="0" y="0"/>
          <a:ext cx="0" cy="0"/>
          <a:chOff x="0" y="0"/>
          <a:chExt cx="0" cy="0"/>
        </a:xfrm>
      </p:grpSpPr>
      <p:pic>
        <p:nvPicPr>
          <p:cNvPr id="599" name="Image 0" descr="preencoded.png"/>
          <p:cNvPicPr/>
          <p:nvPr/>
        </p:nvPicPr>
        <p:blipFill>
          <a:blip r:embed="rId1"/>
          <a:stretch/>
        </p:blipFill>
        <p:spPr>
          <a:xfrm>
            <a:off x="1219320" y="468360"/>
            <a:ext cx="304560" cy="304560"/>
          </a:xfrm>
          <a:prstGeom prst="rect">
            <a:avLst/>
          </a:prstGeom>
          <a:ln w="0">
            <a:noFill/>
          </a:ln>
        </p:spPr>
      </p:pic>
      <p:sp>
        <p:nvSpPr>
          <p:cNvPr id="600"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f4efe6"/>
                </a:solidFill>
                <a:latin typeface="Space Grotesk"/>
                <a:ea typeface="Space Grotesk"/>
              </a:rPr>
              <a:t>Agentic</a:t>
            </a:r>
            <a:endParaRPr b="0" lang="en-AU" sz="1650" spc="-1" strike="noStrike">
              <a:solidFill>
                <a:srgbClr val="ffffff"/>
              </a:solidFill>
              <a:latin typeface="Arial"/>
            </a:endParaRPr>
          </a:p>
        </p:txBody>
      </p:sp>
      <p:sp>
        <p:nvSpPr>
          <p:cNvPr id="601"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ffffff"/>
              </a:solidFill>
              <a:latin typeface="Arial"/>
            </a:endParaRPr>
          </a:p>
        </p:txBody>
      </p:sp>
      <p:sp>
        <p:nvSpPr>
          <p:cNvPr id="602"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f4efe6"/>
                </a:solidFill>
                <a:latin typeface="Space Grotesk"/>
                <a:ea typeface="Space Grotesk"/>
              </a:rPr>
              <a:t>Automations</a:t>
            </a:r>
            <a:endParaRPr b="0" lang="en-AU" sz="1650" spc="-1" strike="noStrike">
              <a:solidFill>
                <a:srgbClr val="ffffff"/>
              </a:solidFill>
              <a:latin typeface="Arial"/>
            </a:endParaRPr>
          </a:p>
        </p:txBody>
      </p:sp>
      <p:sp>
        <p:nvSpPr>
          <p:cNvPr id="603" name="Text 3"/>
          <p:cNvSpPr/>
          <p:nvPr/>
        </p:nvSpPr>
        <p:spPr>
          <a:xfrm>
            <a:off x="1219320" y="3112920"/>
            <a:ext cx="6075720" cy="4098960"/>
          </a:xfrm>
          <a:prstGeom prst="rect">
            <a:avLst/>
          </a:prstGeom>
          <a:noFill/>
          <a:ln w="0">
            <a:noFill/>
          </a:ln>
        </p:spPr>
        <p:style>
          <a:lnRef idx="0"/>
          <a:fillRef idx="0"/>
          <a:effectRef idx="0"/>
          <a:fontRef idx="minor"/>
        </p:style>
        <p:txBody>
          <a:bodyPr lIns="25560" rIns="25560" tIns="25560" bIns="25560" anchor="t">
            <a:normAutofit fontScale="83333"/>
          </a:bodyPr>
          <a:p>
            <a:pPr defTabSz="914400">
              <a:lnSpc>
                <a:spcPct val="82000"/>
              </a:lnSpc>
              <a:tabLst>
                <a:tab algn="l" pos="0"/>
              </a:tabLst>
            </a:pPr>
            <a:r>
              <a:rPr b="0" lang="en-US" sz="39000" spc="-1172" strike="noStrike">
                <a:solidFill>
                  <a:srgbClr val="e36a2c"/>
                </a:solidFill>
                <a:latin typeface="Space Grotesk"/>
                <a:ea typeface="Space Grotesk"/>
              </a:rPr>
              <a:t>03</a:t>
            </a:r>
            <a:endParaRPr b="0" lang="en-AU" sz="39000" spc="-1" strike="noStrike">
              <a:solidFill>
                <a:srgbClr val="ffffff"/>
              </a:solidFill>
              <a:latin typeface="Arial"/>
            </a:endParaRPr>
          </a:p>
        </p:txBody>
      </p:sp>
      <p:sp>
        <p:nvSpPr>
          <p:cNvPr id="604" name="Shape 4"/>
          <p:cNvSpPr/>
          <p:nvPr/>
        </p:nvSpPr>
        <p:spPr>
          <a:xfrm>
            <a:off x="8032680" y="369864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605" name="Text 5"/>
          <p:cNvSpPr/>
          <p:nvPr/>
        </p:nvSpPr>
        <p:spPr>
          <a:xfrm>
            <a:off x="8223120" y="3622320"/>
            <a:ext cx="303012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f4efe6">
                    <a:alpha val="70000"/>
                  </a:srgbClr>
                </a:solidFill>
                <a:latin typeface="JetBrains Mono"/>
                <a:ea typeface="JetBrains Mono"/>
              </a:rPr>
              <a:t>PART THREE · 5 MINUTES</a:t>
            </a:r>
            <a:endParaRPr b="0" lang="en-AU" sz="1350" spc="-1" strike="noStrike">
              <a:solidFill>
                <a:srgbClr val="ffffff"/>
              </a:solidFill>
              <a:latin typeface="Arial"/>
            </a:endParaRPr>
          </a:p>
        </p:txBody>
      </p:sp>
      <p:sp>
        <p:nvSpPr>
          <p:cNvPr id="606" name="Text 6"/>
          <p:cNvSpPr/>
          <p:nvPr/>
        </p:nvSpPr>
        <p:spPr>
          <a:xfrm>
            <a:off x="8032680" y="4175280"/>
            <a:ext cx="88293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f4efe6"/>
                </a:solidFill>
                <a:latin typeface="Space Grotesk"/>
                <a:ea typeface="Space Grotesk"/>
              </a:rPr>
              <a:t>Pick the right tool.</a:t>
            </a:r>
            <a:endParaRPr b="0" lang="en-AU" sz="7200" spc="-1" strike="noStrike">
              <a:solidFill>
                <a:srgbClr val="ffffff"/>
              </a:solidFill>
              <a:latin typeface="Arial"/>
            </a:endParaRPr>
          </a:p>
        </p:txBody>
      </p:sp>
      <p:sp>
        <p:nvSpPr>
          <p:cNvPr id="607" name="Text 7"/>
          <p:cNvSpPr/>
          <p:nvPr/>
        </p:nvSpPr>
        <p:spPr>
          <a:xfrm>
            <a:off x="8032680" y="5394600"/>
            <a:ext cx="8829360" cy="1335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42000"/>
              </a:lnSpc>
              <a:tabLst>
                <a:tab algn="l" pos="0"/>
              </a:tabLst>
            </a:pPr>
            <a:r>
              <a:rPr b="0" lang="en-US" sz="2400" spc="-12" strike="noStrike">
                <a:solidFill>
                  <a:srgbClr val="f4efe6">
                    <a:alpha val="78000"/>
                  </a:srgbClr>
                </a:solidFill>
                <a:latin typeface="Inter"/>
                <a:ea typeface="Inter"/>
              </a:rPr>
              <a:t>Five short reference cards — Code · Slack · Excel · PowerPoint · Chrome. When you reach for each and what to expect.</a:t>
            </a:r>
            <a:endParaRPr b="0" lang="en-AU" sz="2400" spc="-1" strike="noStrike">
              <a:solidFill>
                <a:srgbClr val="ffffff"/>
              </a:solidFill>
              <a:latin typeface="Arial"/>
            </a:endParaRPr>
          </a:p>
        </p:txBody>
      </p:sp>
      <p:sp>
        <p:nvSpPr>
          <p:cNvPr id="608" name="Text 8"/>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f4efe6">
                    <a:alpha val="50000"/>
                  </a:srgbClr>
                </a:solidFill>
                <a:latin typeface="JetBrains Mono"/>
                <a:ea typeface="JetBrains Mono"/>
              </a:rPr>
              <a:t>24 / 30</a:t>
            </a:r>
            <a:endParaRPr b="0" lang="en-AU"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609" name="Image 0" descr="preencoded.png"/>
          <p:cNvPicPr/>
          <p:nvPr/>
        </p:nvPicPr>
        <p:blipFill>
          <a:blip r:embed="rId1"/>
          <a:stretch/>
        </p:blipFill>
        <p:spPr>
          <a:xfrm>
            <a:off x="1219320" y="468360"/>
            <a:ext cx="304560" cy="304560"/>
          </a:xfrm>
          <a:prstGeom prst="rect">
            <a:avLst/>
          </a:prstGeom>
          <a:ln w="0">
            <a:noFill/>
          </a:ln>
        </p:spPr>
      </p:pic>
      <p:sp>
        <p:nvSpPr>
          <p:cNvPr id="610"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611"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612"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613" name="Shape 3"/>
          <p:cNvSpPr/>
          <p:nvPr/>
        </p:nvSpPr>
        <p:spPr>
          <a:xfrm>
            <a:off x="1219320" y="170496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614" name="Text 4"/>
          <p:cNvSpPr/>
          <p:nvPr/>
        </p:nvSpPr>
        <p:spPr>
          <a:xfrm>
            <a:off x="1409760" y="1628640"/>
            <a:ext cx="11458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09</a:t>
            </a:r>
            <a:endParaRPr b="0" lang="en-AU" sz="1350" spc="-1" strike="noStrike">
              <a:solidFill>
                <a:srgbClr val="000000"/>
              </a:solidFill>
              <a:latin typeface="Arial"/>
            </a:endParaRPr>
          </a:p>
        </p:txBody>
      </p:sp>
      <p:sp>
        <p:nvSpPr>
          <p:cNvPr id="615" name="Text 5"/>
          <p:cNvSpPr/>
          <p:nvPr/>
        </p:nvSpPr>
        <p:spPr>
          <a:xfrm>
            <a:off x="1219320" y="2105640"/>
            <a:ext cx="6409440" cy="18666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Use Claude Code when…</a:t>
            </a:r>
            <a:endParaRPr b="0" lang="en-AU" sz="7200" spc="-1" strike="noStrike">
              <a:solidFill>
                <a:srgbClr val="000000"/>
              </a:solidFill>
              <a:latin typeface="Arial"/>
            </a:endParaRPr>
          </a:p>
        </p:txBody>
      </p:sp>
      <p:sp>
        <p:nvSpPr>
          <p:cNvPr id="616" name="Text 6"/>
          <p:cNvSpPr/>
          <p:nvPr/>
        </p:nvSpPr>
        <p:spPr>
          <a:xfrm>
            <a:off x="8216640" y="3899160"/>
            <a:ext cx="8928000" cy="3211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46000"/>
              </a:lnSpc>
              <a:tabLst>
                <a:tab algn="l" pos="0"/>
              </a:tabLst>
            </a:pPr>
            <a:r>
              <a:rPr b="0" lang="en-US" sz="1580" spc="-1" strike="noStrike">
                <a:solidFill>
                  <a:srgbClr val="1f2329"/>
                </a:solidFill>
                <a:latin typeface="Inter"/>
                <a:ea typeface="Inter"/>
              </a:rPr>
              <a:t>You want to build features by describing them in plain English — let Claude write the code, run tests, create commits</a:t>
            </a:r>
            <a:endParaRPr b="0" lang="en-AU" sz="1580" spc="-1" strike="noStrike">
              <a:solidFill>
                <a:srgbClr val="000000"/>
              </a:solidFill>
              <a:latin typeface="Arial"/>
            </a:endParaRPr>
          </a:p>
          <a:p>
            <a:pPr defTabSz="914400">
              <a:lnSpc>
                <a:spcPct val="146000"/>
              </a:lnSpc>
              <a:tabLst>
                <a:tab algn="l" pos="0"/>
              </a:tabLst>
            </a:pPr>
            <a:r>
              <a:rPr b="0" lang="en-US" sz="1580" spc="-1" strike="noStrike">
                <a:solidFill>
                  <a:srgbClr val="1f2329"/>
                </a:solidFill>
                <a:latin typeface="Inter"/>
                <a:ea typeface="Inter"/>
              </a:rPr>
              <a:t>You need to debug — paste error messages and have Claude analyze the codebase to fix the problem</a:t>
            </a:r>
            <a:endParaRPr b="0" lang="en-AU" sz="1580" spc="-1" strike="noStrike">
              <a:solidFill>
                <a:srgbClr val="000000"/>
              </a:solidFill>
              <a:latin typeface="Arial"/>
            </a:endParaRPr>
          </a:p>
          <a:p>
            <a:pPr defTabSz="914400">
              <a:lnSpc>
                <a:spcPct val="146000"/>
              </a:lnSpc>
              <a:tabLst>
                <a:tab algn="l" pos="0"/>
              </a:tabLst>
            </a:pPr>
            <a:r>
              <a:rPr b="0" lang="en-US" sz="1580" spc="-1" strike="noStrike">
                <a:solidFill>
                  <a:srgbClr val="1f2329"/>
                </a:solidFill>
                <a:latin typeface="Inter"/>
                <a:ea typeface="Inter"/>
              </a:rPr>
              <a:t>You're navigating an unfamiliar codebase and want to ask how different parts work together</a:t>
            </a:r>
            <a:endParaRPr b="0" lang="en-AU" sz="1580" spc="-1" strike="noStrike">
              <a:solidFill>
                <a:srgbClr val="000000"/>
              </a:solidFill>
              <a:latin typeface="Arial"/>
            </a:endParaRPr>
          </a:p>
          <a:p>
            <a:pPr defTabSz="914400">
              <a:lnSpc>
                <a:spcPct val="146000"/>
              </a:lnSpc>
              <a:tabLst>
                <a:tab algn="l" pos="0"/>
              </a:tabLst>
            </a:pPr>
            <a:r>
              <a:rPr b="0" lang="en-US" sz="1580" spc="-1" strike="noStrike">
                <a:solidFill>
                  <a:srgbClr val="1f2329"/>
                </a:solidFill>
                <a:latin typeface="Inter"/>
                <a:ea typeface="Inter"/>
              </a:rPr>
              <a:t>You want to automate tedious tasks: lint errors, merge conflicts, release notes</a:t>
            </a:r>
            <a:endParaRPr b="0" lang="en-AU" sz="1580" spc="-1" strike="noStrike">
              <a:solidFill>
                <a:srgbClr val="000000"/>
              </a:solidFill>
              <a:latin typeface="Arial"/>
            </a:endParaRPr>
          </a:p>
          <a:p>
            <a:pPr defTabSz="914400">
              <a:lnSpc>
                <a:spcPct val="146000"/>
              </a:lnSpc>
              <a:tabLst>
                <a:tab algn="l" pos="0"/>
              </a:tabLst>
            </a:pPr>
            <a:r>
              <a:rPr b="0" lang="en-US" sz="1580" spc="-1" strike="noStrike">
                <a:solidFill>
                  <a:srgbClr val="1f2329"/>
                </a:solidFill>
                <a:latin typeface="Inter"/>
                <a:ea typeface="Inter"/>
              </a:rPr>
              <a:t>You prefer working in your terminal alongside your existing IDE</a:t>
            </a:r>
            <a:endParaRPr b="0" lang="en-AU" sz="1580" spc="-1" strike="noStrike">
              <a:solidFill>
                <a:srgbClr val="000000"/>
              </a:solidFill>
              <a:latin typeface="Arial"/>
            </a:endParaRPr>
          </a:p>
        </p:txBody>
      </p:sp>
      <p:sp>
        <p:nvSpPr>
          <p:cNvPr id="617" name="Text 7"/>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25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618" name="Image 0" descr="preencoded.png"/>
          <p:cNvPicPr/>
          <p:nvPr/>
        </p:nvPicPr>
        <p:blipFill>
          <a:blip r:embed="rId1"/>
          <a:stretch/>
        </p:blipFill>
        <p:spPr>
          <a:xfrm>
            <a:off x="1219320" y="468360"/>
            <a:ext cx="304560" cy="304560"/>
          </a:xfrm>
          <a:prstGeom prst="rect">
            <a:avLst/>
          </a:prstGeom>
          <a:ln w="0">
            <a:noFill/>
          </a:ln>
        </p:spPr>
      </p:pic>
      <p:sp>
        <p:nvSpPr>
          <p:cNvPr id="619"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620"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621"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622" name="Shape 3"/>
          <p:cNvSpPr/>
          <p:nvPr/>
        </p:nvSpPr>
        <p:spPr>
          <a:xfrm>
            <a:off x="1219320" y="170496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623" name="Text 4"/>
          <p:cNvSpPr/>
          <p:nvPr/>
        </p:nvSpPr>
        <p:spPr>
          <a:xfrm>
            <a:off x="1409760" y="1628640"/>
            <a:ext cx="11458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10</a:t>
            </a:r>
            <a:endParaRPr b="0" lang="en-AU" sz="1350" spc="-1" strike="noStrike">
              <a:solidFill>
                <a:srgbClr val="000000"/>
              </a:solidFill>
              <a:latin typeface="Arial"/>
            </a:endParaRPr>
          </a:p>
        </p:txBody>
      </p:sp>
      <p:sp>
        <p:nvSpPr>
          <p:cNvPr id="624" name="Text 5"/>
          <p:cNvSpPr/>
          <p:nvPr/>
        </p:nvSpPr>
        <p:spPr>
          <a:xfrm>
            <a:off x="1219320" y="2105640"/>
            <a:ext cx="6409440" cy="18666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Use Claude in Slack when…</a:t>
            </a:r>
            <a:endParaRPr b="0" lang="en-AU" sz="7200" spc="-1" strike="noStrike">
              <a:solidFill>
                <a:srgbClr val="000000"/>
              </a:solidFill>
              <a:latin typeface="Arial"/>
            </a:endParaRPr>
          </a:p>
        </p:txBody>
      </p:sp>
      <p:sp>
        <p:nvSpPr>
          <p:cNvPr id="625" name="Text 6"/>
          <p:cNvSpPr/>
          <p:nvPr/>
        </p:nvSpPr>
        <p:spPr>
          <a:xfrm>
            <a:off x="8356680" y="4150080"/>
            <a:ext cx="8973000" cy="6217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6000"/>
              </a:lnSpc>
              <a:tabLst>
                <a:tab algn="l" pos="0"/>
              </a:tabLst>
            </a:pPr>
            <a:r>
              <a:rPr b="0" lang="en-US" sz="1580" spc="-1" strike="noStrike">
                <a:solidFill>
                  <a:srgbClr val="1f2329"/>
                </a:solidFill>
                <a:latin typeface="Inter"/>
                <a:ea typeface="Inter"/>
              </a:rPr>
              <a:t>You want to draft responses, summarize threads, or break down complex discussions without leaving Slack</a:t>
            </a:r>
            <a:endParaRPr b="0" lang="en-AU" sz="1580" spc="-1" strike="noStrike">
              <a:solidFill>
                <a:srgbClr val="000000"/>
              </a:solidFill>
              <a:latin typeface="Arial"/>
            </a:endParaRPr>
          </a:p>
        </p:txBody>
      </p:sp>
      <p:sp>
        <p:nvSpPr>
          <p:cNvPr id="626" name="Text 7"/>
          <p:cNvSpPr/>
          <p:nvPr/>
        </p:nvSpPr>
        <p:spPr>
          <a:xfrm>
            <a:off x="8356680" y="4943520"/>
            <a:ext cx="8973000" cy="6217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6000"/>
              </a:lnSpc>
              <a:tabLst>
                <a:tab algn="l" pos="0"/>
              </a:tabLst>
            </a:pPr>
            <a:r>
              <a:rPr b="0" lang="en-US" sz="1580" spc="-1" strike="noStrike">
                <a:solidFill>
                  <a:srgbClr val="1f2329"/>
                </a:solidFill>
                <a:latin typeface="Inter"/>
                <a:ea typeface="Inter"/>
              </a:rPr>
              <a:t>You need to prep for meetings — pull together related conversations and shared docs from your workspace</a:t>
            </a:r>
            <a:endParaRPr b="0" lang="en-AU" sz="1580" spc="-1" strike="noStrike">
              <a:solidFill>
                <a:srgbClr val="000000"/>
              </a:solidFill>
              <a:latin typeface="Arial"/>
            </a:endParaRPr>
          </a:p>
        </p:txBody>
      </p:sp>
      <p:sp>
        <p:nvSpPr>
          <p:cNvPr id="627" name="Text 8"/>
          <p:cNvSpPr/>
          <p:nvPr/>
        </p:nvSpPr>
        <p:spPr>
          <a:xfrm>
            <a:off x="8356680" y="5737320"/>
            <a:ext cx="8973000" cy="621720"/>
          </a:xfrm>
          <a:prstGeom prst="rect">
            <a:avLst/>
          </a:prstGeom>
          <a:noFill/>
          <a:ln w="0">
            <a:noFill/>
          </a:ln>
        </p:spPr>
        <p:style>
          <a:lnRef idx="0"/>
          <a:fillRef idx="0"/>
          <a:effectRef idx="0"/>
          <a:fontRef idx="minor"/>
        </p:style>
        <p:txBody>
          <a:bodyPr lIns="25560" rIns="25560" tIns="25560" bIns="25560" anchor="t">
            <a:normAutofit fontScale="93333" lnSpcReduction="20000"/>
          </a:bodyPr>
          <a:p>
            <a:pPr defTabSz="914400">
              <a:lnSpc>
                <a:spcPct val="146000"/>
              </a:lnSpc>
              <a:tabLst>
                <a:tab algn="l" pos="0"/>
              </a:tabLst>
            </a:pPr>
            <a:r>
              <a:rPr b="0" lang="en-US" sz="1580" spc="-1" strike="noStrike">
                <a:solidFill>
                  <a:srgbClr val="1f2329"/>
                </a:solidFill>
                <a:latin typeface="Inter"/>
                <a:ea typeface="Inter"/>
              </a:rPr>
              <a:t>You're onboarding to a new team and want help understanding ongoing projects via channel history</a:t>
            </a:r>
            <a:endParaRPr b="0" lang="en-AU" sz="1580" spc="-1" strike="noStrike">
              <a:solidFill>
                <a:srgbClr val="000000"/>
              </a:solidFill>
              <a:latin typeface="Arial"/>
            </a:endParaRPr>
          </a:p>
        </p:txBody>
      </p:sp>
      <p:sp>
        <p:nvSpPr>
          <p:cNvPr id="628" name="Text 9"/>
          <p:cNvSpPr/>
          <p:nvPr/>
        </p:nvSpPr>
        <p:spPr>
          <a:xfrm>
            <a:off x="8637120" y="6530760"/>
            <a:ext cx="684000" cy="329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1" lang="en-US" sz="1580" spc="250" strike="noStrike">
                <a:solidFill>
                  <a:srgbClr val="e36a2c"/>
                </a:solidFill>
                <a:latin typeface="JetBrains Mono"/>
                <a:ea typeface="JetBrains Mono"/>
              </a:rPr>
              <a:t>DEMO</a:t>
            </a:r>
            <a:endParaRPr b="0" lang="en-AU" sz="1580" spc="-1" strike="noStrike">
              <a:solidFill>
                <a:srgbClr val="000000"/>
              </a:solidFill>
              <a:latin typeface="Arial"/>
            </a:endParaRPr>
          </a:p>
        </p:txBody>
      </p:sp>
      <p:sp>
        <p:nvSpPr>
          <p:cNvPr id="629" name="Text 10"/>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26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630" name="Image 0" descr="preencoded.png"/>
          <p:cNvPicPr/>
          <p:nvPr/>
        </p:nvPicPr>
        <p:blipFill>
          <a:blip r:embed="rId1"/>
          <a:stretch/>
        </p:blipFill>
        <p:spPr>
          <a:xfrm>
            <a:off x="1219320" y="468360"/>
            <a:ext cx="304560" cy="304560"/>
          </a:xfrm>
          <a:prstGeom prst="rect">
            <a:avLst/>
          </a:prstGeom>
          <a:ln w="0">
            <a:noFill/>
          </a:ln>
        </p:spPr>
      </p:pic>
      <p:sp>
        <p:nvSpPr>
          <p:cNvPr id="631"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632"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633"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634" name="Shape 3"/>
          <p:cNvSpPr/>
          <p:nvPr/>
        </p:nvSpPr>
        <p:spPr>
          <a:xfrm>
            <a:off x="1219320" y="170496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635" name="Text 4"/>
          <p:cNvSpPr/>
          <p:nvPr/>
        </p:nvSpPr>
        <p:spPr>
          <a:xfrm>
            <a:off x="1409760" y="1628640"/>
            <a:ext cx="11458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 11</a:t>
            </a:r>
            <a:endParaRPr b="0" lang="en-AU" sz="1350" spc="-1" strike="noStrike">
              <a:solidFill>
                <a:srgbClr val="000000"/>
              </a:solidFill>
              <a:latin typeface="Arial"/>
            </a:endParaRPr>
          </a:p>
        </p:txBody>
      </p:sp>
      <p:sp>
        <p:nvSpPr>
          <p:cNvPr id="636" name="Text 5"/>
          <p:cNvSpPr/>
          <p:nvPr/>
        </p:nvSpPr>
        <p:spPr>
          <a:xfrm>
            <a:off x="1219320" y="2105640"/>
            <a:ext cx="6409440" cy="18666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Use Claude for Excel when…</a:t>
            </a:r>
            <a:endParaRPr b="0" lang="en-AU" sz="7200" spc="-1" strike="noStrike">
              <a:solidFill>
                <a:srgbClr val="000000"/>
              </a:solidFill>
              <a:latin typeface="Arial"/>
            </a:endParaRPr>
          </a:p>
        </p:txBody>
      </p:sp>
      <p:sp>
        <p:nvSpPr>
          <p:cNvPr id="637" name="Text 6"/>
          <p:cNvSpPr/>
          <p:nvPr/>
        </p:nvSpPr>
        <p:spPr>
          <a:xfrm>
            <a:off x="8356680" y="3648600"/>
            <a:ext cx="8973000" cy="6217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6000"/>
              </a:lnSpc>
              <a:tabLst>
                <a:tab algn="l" pos="0"/>
              </a:tabLst>
            </a:pPr>
            <a:r>
              <a:rPr b="0" lang="en-US" sz="1580" spc="-1" strike="noStrike">
                <a:solidFill>
                  <a:srgbClr val="1f2329"/>
                </a:solidFill>
                <a:latin typeface="Inter"/>
                <a:ea typeface="Inter"/>
              </a:rPr>
              <a:t>You're working with a complex multi-tab workbook and want to understand how formulas flow across sheets</a:t>
            </a:r>
            <a:endParaRPr b="0" lang="en-AU" sz="1580" spc="-1" strike="noStrike">
              <a:solidFill>
                <a:srgbClr val="000000"/>
              </a:solidFill>
              <a:latin typeface="Arial"/>
            </a:endParaRPr>
          </a:p>
        </p:txBody>
      </p:sp>
      <p:sp>
        <p:nvSpPr>
          <p:cNvPr id="638" name="Text 7"/>
          <p:cNvSpPr/>
          <p:nvPr/>
        </p:nvSpPr>
        <p:spPr>
          <a:xfrm>
            <a:off x="8356680" y="4442040"/>
            <a:ext cx="8973000" cy="329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 need to update assumptions across a model while preserving formula dependencies</a:t>
            </a:r>
            <a:endParaRPr b="0" lang="en-AU" sz="1580" spc="-1" strike="noStrike">
              <a:solidFill>
                <a:srgbClr val="000000"/>
              </a:solidFill>
              <a:latin typeface="Arial"/>
            </a:endParaRPr>
          </a:p>
        </p:txBody>
      </p:sp>
      <p:sp>
        <p:nvSpPr>
          <p:cNvPr id="639" name="Text 8"/>
          <p:cNvSpPr/>
          <p:nvPr/>
        </p:nvSpPr>
        <p:spPr>
          <a:xfrm>
            <a:off x="8637120" y="4962600"/>
            <a:ext cx="1090440" cy="567720"/>
          </a:xfrm>
          <a:prstGeom prst="rect">
            <a:avLst/>
          </a:prstGeom>
          <a:noFill/>
          <a:ln w="0">
            <a:noFill/>
          </a:ln>
        </p:spPr>
        <p:style>
          <a:lnRef idx="0"/>
          <a:fillRef idx="0"/>
          <a:effectRef idx="0"/>
          <a:fontRef idx="minor"/>
        </p:style>
        <p:txBody>
          <a:bodyPr lIns="0" rIns="0" tIns="0" bIns="0" anchor="t">
            <a:normAutofit fontScale="81111"/>
          </a:bodyPr>
          <a:p>
            <a:pPr defTabSz="914400">
              <a:lnSpc>
                <a:spcPct val="146000"/>
              </a:lnSpc>
              <a:tabLst>
                <a:tab algn="l" pos="0"/>
              </a:tabLst>
            </a:pPr>
            <a:r>
              <a:rPr b="0" lang="en-US" sz="1580" spc="-1" strike="noStrike">
                <a:solidFill>
                  <a:srgbClr val="1f2329"/>
                </a:solidFill>
                <a:latin typeface="Inter"/>
                <a:ea typeface="Inter"/>
              </a:rPr>
              <a:t>You're debugging</a:t>
            </a:r>
            <a:endParaRPr b="0" lang="en-AU" sz="1580" spc="-1" strike="noStrike">
              <a:solidFill>
                <a:srgbClr val="000000"/>
              </a:solidFill>
              <a:latin typeface="Arial"/>
            </a:endParaRPr>
          </a:p>
        </p:txBody>
      </p:sp>
      <p:sp>
        <p:nvSpPr>
          <p:cNvPr id="640" name="Shape 9"/>
          <p:cNvSpPr/>
          <p:nvPr/>
        </p:nvSpPr>
        <p:spPr>
          <a:xfrm>
            <a:off x="10428120" y="4943520"/>
            <a:ext cx="485640" cy="210960"/>
          </a:xfrm>
          <a:prstGeom prst="roundRect">
            <a:avLst>
              <a:gd name="adj" fmla="val 13521"/>
            </a:avLst>
          </a:prstGeom>
          <a:solidFill>
            <a:srgbClr val="1f2329">
              <a:alpha val="6000"/>
            </a:srgbClr>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641" name="Text 10"/>
          <p:cNvSpPr/>
          <p:nvPr/>
        </p:nvSpPr>
        <p:spPr>
          <a:xfrm>
            <a:off x="10485000" y="4962600"/>
            <a:ext cx="447480" cy="2109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0000"/>
              </a:lnSpc>
              <a:tabLst>
                <a:tab algn="l" pos="0"/>
              </a:tabLst>
            </a:pPr>
            <a:r>
              <a:rPr b="0" lang="en-US" sz="980" spc="-1" strike="noStrike">
                <a:solidFill>
                  <a:srgbClr val="1f2329"/>
                </a:solidFill>
                <a:latin typeface="JetBrains Mono"/>
                <a:ea typeface="JetBrains Mono"/>
              </a:rPr>
              <a:t>#REF!</a:t>
            </a:r>
            <a:endParaRPr b="0" lang="en-AU" sz="980" spc="-1" strike="noStrike">
              <a:solidFill>
                <a:srgbClr val="000000"/>
              </a:solidFill>
              <a:latin typeface="Arial"/>
            </a:endParaRPr>
          </a:p>
        </p:txBody>
      </p:sp>
      <p:sp>
        <p:nvSpPr>
          <p:cNvPr id="642" name="Text 11"/>
          <p:cNvSpPr/>
          <p:nvPr/>
        </p:nvSpPr>
        <p:spPr>
          <a:xfrm>
            <a:off x="11047320" y="4962600"/>
            <a:ext cx="133560" cy="275760"/>
          </a:xfrm>
          <a:prstGeom prst="rect">
            <a:avLst/>
          </a:prstGeom>
          <a:noFill/>
          <a:ln w="0">
            <a:noFill/>
          </a:ln>
        </p:spPr>
        <p:style>
          <a:lnRef idx="0"/>
          <a:fillRef idx="0"/>
          <a:effectRef idx="0"/>
          <a:fontRef idx="minor"/>
        </p:style>
        <p:txBody>
          <a:bodyPr lIns="0" rIns="0" tIns="0" bIns="0" anchor="t">
            <a:normAutofit fontScale="81111"/>
          </a:bodyPr>
          <a:p>
            <a:pPr defTabSz="914400">
              <a:lnSpc>
                <a:spcPct val="146000"/>
              </a:lnSpc>
              <a:tabLst>
                <a:tab algn="l" pos="0"/>
              </a:tabLst>
            </a:pPr>
            <a:r>
              <a:rPr b="0" lang="en-US" sz="1580" spc="-1" strike="noStrike">
                <a:solidFill>
                  <a:srgbClr val="1f2329"/>
                </a:solidFill>
                <a:latin typeface="Inter"/>
                <a:ea typeface="Inter"/>
              </a:rPr>
              <a:t>,</a:t>
            </a:r>
            <a:endParaRPr b="0" lang="en-AU" sz="1580" spc="-1" strike="noStrike">
              <a:solidFill>
                <a:srgbClr val="000000"/>
              </a:solidFill>
              <a:latin typeface="Arial"/>
            </a:endParaRPr>
          </a:p>
        </p:txBody>
      </p:sp>
      <p:sp>
        <p:nvSpPr>
          <p:cNvPr id="643" name="Shape 12"/>
          <p:cNvSpPr/>
          <p:nvPr/>
        </p:nvSpPr>
        <p:spPr>
          <a:xfrm>
            <a:off x="11238480" y="4943520"/>
            <a:ext cx="633960" cy="210960"/>
          </a:xfrm>
          <a:prstGeom prst="roundRect">
            <a:avLst>
              <a:gd name="adj" fmla="val 13521"/>
            </a:avLst>
          </a:prstGeom>
          <a:solidFill>
            <a:srgbClr val="1f2329">
              <a:alpha val="6000"/>
            </a:srgbClr>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644" name="Text 13"/>
          <p:cNvSpPr/>
          <p:nvPr/>
        </p:nvSpPr>
        <p:spPr>
          <a:xfrm>
            <a:off x="11295360" y="4962600"/>
            <a:ext cx="596160" cy="2109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0000"/>
              </a:lnSpc>
              <a:tabLst>
                <a:tab algn="l" pos="0"/>
              </a:tabLst>
            </a:pPr>
            <a:r>
              <a:rPr b="0" lang="en-US" sz="980" spc="-1" strike="noStrike">
                <a:solidFill>
                  <a:srgbClr val="1f2329"/>
                </a:solidFill>
                <a:latin typeface="JetBrains Mono"/>
                <a:ea typeface="JetBrains Mono"/>
              </a:rPr>
              <a:t>#VALUE!</a:t>
            </a:r>
            <a:endParaRPr b="0" lang="en-AU" sz="980" spc="-1" strike="noStrike">
              <a:solidFill>
                <a:srgbClr val="000000"/>
              </a:solidFill>
              <a:latin typeface="Arial"/>
            </a:endParaRPr>
          </a:p>
        </p:txBody>
      </p:sp>
      <p:sp>
        <p:nvSpPr>
          <p:cNvPr id="645" name="Text 14"/>
          <p:cNvSpPr/>
          <p:nvPr/>
        </p:nvSpPr>
        <p:spPr>
          <a:xfrm>
            <a:off x="12006000" y="4962600"/>
            <a:ext cx="4554000" cy="567720"/>
          </a:xfrm>
          <a:prstGeom prst="rect">
            <a:avLst/>
          </a:prstGeom>
          <a:noFill/>
          <a:ln w="0">
            <a:noFill/>
          </a:ln>
        </p:spPr>
        <p:style>
          <a:lnRef idx="0"/>
          <a:fillRef idx="0"/>
          <a:effectRef idx="0"/>
          <a:fontRef idx="minor"/>
        </p:style>
        <p:txBody>
          <a:bodyPr lIns="0" rIns="0" tIns="0" bIns="0" anchor="t">
            <a:normAutofit fontScale="93333" lnSpcReduction="20000"/>
          </a:bodyPr>
          <a:p>
            <a:pPr defTabSz="914400">
              <a:lnSpc>
                <a:spcPct val="146000"/>
              </a:lnSpc>
              <a:tabLst>
                <a:tab algn="l" pos="0"/>
              </a:tabLst>
            </a:pPr>
            <a:r>
              <a:rPr b="0" lang="en-US" sz="1580" spc="-1" strike="noStrike">
                <a:solidFill>
                  <a:srgbClr val="1f2329"/>
                </a:solidFill>
                <a:latin typeface="Inter"/>
                <a:ea typeface="Inter"/>
              </a:rPr>
              <a:t>or circular references — Claude traces them to source</a:t>
            </a:r>
            <a:endParaRPr b="0" lang="en-AU" sz="1580" spc="-1" strike="noStrike">
              <a:solidFill>
                <a:srgbClr val="000000"/>
              </a:solidFill>
              <a:latin typeface="Arial"/>
            </a:endParaRPr>
          </a:p>
        </p:txBody>
      </p:sp>
      <p:sp>
        <p:nvSpPr>
          <p:cNvPr id="646" name="Text 15"/>
          <p:cNvSpPr/>
          <p:nvPr/>
        </p:nvSpPr>
        <p:spPr>
          <a:xfrm>
            <a:off x="8356680" y="5737320"/>
            <a:ext cx="8973000" cy="6217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6000"/>
              </a:lnSpc>
              <a:tabLst>
                <a:tab algn="l" pos="0"/>
              </a:tabLst>
            </a:pPr>
            <a:r>
              <a:rPr b="0" lang="en-US" sz="1580" spc="-1" strike="noStrike">
                <a:solidFill>
                  <a:srgbClr val="1f2329"/>
                </a:solidFill>
                <a:latin typeface="Inter"/>
                <a:ea typeface="Inter"/>
              </a:rPr>
              <a:t>You want to create new spreadsheets or populate templates with data while keeping formula structure intact</a:t>
            </a:r>
            <a:endParaRPr b="0" lang="en-AU" sz="1580" spc="-1" strike="noStrike">
              <a:solidFill>
                <a:srgbClr val="000000"/>
              </a:solidFill>
              <a:latin typeface="Arial"/>
            </a:endParaRPr>
          </a:p>
        </p:txBody>
      </p:sp>
      <p:sp>
        <p:nvSpPr>
          <p:cNvPr id="647" name="Text 16"/>
          <p:cNvSpPr/>
          <p:nvPr/>
        </p:nvSpPr>
        <p:spPr>
          <a:xfrm>
            <a:off x="8356680" y="6530760"/>
            <a:ext cx="8973000" cy="329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 need to quickly build pivot tables or charts to visualize data</a:t>
            </a:r>
            <a:endParaRPr b="0" lang="en-AU" sz="1580" spc="-1" strike="noStrike">
              <a:solidFill>
                <a:srgbClr val="000000"/>
              </a:solidFill>
              <a:latin typeface="Arial"/>
            </a:endParaRPr>
          </a:p>
        </p:txBody>
      </p:sp>
      <p:sp>
        <p:nvSpPr>
          <p:cNvPr id="648" name="Text 17"/>
          <p:cNvSpPr/>
          <p:nvPr/>
        </p:nvSpPr>
        <p:spPr>
          <a:xfrm>
            <a:off x="8637120" y="7032240"/>
            <a:ext cx="684000" cy="329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1" lang="en-US" sz="1580" spc="250" strike="noStrike">
                <a:solidFill>
                  <a:srgbClr val="e36a2c"/>
                </a:solidFill>
                <a:latin typeface="JetBrains Mono"/>
                <a:ea typeface="JetBrains Mono"/>
              </a:rPr>
              <a:t>DEMO</a:t>
            </a:r>
            <a:endParaRPr b="0" lang="en-AU" sz="1580" spc="-1" strike="noStrike">
              <a:solidFill>
                <a:srgbClr val="000000"/>
              </a:solidFill>
              <a:latin typeface="Arial"/>
            </a:endParaRPr>
          </a:p>
        </p:txBody>
      </p:sp>
      <p:sp>
        <p:nvSpPr>
          <p:cNvPr id="649" name="Text 18"/>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27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8f2"/>
        </a:solidFill>
      </p:bgPr>
    </p:bg>
    <p:spTree>
      <p:nvGrpSpPr>
        <p:cNvPr id="1" name=""/>
        <p:cNvGrpSpPr/>
        <p:nvPr/>
      </p:nvGrpSpPr>
      <p:grpSpPr>
        <a:xfrm>
          <a:off x="0" y="0"/>
          <a:ext cx="0" cy="0"/>
          <a:chOff x="0" y="0"/>
          <a:chExt cx="0" cy="0"/>
        </a:xfrm>
      </p:grpSpPr>
      <p:pic>
        <p:nvPicPr>
          <p:cNvPr id="650" name="Image 0" descr="preencoded.png"/>
          <p:cNvPicPr/>
          <p:nvPr/>
        </p:nvPicPr>
        <p:blipFill>
          <a:blip r:embed="rId1"/>
          <a:stretch/>
        </p:blipFill>
        <p:spPr>
          <a:xfrm>
            <a:off x="1219320" y="468360"/>
            <a:ext cx="304560" cy="304560"/>
          </a:xfrm>
          <a:prstGeom prst="rect">
            <a:avLst/>
          </a:prstGeom>
          <a:ln w="0">
            <a:noFill/>
          </a:ln>
        </p:spPr>
      </p:pic>
      <p:sp>
        <p:nvSpPr>
          <p:cNvPr id="651"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652"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653"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654"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655" name="Text 4"/>
          <p:cNvSpPr/>
          <p:nvPr/>
        </p:nvSpPr>
        <p:spPr>
          <a:xfrm>
            <a:off x="1409760" y="1619280"/>
            <a:ext cx="194796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TOPICS 12 + 13</a:t>
            </a:r>
            <a:endParaRPr b="0" lang="en-AU" sz="1350" spc="-1" strike="noStrike">
              <a:solidFill>
                <a:srgbClr val="000000"/>
              </a:solidFill>
              <a:latin typeface="Arial"/>
            </a:endParaRPr>
          </a:p>
        </p:txBody>
      </p:sp>
      <p:sp>
        <p:nvSpPr>
          <p:cNvPr id="656"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PowerPoint &amp; Chrome.</a:t>
            </a:r>
            <a:endParaRPr b="0" lang="en-AU" sz="7200" spc="-1" strike="noStrike">
              <a:solidFill>
                <a:srgbClr val="000000"/>
              </a:solidFill>
              <a:latin typeface="Arial"/>
            </a:endParaRPr>
          </a:p>
        </p:txBody>
      </p:sp>
      <p:sp>
        <p:nvSpPr>
          <p:cNvPr id="657" name="Shape 6"/>
          <p:cNvSpPr/>
          <p:nvPr/>
        </p:nvSpPr>
        <p:spPr>
          <a:xfrm>
            <a:off x="1219320" y="3544200"/>
            <a:ext cx="7772040" cy="5828040"/>
          </a:xfrm>
          <a:prstGeom prst="roundRect">
            <a:avLst>
              <a:gd name="adj" fmla="val 228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58" name="Shape 7"/>
          <p:cNvSpPr/>
          <p:nvPr/>
        </p:nvSpPr>
        <p:spPr>
          <a:xfrm>
            <a:off x="1724040" y="4010760"/>
            <a:ext cx="1272240" cy="340920"/>
          </a:xfrm>
          <a:prstGeom prst="roundRect">
            <a:avLst>
              <a:gd name="adj" fmla="val 50000"/>
            </a:avLst>
          </a:prstGeom>
          <a:solidFill>
            <a:srgbClr val="fbe3d4"/>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59" name="Text 8"/>
          <p:cNvSpPr/>
          <p:nvPr/>
        </p:nvSpPr>
        <p:spPr>
          <a:xfrm>
            <a:off x="1866960" y="4077360"/>
            <a:ext cx="106272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c95a22"/>
                </a:solidFill>
                <a:latin typeface="JetBrains Mono"/>
                <a:ea typeface="JetBrains Mono"/>
              </a:rPr>
              <a:t>POWERPOINT</a:t>
            </a:r>
            <a:endParaRPr b="0" lang="en-AU" sz="1050" spc="-1" strike="noStrike">
              <a:solidFill>
                <a:srgbClr val="000000"/>
              </a:solidFill>
              <a:latin typeface="Arial"/>
            </a:endParaRPr>
          </a:p>
        </p:txBody>
      </p:sp>
      <p:sp>
        <p:nvSpPr>
          <p:cNvPr id="660" name="Text 9"/>
          <p:cNvSpPr/>
          <p:nvPr/>
        </p:nvSpPr>
        <p:spPr>
          <a:xfrm>
            <a:off x="1724040" y="4523400"/>
            <a:ext cx="696528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Use it when…</a:t>
            </a:r>
            <a:endParaRPr b="0" lang="en-AU" sz="2400" spc="-1" strike="noStrike">
              <a:solidFill>
                <a:srgbClr val="000000"/>
              </a:solidFill>
              <a:latin typeface="Arial"/>
            </a:endParaRPr>
          </a:p>
        </p:txBody>
      </p:sp>
      <p:sp>
        <p:nvSpPr>
          <p:cNvPr id="661" name="Text 10"/>
          <p:cNvSpPr/>
          <p:nvPr/>
        </p:nvSpPr>
        <p:spPr>
          <a:xfrm>
            <a:off x="1724040" y="5064480"/>
            <a:ext cx="6965280" cy="6217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 want to turn an outline or doc into a first-draft deck without building each slide by hand</a:t>
            </a:r>
            <a:endParaRPr b="0" lang="en-AU" sz="1580" spc="-1" strike="noStrike">
              <a:solidFill>
                <a:srgbClr val="000000"/>
              </a:solidFill>
              <a:latin typeface="Arial"/>
            </a:endParaRPr>
          </a:p>
        </p:txBody>
      </p:sp>
      <p:sp>
        <p:nvSpPr>
          <p:cNvPr id="662" name="Text 11"/>
          <p:cNvSpPr/>
          <p:nvPr/>
        </p:nvSpPr>
        <p:spPr>
          <a:xfrm>
            <a:off x="1724040" y="5801040"/>
            <a:ext cx="6965280" cy="6217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 need to rewrite or tighten slide copy — shorter bullets, speaker notes, tone adjustments</a:t>
            </a:r>
            <a:endParaRPr b="0" lang="en-AU" sz="1580" spc="-1" strike="noStrike">
              <a:solidFill>
                <a:srgbClr val="000000"/>
              </a:solidFill>
              <a:latin typeface="Arial"/>
            </a:endParaRPr>
          </a:p>
        </p:txBody>
      </p:sp>
      <p:sp>
        <p:nvSpPr>
          <p:cNvPr id="663" name="Text 12"/>
          <p:cNvSpPr/>
          <p:nvPr/>
        </p:nvSpPr>
        <p:spPr>
          <a:xfrm>
            <a:off x="1724040" y="6537240"/>
            <a:ext cx="6965280" cy="6217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You're restructuring a deck — reordering sections, splitting dense slides, merging overlapping ones</a:t>
            </a:r>
            <a:endParaRPr b="0" lang="en-AU" sz="1580" spc="-1" strike="noStrike">
              <a:solidFill>
                <a:srgbClr val="000000"/>
              </a:solidFill>
              <a:latin typeface="Arial"/>
            </a:endParaRPr>
          </a:p>
        </p:txBody>
      </p:sp>
      <p:sp>
        <p:nvSpPr>
          <p:cNvPr id="664" name="Text 13"/>
          <p:cNvSpPr/>
          <p:nvPr/>
        </p:nvSpPr>
        <p:spPr>
          <a:xfrm>
            <a:off x="1724040" y="7273800"/>
            <a:ext cx="6965280" cy="6217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 want consistent formatting applied across the deck without manually fixing each slide</a:t>
            </a:r>
            <a:endParaRPr b="0" lang="en-AU" sz="1580" spc="-1" strike="noStrike">
              <a:solidFill>
                <a:srgbClr val="000000"/>
              </a:solidFill>
              <a:latin typeface="Arial"/>
            </a:endParaRPr>
          </a:p>
        </p:txBody>
      </p:sp>
      <p:sp>
        <p:nvSpPr>
          <p:cNvPr id="665" name="Text 14"/>
          <p:cNvSpPr/>
          <p:nvPr/>
        </p:nvSpPr>
        <p:spPr>
          <a:xfrm>
            <a:off x="2004480" y="8010000"/>
            <a:ext cx="684000" cy="329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1" lang="en-US" sz="1580" spc="250" strike="noStrike">
                <a:solidFill>
                  <a:srgbClr val="e36a2c"/>
                </a:solidFill>
                <a:latin typeface="JetBrains Mono"/>
                <a:ea typeface="JetBrains Mono"/>
              </a:rPr>
              <a:t>DEMO</a:t>
            </a:r>
            <a:endParaRPr b="0" lang="en-AU" sz="1580" spc="-1" strike="noStrike">
              <a:solidFill>
                <a:srgbClr val="000000"/>
              </a:solidFill>
              <a:latin typeface="Arial"/>
            </a:endParaRPr>
          </a:p>
        </p:txBody>
      </p:sp>
      <p:sp>
        <p:nvSpPr>
          <p:cNvPr id="666" name="Shape 15"/>
          <p:cNvSpPr/>
          <p:nvPr/>
        </p:nvSpPr>
        <p:spPr>
          <a:xfrm>
            <a:off x="9296280" y="3544200"/>
            <a:ext cx="7772040" cy="5828040"/>
          </a:xfrm>
          <a:prstGeom prst="roundRect">
            <a:avLst>
              <a:gd name="adj" fmla="val 2288"/>
            </a:avLst>
          </a:prstGeom>
          <a:solidFill>
            <a:srgbClr val="fbf8f2"/>
          </a:solidFill>
          <a:ln w="9525">
            <a:solidFill>
              <a:srgbClr val="1f2329">
                <a:alpha val="6000"/>
              </a:srgbClr>
            </a:solidFill>
            <a:round/>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67" name="Shape 16"/>
          <p:cNvSpPr/>
          <p:nvPr/>
        </p:nvSpPr>
        <p:spPr>
          <a:xfrm>
            <a:off x="9801360" y="4010760"/>
            <a:ext cx="87768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68" name="Text 17"/>
          <p:cNvSpPr/>
          <p:nvPr/>
        </p:nvSpPr>
        <p:spPr>
          <a:xfrm>
            <a:off x="9944280" y="4077360"/>
            <a:ext cx="66816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CHROME</a:t>
            </a:r>
            <a:endParaRPr b="0" lang="en-AU" sz="1050" spc="-1" strike="noStrike">
              <a:solidFill>
                <a:srgbClr val="000000"/>
              </a:solidFill>
              <a:latin typeface="Arial"/>
            </a:endParaRPr>
          </a:p>
        </p:txBody>
      </p:sp>
      <p:sp>
        <p:nvSpPr>
          <p:cNvPr id="669" name="Text 18"/>
          <p:cNvSpPr/>
          <p:nvPr/>
        </p:nvSpPr>
        <p:spPr>
          <a:xfrm>
            <a:off x="9801360" y="4523400"/>
            <a:ext cx="6965280" cy="388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15000"/>
              </a:lnSpc>
              <a:tabLst>
                <a:tab algn="l" pos="0"/>
              </a:tabLst>
            </a:pPr>
            <a:r>
              <a:rPr b="1" lang="en-US" sz="2400" spc="-29" strike="noStrike">
                <a:solidFill>
                  <a:srgbClr val="0e1116"/>
                </a:solidFill>
                <a:latin typeface="Space Grotesk"/>
                <a:ea typeface="Space Grotesk"/>
              </a:rPr>
              <a:t>Use it when…</a:t>
            </a:r>
            <a:endParaRPr b="0" lang="en-AU" sz="2400" spc="-1" strike="noStrike">
              <a:solidFill>
                <a:srgbClr val="000000"/>
              </a:solidFill>
              <a:latin typeface="Arial"/>
            </a:endParaRPr>
          </a:p>
        </p:txBody>
      </p:sp>
      <p:sp>
        <p:nvSpPr>
          <p:cNvPr id="670" name="Text 19"/>
          <p:cNvSpPr/>
          <p:nvPr/>
        </p:nvSpPr>
        <p:spPr>
          <a:xfrm>
            <a:off x="9801360" y="5064480"/>
            <a:ext cx="6965280" cy="621720"/>
          </a:xfrm>
          <a:prstGeom prst="rect">
            <a:avLst/>
          </a:prstGeom>
          <a:noFill/>
          <a:ln w="0">
            <a:noFill/>
          </a:ln>
        </p:spPr>
        <p:style>
          <a:lnRef idx="0"/>
          <a:fillRef idx="0"/>
          <a:effectRef idx="0"/>
          <a:fontRef idx="minor"/>
        </p:style>
        <p:txBody>
          <a:bodyPr lIns="25560" rIns="25560" tIns="25560" bIns="25560" anchor="t">
            <a:normAutofit fontScale="93333" lnSpcReduction="20000"/>
          </a:bodyPr>
          <a:p>
            <a:pPr defTabSz="914400">
              <a:lnSpc>
                <a:spcPct val="146000"/>
              </a:lnSpc>
              <a:tabLst>
                <a:tab algn="l" pos="0"/>
              </a:tabLst>
            </a:pPr>
            <a:r>
              <a:rPr b="0" lang="en-US" sz="1580" spc="-1" strike="noStrike">
                <a:solidFill>
                  <a:srgbClr val="1f2329"/>
                </a:solidFill>
                <a:latin typeface="Inter"/>
                <a:ea typeface="Inter"/>
              </a:rPr>
              <a:t>You want to summarize articles, research papers, or web pages while browsing</a:t>
            </a:r>
            <a:endParaRPr b="0" lang="en-AU" sz="1580" spc="-1" strike="noStrike">
              <a:solidFill>
                <a:srgbClr val="000000"/>
              </a:solidFill>
              <a:latin typeface="Arial"/>
            </a:endParaRPr>
          </a:p>
        </p:txBody>
      </p:sp>
      <p:sp>
        <p:nvSpPr>
          <p:cNvPr id="671" name="Text 20"/>
          <p:cNvSpPr/>
          <p:nvPr/>
        </p:nvSpPr>
        <p:spPr>
          <a:xfrm>
            <a:off x="9801360" y="5801040"/>
            <a:ext cx="6965280" cy="329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 need help drafting email responses or managing your inbox</a:t>
            </a:r>
            <a:endParaRPr b="0" lang="en-AU" sz="1580" spc="-1" strike="noStrike">
              <a:solidFill>
                <a:srgbClr val="000000"/>
              </a:solidFill>
              <a:latin typeface="Arial"/>
            </a:endParaRPr>
          </a:p>
        </p:txBody>
      </p:sp>
      <p:sp>
        <p:nvSpPr>
          <p:cNvPr id="672" name="Text 21"/>
          <p:cNvSpPr/>
          <p:nvPr/>
        </p:nvSpPr>
        <p:spPr>
          <a:xfrm>
            <a:off x="9801360" y="6245280"/>
            <a:ext cx="6965280" cy="329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You're filling out repetitive forms and want to automate the process</a:t>
            </a:r>
            <a:endParaRPr b="0" lang="en-AU" sz="1580" spc="-1" strike="noStrike">
              <a:solidFill>
                <a:srgbClr val="000000"/>
              </a:solidFill>
              <a:latin typeface="Arial"/>
            </a:endParaRPr>
          </a:p>
        </p:txBody>
      </p:sp>
      <p:sp>
        <p:nvSpPr>
          <p:cNvPr id="673" name="Text 22"/>
          <p:cNvSpPr/>
          <p:nvPr/>
        </p:nvSpPr>
        <p:spPr>
          <a:xfrm>
            <a:off x="9801360" y="6689520"/>
            <a:ext cx="6965280" cy="6217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0" lang="en-US" sz="1580" spc="-1" strike="noStrike">
                <a:solidFill>
                  <a:srgbClr val="1f2329"/>
                </a:solidFill>
                <a:latin typeface="Inter"/>
                <a:ea typeface="Inter"/>
              </a:rPr>
              <a:t>You need a browsing assistant that maintains context across tabs — great for niche internal tools, CRMs, dashboards</a:t>
            </a:r>
            <a:endParaRPr b="0" lang="en-AU" sz="1580" spc="-1" strike="noStrike">
              <a:solidFill>
                <a:srgbClr val="000000"/>
              </a:solidFill>
              <a:latin typeface="Arial"/>
            </a:endParaRPr>
          </a:p>
        </p:txBody>
      </p:sp>
      <p:sp>
        <p:nvSpPr>
          <p:cNvPr id="674" name="Text 23"/>
          <p:cNvSpPr/>
          <p:nvPr/>
        </p:nvSpPr>
        <p:spPr>
          <a:xfrm>
            <a:off x="10081440" y="7426080"/>
            <a:ext cx="684000" cy="329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6000"/>
              </a:lnSpc>
              <a:tabLst>
                <a:tab algn="l" pos="0"/>
              </a:tabLst>
            </a:pPr>
            <a:r>
              <a:rPr b="1" lang="en-US" sz="1580" spc="250" strike="noStrike">
                <a:solidFill>
                  <a:srgbClr val="e36a2c"/>
                </a:solidFill>
                <a:latin typeface="JetBrains Mono"/>
                <a:ea typeface="JetBrains Mono"/>
              </a:rPr>
              <a:t>DEMO</a:t>
            </a:r>
            <a:endParaRPr b="0" lang="en-AU" sz="1580" spc="-1" strike="noStrike">
              <a:solidFill>
                <a:srgbClr val="000000"/>
              </a:solidFill>
              <a:latin typeface="Arial"/>
            </a:endParaRPr>
          </a:p>
        </p:txBody>
      </p:sp>
      <p:sp>
        <p:nvSpPr>
          <p:cNvPr id="675" name="Text 24"/>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28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pic>
        <p:nvPicPr>
          <p:cNvPr id="676" name="Image 0" descr="preencoded.png"/>
          <p:cNvPicPr/>
          <p:nvPr/>
        </p:nvPicPr>
        <p:blipFill>
          <a:blip r:embed="rId1"/>
          <a:stretch/>
        </p:blipFill>
        <p:spPr>
          <a:xfrm>
            <a:off x="1219320" y="468360"/>
            <a:ext cx="304560" cy="304560"/>
          </a:xfrm>
          <a:prstGeom prst="rect">
            <a:avLst/>
          </a:prstGeom>
          <a:ln w="0">
            <a:noFill/>
          </a:ln>
        </p:spPr>
      </p:pic>
      <p:sp>
        <p:nvSpPr>
          <p:cNvPr id="677" name="Text 0"/>
          <p:cNvSpPr/>
          <p:nvPr/>
        </p:nvSpPr>
        <p:spPr>
          <a:xfrm>
            <a:off x="1638360" y="485640"/>
            <a:ext cx="846360" cy="304560"/>
          </a:xfrm>
          <a:prstGeom prst="rect">
            <a:avLst/>
          </a:prstGeom>
          <a:noFill/>
          <a:ln w="0">
            <a:noFill/>
          </a:ln>
        </p:spPr>
        <p:style>
          <a:lnRef idx="0"/>
          <a:fillRef idx="0"/>
          <a:effectRef idx="0"/>
          <a:fontRef idx="minor"/>
        </p:style>
        <p:txBody>
          <a:bodyPr lIns="0" rIns="0" tIns="0" bIns="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a:t>
            </a:r>
            <a:endParaRPr b="0" lang="en-AU" sz="1650" spc="-1" strike="noStrike">
              <a:solidFill>
                <a:srgbClr val="000000"/>
              </a:solidFill>
              <a:latin typeface="Arial"/>
            </a:endParaRPr>
          </a:p>
        </p:txBody>
      </p:sp>
      <p:sp>
        <p:nvSpPr>
          <p:cNvPr id="678" name="Text 1"/>
          <p:cNvSpPr/>
          <p:nvPr/>
        </p:nvSpPr>
        <p:spPr>
          <a:xfrm>
            <a:off x="2580480" y="457200"/>
            <a:ext cx="11736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e36a2c"/>
                </a:solidFill>
                <a:latin typeface="Space Grotesk"/>
                <a:ea typeface="Space Grotesk"/>
              </a:rPr>
              <a:t>·</a:t>
            </a:r>
            <a:endParaRPr b="0" lang="en-AU" sz="1650" spc="-1" strike="noStrike">
              <a:solidFill>
                <a:srgbClr val="000000"/>
              </a:solidFill>
              <a:latin typeface="Arial"/>
            </a:endParaRPr>
          </a:p>
        </p:txBody>
      </p:sp>
      <p:sp>
        <p:nvSpPr>
          <p:cNvPr id="679" name="Text 2"/>
          <p:cNvSpPr/>
          <p:nvPr/>
        </p:nvSpPr>
        <p:spPr>
          <a:xfrm>
            <a:off x="2793240" y="457200"/>
            <a:ext cx="134100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680" name="Shape 3"/>
          <p:cNvSpPr/>
          <p:nvPr/>
        </p:nvSpPr>
        <p:spPr>
          <a:xfrm>
            <a:off x="1219320" y="169560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681" name="Text 4"/>
          <p:cNvSpPr/>
          <p:nvPr/>
        </p:nvSpPr>
        <p:spPr>
          <a:xfrm>
            <a:off x="1409760" y="1619280"/>
            <a:ext cx="74448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RECAP</a:t>
            </a:r>
            <a:endParaRPr b="0" lang="en-AU" sz="1350" spc="-1" strike="noStrike">
              <a:solidFill>
                <a:srgbClr val="000000"/>
              </a:solidFill>
              <a:latin typeface="Arial"/>
            </a:endParaRPr>
          </a:p>
        </p:txBody>
      </p:sp>
      <p:sp>
        <p:nvSpPr>
          <p:cNvPr id="682" name="Text 5"/>
          <p:cNvSpPr/>
          <p:nvPr/>
        </p:nvSpPr>
        <p:spPr>
          <a:xfrm>
            <a:off x="1219320" y="2096280"/>
            <a:ext cx="16324560" cy="9522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0" lang="en-US" sz="7200" spc="-145" strike="noStrike">
                <a:solidFill>
                  <a:srgbClr val="0e1116"/>
                </a:solidFill>
                <a:latin typeface="Space Grotesk"/>
                <a:ea typeface="Space Grotesk"/>
              </a:rPr>
              <a:t>Cheat sheet.</a:t>
            </a:r>
            <a:endParaRPr b="0" lang="en-AU" sz="7200" spc="-1" strike="noStrike">
              <a:solidFill>
                <a:srgbClr val="000000"/>
              </a:solidFill>
              <a:latin typeface="Arial"/>
            </a:endParaRPr>
          </a:p>
        </p:txBody>
      </p:sp>
      <p:sp>
        <p:nvSpPr>
          <p:cNvPr id="683" name="Shape 6"/>
          <p:cNvSpPr/>
          <p:nvPr/>
        </p:nvSpPr>
        <p:spPr>
          <a:xfrm>
            <a:off x="1219320" y="346788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684" name="Shape 7"/>
          <p:cNvSpPr/>
          <p:nvPr/>
        </p:nvSpPr>
        <p:spPr>
          <a:xfrm>
            <a:off x="1219320" y="3803400"/>
            <a:ext cx="209520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85" name="Text 8"/>
          <p:cNvSpPr/>
          <p:nvPr/>
        </p:nvSpPr>
        <p:spPr>
          <a:xfrm>
            <a:off x="1362240" y="3870000"/>
            <a:ext cx="18856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IF YOU NEED TO…</a:t>
            </a:r>
            <a:endParaRPr b="0" lang="en-AU" sz="1050" spc="-1" strike="noStrike">
              <a:solidFill>
                <a:srgbClr val="000000"/>
              </a:solidFill>
              <a:latin typeface="Arial"/>
            </a:endParaRPr>
          </a:p>
        </p:txBody>
      </p:sp>
      <p:sp>
        <p:nvSpPr>
          <p:cNvPr id="686" name="Text 9"/>
          <p:cNvSpPr/>
          <p:nvPr/>
        </p:nvSpPr>
        <p:spPr>
          <a:xfrm>
            <a:off x="3772080" y="3686760"/>
            <a:ext cx="3727800" cy="6123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16000"/>
              </a:lnSpc>
              <a:tabLst>
                <a:tab algn="l" pos="0"/>
              </a:tabLst>
            </a:pPr>
            <a:r>
              <a:rPr b="1" lang="en-US" sz="1950" spc="-24" strike="noStrike">
                <a:solidFill>
                  <a:srgbClr val="0e1116"/>
                </a:solidFill>
                <a:latin typeface="Space Grotesk"/>
                <a:ea typeface="Space Grotesk"/>
              </a:rPr>
              <a:t>Brainstorm or ask a quick question</a:t>
            </a:r>
            <a:endParaRPr b="0" lang="en-AU" sz="1950" spc="-1" strike="noStrike">
              <a:solidFill>
                <a:srgbClr val="000000"/>
              </a:solidFill>
              <a:latin typeface="Arial"/>
            </a:endParaRPr>
          </a:p>
        </p:txBody>
      </p:sp>
      <p:sp>
        <p:nvSpPr>
          <p:cNvPr id="687" name="Text 10"/>
          <p:cNvSpPr/>
          <p:nvPr/>
        </p:nvSpPr>
        <p:spPr>
          <a:xfrm>
            <a:off x="7848720" y="3819240"/>
            <a:ext cx="949644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580" spc="-1" strike="noStrike">
                <a:solidFill>
                  <a:srgbClr val="0e1116"/>
                </a:solidFill>
                <a:latin typeface="Inter"/>
                <a:ea typeface="Inter"/>
              </a:rPr>
              <a:t>Chat </a:t>
            </a:r>
            <a:r>
              <a:rPr b="0" lang="en-US" sz="1580" spc="-1" strike="noStrike">
                <a:solidFill>
                  <a:srgbClr val="1f2329"/>
                </a:solidFill>
                <a:latin typeface="Inter"/>
                <a:ea typeface="Inter"/>
              </a:rPr>
              <a:t>or </a:t>
            </a:r>
            <a:r>
              <a:rPr b="1" lang="en-US" sz="1580" spc="-1" strike="noStrike">
                <a:solidFill>
                  <a:srgbClr val="0e1116"/>
                </a:solidFill>
                <a:latin typeface="Inter"/>
                <a:ea typeface="Inter"/>
              </a:rPr>
              <a:t>Claude.ai</a:t>
            </a:r>
            <a:endParaRPr b="0" lang="en-AU" sz="1580" spc="-1" strike="noStrike">
              <a:solidFill>
                <a:srgbClr val="000000"/>
              </a:solidFill>
              <a:latin typeface="Arial"/>
            </a:endParaRPr>
          </a:p>
        </p:txBody>
      </p:sp>
      <p:sp>
        <p:nvSpPr>
          <p:cNvPr id="688" name="Shape 11"/>
          <p:cNvSpPr/>
          <p:nvPr/>
        </p:nvSpPr>
        <p:spPr>
          <a:xfrm>
            <a:off x="1219320" y="447084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689" name="Shape 12"/>
          <p:cNvSpPr/>
          <p:nvPr/>
        </p:nvSpPr>
        <p:spPr>
          <a:xfrm>
            <a:off x="1219320" y="4806720"/>
            <a:ext cx="209520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90" name="Text 13"/>
          <p:cNvSpPr/>
          <p:nvPr/>
        </p:nvSpPr>
        <p:spPr>
          <a:xfrm>
            <a:off x="1362240" y="4873320"/>
            <a:ext cx="18856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IF YOU NEED TO…</a:t>
            </a:r>
            <a:endParaRPr b="0" lang="en-AU" sz="1050" spc="-1" strike="noStrike">
              <a:solidFill>
                <a:srgbClr val="000000"/>
              </a:solidFill>
              <a:latin typeface="Arial"/>
            </a:endParaRPr>
          </a:p>
        </p:txBody>
      </p:sp>
      <p:sp>
        <p:nvSpPr>
          <p:cNvPr id="691" name="Text 14"/>
          <p:cNvSpPr/>
          <p:nvPr/>
        </p:nvSpPr>
        <p:spPr>
          <a:xfrm>
            <a:off x="3772080" y="4690080"/>
            <a:ext cx="3727800" cy="612360"/>
          </a:xfrm>
          <a:prstGeom prst="rect">
            <a:avLst/>
          </a:prstGeom>
          <a:noFill/>
          <a:ln w="0">
            <a:noFill/>
          </a:ln>
        </p:spPr>
        <p:style>
          <a:lnRef idx="0"/>
          <a:fillRef idx="0"/>
          <a:effectRef idx="0"/>
          <a:fontRef idx="minor"/>
        </p:style>
        <p:txBody>
          <a:bodyPr lIns="25560" rIns="25560" tIns="25560" bIns="25560" anchor="t">
            <a:normAutofit fontScale="93333" lnSpcReduction="20000"/>
          </a:bodyPr>
          <a:p>
            <a:pPr defTabSz="914400">
              <a:lnSpc>
                <a:spcPct val="116000"/>
              </a:lnSpc>
              <a:tabLst>
                <a:tab algn="l" pos="0"/>
              </a:tabLst>
            </a:pPr>
            <a:r>
              <a:rPr b="1" lang="en-US" sz="1950" spc="-24" strike="noStrike">
                <a:solidFill>
                  <a:srgbClr val="0e1116"/>
                </a:solidFill>
                <a:latin typeface="Space Grotesk"/>
                <a:ea typeface="Space Grotesk"/>
              </a:rPr>
              <a:t>Work with files on your machine</a:t>
            </a:r>
            <a:endParaRPr b="0" lang="en-AU" sz="1950" spc="-1" strike="noStrike">
              <a:solidFill>
                <a:srgbClr val="000000"/>
              </a:solidFill>
              <a:latin typeface="Arial"/>
            </a:endParaRPr>
          </a:p>
        </p:txBody>
      </p:sp>
      <p:sp>
        <p:nvSpPr>
          <p:cNvPr id="692" name="Text 15"/>
          <p:cNvSpPr/>
          <p:nvPr/>
        </p:nvSpPr>
        <p:spPr>
          <a:xfrm>
            <a:off x="7848720" y="4822200"/>
            <a:ext cx="949644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580" spc="-1" strike="noStrike">
                <a:solidFill>
                  <a:srgbClr val="0e1116"/>
                </a:solidFill>
                <a:latin typeface="Inter"/>
                <a:ea typeface="Inter"/>
              </a:rPr>
              <a:t>Cowork </a:t>
            </a:r>
            <a:r>
              <a:rPr b="0" lang="en-US" sz="1580" spc="-1" strike="noStrike">
                <a:solidFill>
                  <a:srgbClr val="1f2329"/>
                </a:solidFill>
                <a:latin typeface="Inter"/>
                <a:ea typeface="Inter"/>
              </a:rPr>
              <a:t>· folder access + scheduled tasks + subagents</a:t>
            </a:r>
            <a:endParaRPr b="0" lang="en-AU" sz="1580" spc="-1" strike="noStrike">
              <a:solidFill>
                <a:srgbClr val="000000"/>
              </a:solidFill>
              <a:latin typeface="Arial"/>
            </a:endParaRPr>
          </a:p>
        </p:txBody>
      </p:sp>
      <p:sp>
        <p:nvSpPr>
          <p:cNvPr id="693" name="Shape 16"/>
          <p:cNvSpPr/>
          <p:nvPr/>
        </p:nvSpPr>
        <p:spPr>
          <a:xfrm>
            <a:off x="1219320" y="547416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694" name="Shape 17"/>
          <p:cNvSpPr/>
          <p:nvPr/>
        </p:nvSpPr>
        <p:spPr>
          <a:xfrm>
            <a:off x="1219320" y="5693040"/>
            <a:ext cx="209520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695" name="Text 18"/>
          <p:cNvSpPr/>
          <p:nvPr/>
        </p:nvSpPr>
        <p:spPr>
          <a:xfrm>
            <a:off x="1362240" y="5759640"/>
            <a:ext cx="18856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IF YOU NEED TO…</a:t>
            </a:r>
            <a:endParaRPr b="0" lang="en-AU" sz="1050" spc="-1" strike="noStrike">
              <a:solidFill>
                <a:srgbClr val="000000"/>
              </a:solidFill>
              <a:latin typeface="Arial"/>
            </a:endParaRPr>
          </a:p>
        </p:txBody>
      </p:sp>
      <p:sp>
        <p:nvSpPr>
          <p:cNvPr id="696" name="Text 19"/>
          <p:cNvSpPr/>
          <p:nvPr/>
        </p:nvSpPr>
        <p:spPr>
          <a:xfrm>
            <a:off x="3772080" y="5720040"/>
            <a:ext cx="3727800" cy="3250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6000"/>
              </a:lnSpc>
              <a:tabLst>
                <a:tab algn="l" pos="0"/>
              </a:tabLst>
            </a:pPr>
            <a:r>
              <a:rPr b="1" lang="en-US" sz="1950" spc="-24" strike="noStrike">
                <a:solidFill>
                  <a:srgbClr val="0e1116"/>
                </a:solidFill>
                <a:latin typeface="Space Grotesk"/>
                <a:ea typeface="Space Grotesk"/>
              </a:rPr>
              <a:t>Write, debug or refactor code</a:t>
            </a:r>
            <a:endParaRPr b="0" lang="en-AU" sz="1950" spc="-1" strike="noStrike">
              <a:solidFill>
                <a:srgbClr val="000000"/>
              </a:solidFill>
              <a:latin typeface="Arial"/>
            </a:endParaRPr>
          </a:p>
        </p:txBody>
      </p:sp>
      <p:sp>
        <p:nvSpPr>
          <p:cNvPr id="697" name="Text 20"/>
          <p:cNvSpPr/>
          <p:nvPr/>
        </p:nvSpPr>
        <p:spPr>
          <a:xfrm>
            <a:off x="7848720" y="5708880"/>
            <a:ext cx="949644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580" spc="-1" strike="noStrike">
                <a:solidFill>
                  <a:srgbClr val="0e1116"/>
                </a:solidFill>
                <a:latin typeface="Inter"/>
                <a:ea typeface="Inter"/>
              </a:rPr>
              <a:t>Claude Code </a:t>
            </a:r>
            <a:r>
              <a:rPr b="0" lang="en-US" sz="1580" spc="-1" strike="noStrike">
                <a:solidFill>
                  <a:srgbClr val="1f2329"/>
                </a:solidFill>
                <a:latin typeface="Inter"/>
                <a:ea typeface="Inter"/>
              </a:rPr>
              <a:t>· pick Ask / Code / Plan based on appetite</a:t>
            </a:r>
            <a:endParaRPr b="0" lang="en-AU" sz="1580" spc="-1" strike="noStrike">
              <a:solidFill>
                <a:srgbClr val="000000"/>
              </a:solidFill>
              <a:latin typeface="Arial"/>
            </a:endParaRPr>
          </a:p>
        </p:txBody>
      </p:sp>
      <p:sp>
        <p:nvSpPr>
          <p:cNvPr id="698" name="Shape 21"/>
          <p:cNvSpPr/>
          <p:nvPr/>
        </p:nvSpPr>
        <p:spPr>
          <a:xfrm>
            <a:off x="1219320" y="624384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699" name="Shape 22"/>
          <p:cNvSpPr/>
          <p:nvPr/>
        </p:nvSpPr>
        <p:spPr>
          <a:xfrm>
            <a:off x="1219320" y="6579720"/>
            <a:ext cx="209520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700" name="Text 23"/>
          <p:cNvSpPr/>
          <p:nvPr/>
        </p:nvSpPr>
        <p:spPr>
          <a:xfrm>
            <a:off x="1362240" y="6646320"/>
            <a:ext cx="18856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IF YOU NEED TO…</a:t>
            </a:r>
            <a:endParaRPr b="0" lang="en-AU" sz="1050" spc="-1" strike="noStrike">
              <a:solidFill>
                <a:srgbClr val="000000"/>
              </a:solidFill>
              <a:latin typeface="Arial"/>
            </a:endParaRPr>
          </a:p>
        </p:txBody>
      </p:sp>
      <p:sp>
        <p:nvSpPr>
          <p:cNvPr id="701" name="Text 24"/>
          <p:cNvSpPr/>
          <p:nvPr/>
        </p:nvSpPr>
        <p:spPr>
          <a:xfrm>
            <a:off x="3772080" y="6463080"/>
            <a:ext cx="3727800" cy="6123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6000"/>
              </a:lnSpc>
              <a:tabLst>
                <a:tab algn="l" pos="0"/>
              </a:tabLst>
            </a:pPr>
            <a:r>
              <a:rPr b="1" lang="en-US" sz="1950" spc="-24" strike="noStrike">
                <a:solidFill>
                  <a:srgbClr val="0e1116"/>
                </a:solidFill>
                <a:latin typeface="Space Grotesk"/>
                <a:ea typeface="Space Grotesk"/>
              </a:rPr>
              <a:t>Reference materials across many chats</a:t>
            </a:r>
            <a:endParaRPr b="0" lang="en-AU" sz="1950" spc="-1" strike="noStrike">
              <a:solidFill>
                <a:srgbClr val="000000"/>
              </a:solidFill>
              <a:latin typeface="Arial"/>
            </a:endParaRPr>
          </a:p>
        </p:txBody>
      </p:sp>
      <p:sp>
        <p:nvSpPr>
          <p:cNvPr id="702" name="Text 25"/>
          <p:cNvSpPr/>
          <p:nvPr/>
        </p:nvSpPr>
        <p:spPr>
          <a:xfrm>
            <a:off x="7848720" y="6595200"/>
            <a:ext cx="949644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580" spc="-1" strike="noStrike">
                <a:solidFill>
                  <a:srgbClr val="0e1116"/>
                </a:solidFill>
                <a:latin typeface="Inter"/>
                <a:ea typeface="Inter"/>
              </a:rPr>
              <a:t>Projects </a:t>
            </a:r>
            <a:r>
              <a:rPr b="0" lang="en-US" sz="1580" spc="-1" strike="noStrike">
                <a:solidFill>
                  <a:srgbClr val="1f2329"/>
                </a:solidFill>
                <a:latin typeface="Inter"/>
                <a:ea typeface="Inter"/>
              </a:rPr>
              <a:t>· the persistent knowledge hub</a:t>
            </a:r>
            <a:endParaRPr b="0" lang="en-AU" sz="1580" spc="-1" strike="noStrike">
              <a:solidFill>
                <a:srgbClr val="000000"/>
              </a:solidFill>
              <a:latin typeface="Arial"/>
            </a:endParaRPr>
          </a:p>
        </p:txBody>
      </p:sp>
      <p:sp>
        <p:nvSpPr>
          <p:cNvPr id="703" name="Shape 26"/>
          <p:cNvSpPr/>
          <p:nvPr/>
        </p:nvSpPr>
        <p:spPr>
          <a:xfrm>
            <a:off x="1219320" y="724716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704" name="Shape 27"/>
          <p:cNvSpPr/>
          <p:nvPr/>
        </p:nvSpPr>
        <p:spPr>
          <a:xfrm>
            <a:off x="1219320" y="7582680"/>
            <a:ext cx="209520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705" name="Text 28"/>
          <p:cNvSpPr/>
          <p:nvPr/>
        </p:nvSpPr>
        <p:spPr>
          <a:xfrm>
            <a:off x="1362240" y="7649280"/>
            <a:ext cx="18856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IF YOU NEED TO…</a:t>
            </a:r>
            <a:endParaRPr b="0" lang="en-AU" sz="1050" spc="-1" strike="noStrike">
              <a:solidFill>
                <a:srgbClr val="000000"/>
              </a:solidFill>
              <a:latin typeface="Arial"/>
            </a:endParaRPr>
          </a:p>
        </p:txBody>
      </p:sp>
      <p:sp>
        <p:nvSpPr>
          <p:cNvPr id="706" name="Text 29"/>
          <p:cNvSpPr/>
          <p:nvPr/>
        </p:nvSpPr>
        <p:spPr>
          <a:xfrm>
            <a:off x="3772080" y="7466040"/>
            <a:ext cx="3727800" cy="6123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16000"/>
              </a:lnSpc>
              <a:tabLst>
                <a:tab algn="l" pos="0"/>
              </a:tabLst>
            </a:pPr>
            <a:r>
              <a:rPr b="1" lang="en-US" sz="1950" spc="-24" strike="noStrike">
                <a:solidFill>
                  <a:srgbClr val="0e1116"/>
                </a:solidFill>
                <a:latin typeface="Space Grotesk"/>
                <a:ea typeface="Space Grotesk"/>
              </a:rPr>
              <a:t>Run the same workflow consistently</a:t>
            </a:r>
            <a:endParaRPr b="0" lang="en-AU" sz="1950" spc="-1" strike="noStrike">
              <a:solidFill>
                <a:srgbClr val="000000"/>
              </a:solidFill>
              <a:latin typeface="Arial"/>
            </a:endParaRPr>
          </a:p>
        </p:txBody>
      </p:sp>
      <p:sp>
        <p:nvSpPr>
          <p:cNvPr id="707" name="Text 30"/>
          <p:cNvSpPr/>
          <p:nvPr/>
        </p:nvSpPr>
        <p:spPr>
          <a:xfrm>
            <a:off x="7848720" y="7598160"/>
            <a:ext cx="949644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580" spc="-1" strike="noStrike">
                <a:solidFill>
                  <a:srgbClr val="0e1116"/>
                </a:solidFill>
                <a:latin typeface="Inter"/>
                <a:ea typeface="Inter"/>
              </a:rPr>
              <a:t>Skills </a:t>
            </a:r>
            <a:r>
              <a:rPr b="0" lang="en-US" sz="1580" spc="-1" strike="noStrike">
                <a:solidFill>
                  <a:srgbClr val="1f2329"/>
                </a:solidFill>
                <a:latin typeface="Inter"/>
                <a:ea typeface="Inter"/>
              </a:rPr>
              <a:t>· turn it into a repeatable procedure</a:t>
            </a:r>
            <a:endParaRPr b="0" lang="en-AU" sz="1580" spc="-1" strike="noStrike">
              <a:solidFill>
                <a:srgbClr val="000000"/>
              </a:solidFill>
              <a:latin typeface="Arial"/>
            </a:endParaRPr>
          </a:p>
        </p:txBody>
      </p:sp>
      <p:sp>
        <p:nvSpPr>
          <p:cNvPr id="708" name="Shape 31"/>
          <p:cNvSpPr/>
          <p:nvPr/>
        </p:nvSpPr>
        <p:spPr>
          <a:xfrm>
            <a:off x="1219320" y="825012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709" name="Shape 32"/>
          <p:cNvSpPr/>
          <p:nvPr/>
        </p:nvSpPr>
        <p:spPr>
          <a:xfrm>
            <a:off x="1219320" y="8585640"/>
            <a:ext cx="209520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710" name="Text 33"/>
          <p:cNvSpPr/>
          <p:nvPr/>
        </p:nvSpPr>
        <p:spPr>
          <a:xfrm>
            <a:off x="1362240" y="8652600"/>
            <a:ext cx="18856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IF YOU NEED TO…</a:t>
            </a:r>
            <a:endParaRPr b="0" lang="en-AU" sz="1050" spc="-1" strike="noStrike">
              <a:solidFill>
                <a:srgbClr val="000000"/>
              </a:solidFill>
              <a:latin typeface="Arial"/>
            </a:endParaRPr>
          </a:p>
        </p:txBody>
      </p:sp>
      <p:sp>
        <p:nvSpPr>
          <p:cNvPr id="711" name="Text 34"/>
          <p:cNvSpPr/>
          <p:nvPr/>
        </p:nvSpPr>
        <p:spPr>
          <a:xfrm>
            <a:off x="3772080" y="8469360"/>
            <a:ext cx="3727800" cy="6123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6000"/>
              </a:lnSpc>
              <a:tabLst>
                <a:tab algn="l" pos="0"/>
              </a:tabLst>
            </a:pPr>
            <a:r>
              <a:rPr b="1" lang="en-US" sz="1950" spc="-24" strike="noStrike">
                <a:solidFill>
                  <a:srgbClr val="0e1116"/>
                </a:solidFill>
                <a:latin typeface="Space Grotesk"/>
                <a:ea typeface="Space Grotesk"/>
              </a:rPr>
              <a:t>Find a fact buried inside your company</a:t>
            </a:r>
            <a:endParaRPr b="0" lang="en-AU" sz="1950" spc="-1" strike="noStrike">
              <a:solidFill>
                <a:srgbClr val="000000"/>
              </a:solidFill>
              <a:latin typeface="Arial"/>
            </a:endParaRPr>
          </a:p>
        </p:txBody>
      </p:sp>
      <p:sp>
        <p:nvSpPr>
          <p:cNvPr id="712" name="Text 35"/>
          <p:cNvSpPr/>
          <p:nvPr/>
        </p:nvSpPr>
        <p:spPr>
          <a:xfrm>
            <a:off x="7848720" y="8601480"/>
            <a:ext cx="949644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580" spc="-1" strike="noStrike">
                <a:solidFill>
                  <a:srgbClr val="0e1116"/>
                </a:solidFill>
                <a:latin typeface="Inter"/>
                <a:ea typeface="Inter"/>
              </a:rPr>
              <a:t>Enterprise Search </a:t>
            </a:r>
            <a:r>
              <a:rPr b="0" lang="en-US" sz="1580" spc="-1" strike="noStrike">
                <a:solidFill>
                  <a:srgbClr val="1f2329"/>
                </a:solidFill>
                <a:latin typeface="Inter"/>
                <a:ea typeface="Inter"/>
              </a:rPr>
              <a:t>· "Ask {Your Org}"</a:t>
            </a:r>
            <a:endParaRPr b="0" lang="en-AU" sz="1580" spc="-1" strike="noStrike">
              <a:solidFill>
                <a:srgbClr val="000000"/>
              </a:solidFill>
              <a:latin typeface="Arial"/>
            </a:endParaRPr>
          </a:p>
        </p:txBody>
      </p:sp>
      <p:sp>
        <p:nvSpPr>
          <p:cNvPr id="713" name="Shape 36"/>
          <p:cNvSpPr/>
          <p:nvPr/>
        </p:nvSpPr>
        <p:spPr>
          <a:xfrm>
            <a:off x="1219320" y="925308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714" name="Shape 37"/>
          <p:cNvSpPr/>
          <p:nvPr/>
        </p:nvSpPr>
        <p:spPr>
          <a:xfrm>
            <a:off x="1219320" y="9588960"/>
            <a:ext cx="2095200" cy="340920"/>
          </a:xfrm>
          <a:prstGeom prst="roundRect">
            <a:avLst>
              <a:gd name="adj" fmla="val 50000"/>
            </a:avLst>
          </a:prstGeom>
          <a:solidFill>
            <a:srgbClr val="dde9e2"/>
          </a:solidFill>
          <a:ln w="0">
            <a:noFill/>
          </a:ln>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715" name="Text 38"/>
          <p:cNvSpPr/>
          <p:nvPr/>
        </p:nvSpPr>
        <p:spPr>
          <a:xfrm>
            <a:off x="1362240" y="9655560"/>
            <a:ext cx="1885680" cy="245520"/>
          </a:xfrm>
          <a:prstGeom prst="rect">
            <a:avLst/>
          </a:prstGeom>
          <a:noFill/>
          <a:ln w="0">
            <a:noFill/>
          </a:ln>
        </p:spPr>
        <p:style>
          <a:lnRef idx="0"/>
          <a:fillRef idx="0"/>
          <a:effectRef idx="0"/>
          <a:fontRef idx="minor"/>
        </p:style>
        <p:txBody>
          <a:bodyPr lIns="25560" rIns="25560" tIns="25560" bIns="25560" anchor="ctr">
            <a:normAutofit fontScale="87222" lnSpcReduction="10000"/>
          </a:bodyPr>
          <a:p>
            <a:pPr defTabSz="914400">
              <a:lnSpc>
                <a:spcPct val="156000"/>
              </a:lnSpc>
              <a:tabLst>
                <a:tab algn="l" pos="0"/>
              </a:tabLst>
            </a:pPr>
            <a:r>
              <a:rPr b="0" lang="en-US" sz="1050" spc="145" strike="noStrike">
                <a:solidFill>
                  <a:srgbClr val="1f5240"/>
                </a:solidFill>
                <a:latin typeface="JetBrains Mono"/>
                <a:ea typeface="JetBrains Mono"/>
              </a:rPr>
              <a:t>IF YOU NEED TO…</a:t>
            </a:r>
            <a:endParaRPr b="0" lang="en-AU" sz="1050" spc="-1" strike="noStrike">
              <a:solidFill>
                <a:srgbClr val="000000"/>
              </a:solidFill>
              <a:latin typeface="Arial"/>
            </a:endParaRPr>
          </a:p>
        </p:txBody>
      </p:sp>
      <p:sp>
        <p:nvSpPr>
          <p:cNvPr id="716" name="Text 39"/>
          <p:cNvSpPr/>
          <p:nvPr/>
        </p:nvSpPr>
        <p:spPr>
          <a:xfrm>
            <a:off x="3772080" y="9472320"/>
            <a:ext cx="3727800" cy="6123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16000"/>
              </a:lnSpc>
              <a:tabLst>
                <a:tab algn="l" pos="0"/>
              </a:tabLst>
            </a:pPr>
            <a:r>
              <a:rPr b="1" lang="en-US" sz="1950" spc="-24" strike="noStrike">
                <a:solidFill>
                  <a:srgbClr val="0e1116"/>
                </a:solidFill>
                <a:latin typeface="Space Grotesk"/>
                <a:ea typeface="Space Grotesk"/>
              </a:rPr>
              <a:t>Investigate a topic comprehensively</a:t>
            </a:r>
            <a:endParaRPr b="0" lang="en-AU" sz="1950" spc="-1" strike="noStrike">
              <a:solidFill>
                <a:srgbClr val="000000"/>
              </a:solidFill>
              <a:latin typeface="Arial"/>
            </a:endParaRPr>
          </a:p>
        </p:txBody>
      </p:sp>
      <p:sp>
        <p:nvSpPr>
          <p:cNvPr id="717" name="Text 40"/>
          <p:cNvSpPr/>
          <p:nvPr/>
        </p:nvSpPr>
        <p:spPr>
          <a:xfrm>
            <a:off x="7848720" y="9604440"/>
            <a:ext cx="9496440" cy="347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5000"/>
              </a:lnSpc>
              <a:tabLst>
                <a:tab algn="l" pos="0"/>
              </a:tabLst>
            </a:pPr>
            <a:r>
              <a:rPr b="1" lang="en-US" sz="1580" spc="-1" strike="noStrike">
                <a:solidFill>
                  <a:srgbClr val="0e1116"/>
                </a:solidFill>
                <a:latin typeface="Inter"/>
                <a:ea typeface="Inter"/>
              </a:rPr>
              <a:t>Research </a:t>
            </a:r>
            <a:r>
              <a:rPr b="0" lang="en-US" sz="1580" spc="-1" strike="noStrike">
                <a:solidFill>
                  <a:srgbClr val="1f2329"/>
                </a:solidFill>
                <a:latin typeface="Inter"/>
                <a:ea typeface="Inter"/>
              </a:rPr>
              <a:t>· multi-source, cited, structured report</a:t>
            </a:r>
            <a:endParaRPr b="0" lang="en-AU" sz="1580" spc="-1" strike="noStrike">
              <a:solidFill>
                <a:srgbClr val="000000"/>
              </a:solidFill>
              <a:latin typeface="Arial"/>
            </a:endParaRPr>
          </a:p>
        </p:txBody>
      </p:sp>
      <p:sp>
        <p:nvSpPr>
          <p:cNvPr id="718" name="Shape 41"/>
          <p:cNvSpPr/>
          <p:nvPr/>
        </p:nvSpPr>
        <p:spPr>
          <a:xfrm>
            <a:off x="1219320" y="10256400"/>
            <a:ext cx="15849360" cy="9000"/>
          </a:xfrm>
          <a:prstGeom prst="rect">
            <a:avLst/>
          </a:prstGeom>
          <a:solidFill>
            <a:srgbClr val="1f2329">
              <a:alpha val="14000"/>
            </a:srgbClr>
          </a:solidFill>
          <a:ln w="0">
            <a:noFill/>
          </a:ln>
        </p:spPr>
        <p:style>
          <a:lnRef idx="0"/>
          <a:fillRef idx="0"/>
          <a:effectRef idx="0"/>
          <a:fontRef idx="minor"/>
        </p:style>
        <p:txBody>
          <a:bodyPr lIns="90000" rIns="90000" tIns="-35640" bIns="-35640" anchor="t">
            <a:noAutofit/>
          </a:bodyPr>
          <a:p>
            <a:endParaRPr b="0" lang="en-AU" sz="1800" spc="-1" strike="noStrike">
              <a:solidFill>
                <a:srgbClr val="ffffff"/>
              </a:solidFill>
              <a:latin typeface="Arial"/>
            </a:endParaRPr>
          </a:p>
        </p:txBody>
      </p:sp>
      <p:sp>
        <p:nvSpPr>
          <p:cNvPr id="719" name="Text 42"/>
          <p:cNvSpPr/>
          <p:nvPr/>
        </p:nvSpPr>
        <p:spPr>
          <a:xfrm>
            <a:off x="16257960" y="9592200"/>
            <a:ext cx="886680" cy="27540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6000"/>
              </a:lnSpc>
              <a:tabLst>
                <a:tab algn="l" pos="0"/>
              </a:tabLst>
            </a:pPr>
            <a:r>
              <a:rPr b="0" lang="en-US" sz="1200" spc="191" strike="noStrike">
                <a:solidFill>
                  <a:srgbClr val="7a736a"/>
                </a:solidFill>
                <a:latin typeface="JetBrains Mono"/>
                <a:ea typeface="JetBrains Mono"/>
              </a:rPr>
              <a:t>29 / 30</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efe6"/>
        </a:solidFill>
      </p:bgPr>
    </p:bg>
    <p:spTree>
      <p:nvGrpSpPr>
        <p:cNvPr id="1" name=""/>
        <p:cNvGrpSpPr/>
        <p:nvPr/>
      </p:nvGrpSpPr>
      <p:grpSpPr>
        <a:xfrm>
          <a:off x="0" y="0"/>
          <a:ext cx="0" cy="0"/>
          <a:chOff x="0" y="0"/>
          <a:chExt cx="0" cy="0"/>
        </a:xfrm>
      </p:grpSpPr>
      <p:sp>
        <p:nvSpPr>
          <p:cNvPr id="720" name="Shape 0"/>
          <p:cNvSpPr/>
          <p:nvPr/>
        </p:nvSpPr>
        <p:spPr>
          <a:xfrm>
            <a:off x="0" y="0"/>
            <a:ext cx="7950960" cy="10286640"/>
          </a:xfrm>
          <a:prstGeom prst="rect">
            <a:avLst/>
          </a:prstGeom>
          <a:solidFill>
            <a:srgbClr val="0e1116"/>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721" name="Image 0" descr="preencoded.png"/>
          <p:cNvPicPr/>
          <p:nvPr/>
        </p:nvPicPr>
        <p:blipFill>
          <a:blip r:embed="rId1"/>
          <a:stretch/>
        </p:blipFill>
        <p:spPr>
          <a:xfrm>
            <a:off x="1308600" y="2476440"/>
            <a:ext cx="5333760" cy="5333760"/>
          </a:xfrm>
          <a:prstGeom prst="rect">
            <a:avLst/>
          </a:prstGeom>
          <a:ln w="0">
            <a:noFill/>
          </a:ln>
        </p:spPr>
      </p:pic>
      <p:sp>
        <p:nvSpPr>
          <p:cNvPr id="722" name="Shape 1"/>
          <p:cNvSpPr/>
          <p:nvPr/>
        </p:nvSpPr>
        <p:spPr>
          <a:xfrm>
            <a:off x="9170640" y="1314720"/>
            <a:ext cx="75960" cy="75960"/>
          </a:xfrm>
          <a:prstGeom prst="ellipse">
            <a:avLst/>
          </a:prstGeom>
          <a:solidFill>
            <a:srgbClr val="e36a2c"/>
          </a:solidFill>
          <a:ln w="0">
            <a:noFill/>
          </a:ln>
        </p:spPr>
        <p:style>
          <a:lnRef idx="0"/>
          <a:fillRef idx="0"/>
          <a:effectRef idx="0"/>
          <a:fontRef idx="minor"/>
        </p:style>
        <p:txBody>
          <a:bodyPr lIns="90000" rIns="90000" tIns="8640" bIns="8640" anchor="t">
            <a:noAutofit/>
          </a:bodyPr>
          <a:p>
            <a:endParaRPr b="0" lang="en-AU" sz="1800" spc="-1" strike="noStrike">
              <a:solidFill>
                <a:srgbClr val="ffffff"/>
              </a:solidFill>
              <a:latin typeface="Arial"/>
            </a:endParaRPr>
          </a:p>
        </p:txBody>
      </p:sp>
      <p:sp>
        <p:nvSpPr>
          <p:cNvPr id="723" name="Text 2"/>
          <p:cNvSpPr/>
          <p:nvPr/>
        </p:nvSpPr>
        <p:spPr>
          <a:xfrm>
            <a:off x="9361080" y="1238400"/>
            <a:ext cx="3994200" cy="256680"/>
          </a:xfrm>
          <a:prstGeom prst="rect">
            <a:avLst/>
          </a:prstGeom>
          <a:noFill/>
          <a:ln w="0">
            <a:noFill/>
          </a:ln>
        </p:spPr>
        <p:style>
          <a:lnRef idx="0"/>
          <a:fillRef idx="0"/>
          <a:effectRef idx="0"/>
          <a:fontRef idx="minor"/>
        </p:style>
        <p:txBody>
          <a:bodyPr lIns="0" rIns="0" tIns="0" bIns="0" anchor="t">
            <a:normAutofit fontScale="87222"/>
          </a:bodyPr>
          <a:p>
            <a:pPr defTabSz="914400">
              <a:lnSpc>
                <a:spcPct val="156000"/>
              </a:lnSpc>
              <a:tabLst>
                <a:tab algn="l" pos="0"/>
              </a:tabLst>
            </a:pPr>
            <a:r>
              <a:rPr b="0" lang="en-US" sz="1350" spc="242" strike="noStrike">
                <a:solidFill>
                  <a:srgbClr val="7a736a"/>
                </a:solidFill>
                <a:latin typeface="JetBrains Mono"/>
                <a:ea typeface="JetBrains Mono"/>
              </a:rPr>
              <a:t>THANKS FOR SITTING THROUGH IT</a:t>
            </a:r>
            <a:endParaRPr b="0" lang="en-AU" sz="1350" spc="-1" strike="noStrike">
              <a:solidFill>
                <a:srgbClr val="000000"/>
              </a:solidFill>
              <a:latin typeface="Arial"/>
            </a:endParaRPr>
          </a:p>
        </p:txBody>
      </p:sp>
      <p:sp>
        <p:nvSpPr>
          <p:cNvPr id="724" name="Text 3"/>
          <p:cNvSpPr/>
          <p:nvPr/>
        </p:nvSpPr>
        <p:spPr>
          <a:xfrm>
            <a:off x="9170640" y="2472480"/>
            <a:ext cx="8134920" cy="3905640"/>
          </a:xfrm>
          <a:prstGeom prst="rect">
            <a:avLst/>
          </a:prstGeom>
          <a:noFill/>
          <a:ln w="0">
            <a:noFill/>
          </a:ln>
        </p:spPr>
        <p:style>
          <a:lnRef idx="0"/>
          <a:fillRef idx="0"/>
          <a:effectRef idx="0"/>
          <a:fontRef idx="minor"/>
        </p:style>
        <p:txBody>
          <a:bodyPr lIns="25560" rIns="25560" tIns="25560" bIns="25560" anchor="t">
            <a:normAutofit fontScale="83333"/>
          </a:bodyPr>
          <a:p>
            <a:pPr defTabSz="914400">
              <a:lnSpc>
                <a:spcPct val="94000"/>
              </a:lnSpc>
              <a:tabLst>
                <a:tab algn="l" pos="0"/>
              </a:tabLst>
            </a:pPr>
            <a:r>
              <a:rPr b="0" lang="en-US" sz="10800" spc="-282" strike="noStrike">
                <a:solidFill>
                  <a:srgbClr val="0e1116"/>
                </a:solidFill>
                <a:latin typeface="Space Grotesk"/>
                <a:ea typeface="Space Grotesk"/>
              </a:rPr>
              <a:t>Now go automate something.</a:t>
            </a:r>
            <a:endParaRPr b="0" lang="en-AU" sz="10800" spc="-1" strike="noStrike">
              <a:solidFill>
                <a:srgbClr val="000000"/>
              </a:solidFill>
              <a:latin typeface="Arial"/>
            </a:endParaRPr>
          </a:p>
        </p:txBody>
      </p:sp>
      <p:sp>
        <p:nvSpPr>
          <p:cNvPr id="725" name="Text 4"/>
          <p:cNvSpPr/>
          <p:nvPr/>
        </p:nvSpPr>
        <p:spPr>
          <a:xfrm>
            <a:off x="9170640" y="6797520"/>
            <a:ext cx="7063560" cy="903240"/>
          </a:xfrm>
          <a:prstGeom prst="rect">
            <a:avLst/>
          </a:prstGeom>
          <a:noFill/>
          <a:ln w="0">
            <a:noFill/>
          </a:ln>
        </p:spPr>
        <p:style>
          <a:lnRef idx="0"/>
          <a:fillRef idx="0"/>
          <a:effectRef idx="0"/>
          <a:fontRef idx="minor"/>
        </p:style>
        <p:txBody>
          <a:bodyPr lIns="25560" rIns="25560" tIns="25560" bIns="25560" anchor="t">
            <a:normAutofit fontScale="93333" lnSpcReduction="10000"/>
          </a:bodyPr>
          <a:p>
            <a:pPr defTabSz="914400">
              <a:lnSpc>
                <a:spcPct val="142000"/>
              </a:lnSpc>
              <a:tabLst>
                <a:tab algn="l" pos="0"/>
              </a:tabLst>
            </a:pPr>
            <a:r>
              <a:rPr b="0" lang="en-US" sz="2400" spc="-12" strike="noStrike">
                <a:solidFill>
                  <a:srgbClr val="1f2329"/>
                </a:solidFill>
                <a:latin typeface="Inter"/>
                <a:ea typeface="Inter"/>
              </a:rPr>
              <a:t>Questions? We'll stick around for 10 minutes. Otherwise.</a:t>
            </a:r>
            <a:endParaRPr b="0" lang="en-AU" sz="2400" spc="-1" strike="noStrike">
              <a:solidFill>
                <a:srgbClr val="000000"/>
              </a:solidFill>
              <a:latin typeface="Arial"/>
            </a:endParaRPr>
          </a:p>
        </p:txBody>
      </p:sp>
      <p:pic>
        <p:nvPicPr>
          <p:cNvPr id="726" name="Image 1" descr="preencoded.png"/>
          <p:cNvPicPr/>
          <p:nvPr/>
        </p:nvPicPr>
        <p:blipFill>
          <a:blip r:embed="rId2"/>
          <a:stretch/>
        </p:blipFill>
        <p:spPr>
          <a:xfrm>
            <a:off x="9170640" y="8648640"/>
            <a:ext cx="418680" cy="418680"/>
          </a:xfrm>
          <a:prstGeom prst="rect">
            <a:avLst/>
          </a:prstGeom>
          <a:ln w="0">
            <a:noFill/>
          </a:ln>
        </p:spPr>
      </p:pic>
      <p:sp>
        <p:nvSpPr>
          <p:cNvPr id="727" name="Text 5"/>
          <p:cNvSpPr/>
          <p:nvPr/>
        </p:nvSpPr>
        <p:spPr>
          <a:xfrm>
            <a:off x="9894240" y="8694720"/>
            <a:ext cx="2267280" cy="364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6000"/>
              </a:lnSpc>
              <a:tabLst>
                <a:tab algn="l" pos="0"/>
              </a:tabLst>
            </a:pPr>
            <a:r>
              <a:rPr b="1" lang="en-US" sz="1650" spc="-21" strike="noStrike">
                <a:solidFill>
                  <a:srgbClr val="0e1116"/>
                </a:solidFill>
                <a:latin typeface="Space Grotesk"/>
                <a:ea typeface="Space Grotesk"/>
              </a:rPr>
              <a:t>Agentic </a:t>
            </a:r>
            <a:r>
              <a:rPr b="1" lang="en-US" sz="1650" spc="-21" strike="noStrike">
                <a:solidFill>
                  <a:srgbClr val="e36a2c"/>
                </a:solidFill>
                <a:latin typeface="Space Grotesk"/>
                <a:ea typeface="Space Grotesk"/>
              </a:rPr>
              <a:t>· </a:t>
            </a:r>
            <a:r>
              <a:rPr b="0" lang="en-US" sz="1650" spc="-21" strike="noStrike">
                <a:solidFill>
                  <a:srgbClr val="0e1116"/>
                </a:solidFill>
                <a:latin typeface="Space Grotesk"/>
                <a:ea typeface="Space Grotesk"/>
              </a:rPr>
              <a:t>Automations</a:t>
            </a:r>
            <a:endParaRPr b="0" lang="en-AU" sz="1650" spc="-1" strike="noStrike">
              <a:solidFill>
                <a:srgbClr val="000000"/>
              </a:solidFill>
              <a:latin typeface="Arial"/>
            </a:endParaRPr>
          </a:p>
        </p:txBody>
      </p:sp>
      <p:sp>
        <p:nvSpPr>
          <p:cNvPr id="728" name="Text 6"/>
          <p:cNvSpPr/>
          <p:nvPr/>
        </p:nvSpPr>
        <p:spPr>
          <a:xfrm>
            <a:off x="15716520" y="8754120"/>
            <a:ext cx="1428120" cy="2455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6000"/>
              </a:lnSpc>
              <a:tabLst>
                <a:tab algn="l" pos="0"/>
              </a:tabLst>
            </a:pPr>
            <a:r>
              <a:rPr b="0" lang="en-US" sz="1050" spc="188" strike="noStrike">
                <a:solidFill>
                  <a:srgbClr val="7a736a"/>
                </a:solidFill>
                <a:latin typeface="JetBrains Mono"/>
                <a:ea typeface="JetBrains Mono"/>
              </a:rPr>
              <a:t>30 / 30 · END</a:t>
            </a:r>
            <a:endParaRPr b="0" lang="en-AU"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2026-05-14T11:17:55Z</dcterms:created>
  <dc:creator>PptxGenJS</dc:creator>
  <dc:description/>
  <dc:language>en-AU</dc:language>
  <cp:lastModifiedBy/>
  <dcterms:modified xsi:type="dcterms:W3CDTF">2026-05-14T21:19:37Z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31</vt:i4>
  </property>
  <property fmtid="{D5CDD505-2E9C-101B-9397-08002B2CF9AE}" pid="3" name="PresentationFormat">
    <vt:lpwstr>On-screen Show (16:9)</vt:lpwstr>
  </property>
  <property fmtid="{D5CDD505-2E9C-101B-9397-08002B2CF9AE}" pid="4" name="Slides">
    <vt:i4>31</vt:i4>
  </property>
</Properties>
</file>