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9144000" cy="51419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120"/>
            <a:ext cx="822924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B6B158-AA4C-440C-B57E-8BC686F2CB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A26820-0105-43D9-AE1B-EAE00D5D49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DE57733-B3F5-4F80-B3BE-DE74B2564B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822924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BF291AB-0896-4A4C-8372-3C9FE3EB56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FFEACDC-7593-4124-BAC8-DFEF549A8A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401580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203120"/>
            <a:ext cx="401580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A47245F-A421-4772-A472-D0AA8A20F6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497AD01-9C4D-4445-B652-AD5D6BB836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8BC1929-6695-4247-A685-4264EC97EF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317292C-412F-4663-B398-A1EEF67B50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B2E05B6-6D04-47F6-A03C-C4BD156E31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AA31D0C-4CC6-47DF-8B7B-5D649CF641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A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0C6A28-A72E-4678-A485-5B01DD743C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322380-269A-4A99-A875-371113A67C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8F75B7-2FB0-4DF5-9FC2-0908ACF7FE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3A8834-190B-48F4-A9A9-4235E2806D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F3FED9-E460-46AF-B20C-C70C07E841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A4CD21-AE23-4B46-9B3C-A6803C643A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3B17E8-6294-4F9D-A7BE-04BA1A8A3E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0FBE07-A45A-4064-8BA7-1756AB43C0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C9A56F-2E4B-450A-AFF1-A3770E6192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924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40CBA1-DA40-4EF8-BB00-24353CAF8A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1B8007-350F-475C-97C1-5345236F9E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5040000" y="-9000"/>
            <a:ext cx="4113360" cy="411336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6585120" y="2558520"/>
            <a:ext cx="2558880" cy="255888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457200" y="1097280"/>
            <a:ext cx="68565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Building Claude Plugins</a:t>
            </a:r>
            <a:endParaRPr b="0" lang="en-A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457200" y="1920240"/>
            <a:ext cx="6856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cadcfc"/>
                </a:solidFill>
                <a:latin typeface="Calibri"/>
              </a:rPr>
              <a:t>Level 2  —  MCP Integrations</a:t>
            </a:r>
            <a:endParaRPr b="0" lang="en-A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457200" y="2788920"/>
            <a:ext cx="2924640" cy="352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360" bIns="-93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457200" y="2926080"/>
            <a:ext cx="6399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</a:rPr>
              <a:t>for Financial Services  •  Live Data  •  Persistent Memory  •  Document Generation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457200" y="3383280"/>
            <a:ext cx="8229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tavily (live market data)  |  memory MCP  |  Native File Tools  |  Python Scripts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360360" y="4140360"/>
            <a:ext cx="6856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4748b"/>
                </a:solidFill>
                <a:latin typeface="Calibri"/>
              </a:rPr>
              <a:t>Produced by: Essential Agentic Automations — https://agentic-automations.ai/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OVERVIEW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365760" y="59436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</a:rPr>
              <a:t>Level 1 → Level 2: What's New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2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365760" y="1188720"/>
            <a:ext cx="2514240" cy="383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438840" y="1243440"/>
            <a:ext cx="2422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Feature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8"/>
          <p:cNvSpPr/>
          <p:nvPr/>
        </p:nvSpPr>
        <p:spPr>
          <a:xfrm>
            <a:off x="2971800" y="1188720"/>
            <a:ext cx="2697120" cy="383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3044880" y="1243440"/>
            <a:ext cx="2605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Level 1 (finops-basic)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10"/>
          <p:cNvSpPr/>
          <p:nvPr/>
        </p:nvSpPr>
        <p:spPr>
          <a:xfrm>
            <a:off x="5760720" y="1188720"/>
            <a:ext cx="3245760" cy="383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5833800" y="1243440"/>
            <a:ext cx="3154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Level 2 (finops-advanced)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12"/>
          <p:cNvSpPr/>
          <p:nvPr/>
        </p:nvSpPr>
        <p:spPr>
          <a:xfrm>
            <a:off x="365760" y="1572840"/>
            <a:ext cx="251424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3"/>
          <p:cNvSpPr/>
          <p:nvPr/>
        </p:nvSpPr>
        <p:spPr>
          <a:xfrm>
            <a:off x="438840" y="1618560"/>
            <a:ext cx="2395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MCP servers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14"/>
          <p:cNvSpPr/>
          <p:nvPr/>
        </p:nvSpPr>
        <p:spPr>
          <a:xfrm>
            <a:off x="2971800" y="1572840"/>
            <a:ext cx="269712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5"/>
          <p:cNvSpPr/>
          <p:nvPr/>
        </p:nvSpPr>
        <p:spPr>
          <a:xfrm>
            <a:off x="3044880" y="1618560"/>
            <a:ext cx="25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</a:rPr>
              <a:t>None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16"/>
          <p:cNvSpPr/>
          <p:nvPr/>
        </p:nvSpPr>
        <p:spPr>
          <a:xfrm>
            <a:off x="5760720" y="1572840"/>
            <a:ext cx="324576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5833800" y="1618560"/>
            <a:ext cx="3126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tavily + memory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18"/>
          <p:cNvSpPr/>
          <p:nvPr/>
        </p:nvSpPr>
        <p:spPr>
          <a:xfrm>
            <a:off x="365760" y="1956960"/>
            <a:ext cx="251424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438840" y="2002680"/>
            <a:ext cx="2395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Market data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20"/>
          <p:cNvSpPr/>
          <p:nvPr/>
        </p:nvSpPr>
        <p:spPr>
          <a:xfrm>
            <a:off x="2971800" y="1956960"/>
            <a:ext cx="269712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1"/>
          <p:cNvSpPr/>
          <p:nvPr/>
        </p:nvSpPr>
        <p:spPr>
          <a:xfrm>
            <a:off x="3044880" y="2002680"/>
            <a:ext cx="25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</a:rPr>
              <a:t>Static (Claude knowledge)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22"/>
          <p:cNvSpPr/>
          <p:nvPr/>
        </p:nvSpPr>
        <p:spPr>
          <a:xfrm>
            <a:off x="5760720" y="1956960"/>
            <a:ext cx="324576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5833800" y="2002680"/>
            <a:ext cx="3126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Live via tavily, cited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24"/>
          <p:cNvSpPr/>
          <p:nvPr/>
        </p:nvSpPr>
        <p:spPr>
          <a:xfrm>
            <a:off x="365760" y="2340720"/>
            <a:ext cx="251424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5"/>
          <p:cNvSpPr/>
          <p:nvPr/>
        </p:nvSpPr>
        <p:spPr>
          <a:xfrm>
            <a:off x="438840" y="2386440"/>
            <a:ext cx="2395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Client documents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26"/>
          <p:cNvSpPr/>
          <p:nvPr/>
        </p:nvSpPr>
        <p:spPr>
          <a:xfrm>
            <a:off x="2971800" y="2340720"/>
            <a:ext cx="269712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7"/>
          <p:cNvSpPr/>
          <p:nvPr/>
        </p:nvSpPr>
        <p:spPr>
          <a:xfrm>
            <a:off x="3044880" y="2386440"/>
            <a:ext cx="25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</a:rPr>
              <a:t>Manual paste only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28"/>
          <p:cNvSpPr/>
          <p:nvPr/>
        </p:nvSpPr>
        <p:spPr>
          <a:xfrm>
            <a:off x="5760720" y="2340720"/>
            <a:ext cx="324576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29"/>
          <p:cNvSpPr/>
          <p:nvPr/>
        </p:nvSpPr>
        <p:spPr>
          <a:xfrm>
            <a:off x="5833800" y="2386440"/>
            <a:ext cx="3126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Read from disk natively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30"/>
          <p:cNvSpPr/>
          <p:nvPr/>
        </p:nvSpPr>
        <p:spPr>
          <a:xfrm>
            <a:off x="365760" y="2724840"/>
            <a:ext cx="251424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31"/>
          <p:cNvSpPr/>
          <p:nvPr/>
        </p:nvSpPr>
        <p:spPr>
          <a:xfrm>
            <a:off x="438840" y="2770560"/>
            <a:ext cx="2395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Client history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32"/>
          <p:cNvSpPr/>
          <p:nvPr/>
        </p:nvSpPr>
        <p:spPr>
          <a:xfrm>
            <a:off x="2971800" y="2724840"/>
            <a:ext cx="269712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33"/>
          <p:cNvSpPr/>
          <p:nvPr/>
        </p:nvSpPr>
        <p:spPr>
          <a:xfrm>
            <a:off x="3044880" y="2770560"/>
            <a:ext cx="25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</a:rPr>
              <a:t>Resets each session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34"/>
          <p:cNvSpPr/>
          <p:nvPr/>
        </p:nvSpPr>
        <p:spPr>
          <a:xfrm>
            <a:off x="5760720" y="2724840"/>
            <a:ext cx="324576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35"/>
          <p:cNvSpPr/>
          <p:nvPr/>
        </p:nvSpPr>
        <p:spPr>
          <a:xfrm>
            <a:off x="5833800" y="2770560"/>
            <a:ext cx="3126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Persists via memory MCP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36"/>
          <p:cNvSpPr/>
          <p:nvPr/>
        </p:nvSpPr>
        <p:spPr>
          <a:xfrm>
            <a:off x="365760" y="3108960"/>
            <a:ext cx="251424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37"/>
          <p:cNvSpPr/>
          <p:nvPr/>
        </p:nvSpPr>
        <p:spPr>
          <a:xfrm>
            <a:off x="438840" y="3154680"/>
            <a:ext cx="2395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Compliance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38"/>
          <p:cNvSpPr/>
          <p:nvPr/>
        </p:nvSpPr>
        <p:spPr>
          <a:xfrm>
            <a:off x="2971800" y="3108960"/>
            <a:ext cx="269712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39"/>
          <p:cNvSpPr/>
          <p:nvPr/>
        </p:nvSpPr>
        <p:spPr>
          <a:xfrm>
            <a:off x="3044880" y="3154680"/>
            <a:ext cx="25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</a:rPr>
              <a:t>Knowledge-based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40"/>
          <p:cNvSpPr/>
          <p:nvPr/>
        </p:nvSpPr>
        <p:spPr>
          <a:xfrm>
            <a:off x="5760720" y="3108960"/>
            <a:ext cx="324576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41"/>
          <p:cNvSpPr/>
          <p:nvPr/>
        </p:nvSpPr>
        <p:spPr>
          <a:xfrm>
            <a:off x="5833800" y="3154680"/>
            <a:ext cx="3126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Verified vs ASIC.gov.au live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42"/>
          <p:cNvSpPr/>
          <p:nvPr/>
        </p:nvSpPr>
        <p:spPr>
          <a:xfrm>
            <a:off x="365760" y="3493080"/>
            <a:ext cx="251424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43"/>
          <p:cNvSpPr/>
          <p:nvPr/>
        </p:nvSpPr>
        <p:spPr>
          <a:xfrm>
            <a:off x="438840" y="3538800"/>
            <a:ext cx="2395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New commands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44"/>
          <p:cNvSpPr/>
          <p:nvPr/>
        </p:nvSpPr>
        <p:spPr>
          <a:xfrm>
            <a:off x="2971800" y="3493080"/>
            <a:ext cx="269712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45"/>
          <p:cNvSpPr/>
          <p:nvPr/>
        </p:nvSpPr>
        <p:spPr>
          <a:xfrm>
            <a:off x="3044880" y="3538800"/>
            <a:ext cx="25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</a:rPr>
              <a:t>—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46"/>
          <p:cNvSpPr/>
          <p:nvPr/>
        </p:nvSpPr>
        <p:spPr>
          <a:xfrm>
            <a:off x="5760720" y="3493080"/>
            <a:ext cx="324576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47"/>
          <p:cNvSpPr/>
          <p:nvPr/>
        </p:nvSpPr>
        <p:spPr>
          <a:xfrm>
            <a:off x="5833800" y="3538800"/>
            <a:ext cx="3126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portfolio-review, market-briefing,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retirement-projection, generate-report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48"/>
          <p:cNvSpPr/>
          <p:nvPr/>
        </p:nvSpPr>
        <p:spPr>
          <a:xfrm>
            <a:off x="365760" y="3877200"/>
            <a:ext cx="251424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49"/>
          <p:cNvSpPr/>
          <p:nvPr/>
        </p:nvSpPr>
        <p:spPr>
          <a:xfrm>
            <a:off x="438840" y="3922920"/>
            <a:ext cx="2395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New agents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50"/>
          <p:cNvSpPr/>
          <p:nvPr/>
        </p:nvSpPr>
        <p:spPr>
          <a:xfrm>
            <a:off x="2971800" y="3877200"/>
            <a:ext cx="269712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51"/>
          <p:cNvSpPr/>
          <p:nvPr/>
        </p:nvSpPr>
        <p:spPr>
          <a:xfrm>
            <a:off x="3044880" y="3922920"/>
            <a:ext cx="25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</a:rPr>
              <a:t>—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52"/>
          <p:cNvSpPr/>
          <p:nvPr/>
        </p:nvSpPr>
        <p:spPr>
          <a:xfrm>
            <a:off x="5760720" y="3877200"/>
            <a:ext cx="3245760" cy="38376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53"/>
          <p:cNvSpPr/>
          <p:nvPr/>
        </p:nvSpPr>
        <p:spPr>
          <a:xfrm>
            <a:off x="5833800" y="3922920"/>
            <a:ext cx="3126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portfolio-analyst, market-researcher,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report-generator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54"/>
          <p:cNvSpPr/>
          <p:nvPr/>
        </p:nvSpPr>
        <p:spPr>
          <a:xfrm>
            <a:off x="365760" y="4260960"/>
            <a:ext cx="251424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55"/>
          <p:cNvSpPr/>
          <p:nvPr/>
        </p:nvSpPr>
        <p:spPr>
          <a:xfrm>
            <a:off x="438840" y="4306680"/>
            <a:ext cx="2395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New skills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56"/>
          <p:cNvSpPr/>
          <p:nvPr/>
        </p:nvSpPr>
        <p:spPr>
          <a:xfrm>
            <a:off x="2971800" y="4260960"/>
            <a:ext cx="269712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57"/>
          <p:cNvSpPr/>
          <p:nvPr/>
        </p:nvSpPr>
        <p:spPr>
          <a:xfrm>
            <a:off x="3044880" y="4306680"/>
            <a:ext cx="25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</a:rPr>
              <a:t>—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58"/>
          <p:cNvSpPr/>
          <p:nvPr/>
        </p:nvSpPr>
        <p:spPr>
          <a:xfrm>
            <a:off x="5760720" y="4260960"/>
            <a:ext cx="3245760" cy="383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59"/>
          <p:cNvSpPr/>
          <p:nvPr/>
        </p:nvSpPr>
        <p:spPr>
          <a:xfrm>
            <a:off x="5833800" y="4306680"/>
            <a:ext cx="3126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1e2761"/>
                </a:solidFill>
                <a:latin typeface="Calibri"/>
              </a:rPr>
              <a:t>market-awareness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STRUCTURE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4"/>
          <p:cNvSpPr/>
          <p:nvPr/>
        </p:nvSpPr>
        <p:spPr>
          <a:xfrm>
            <a:off x="0" y="0"/>
            <a:ext cx="9143640" cy="8683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ectangle 5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ectangle 6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STRUCTURE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360000" y="54000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Plugin Folder Structure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3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10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ectangle 11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STRUCTURE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13"/>
          <p:cNvSpPr/>
          <p:nvPr/>
        </p:nvSpPr>
        <p:spPr>
          <a:xfrm>
            <a:off x="365760" y="1005840"/>
            <a:ext cx="4434480" cy="397728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14"/>
          <p:cNvSpPr/>
          <p:nvPr/>
        </p:nvSpPr>
        <p:spPr>
          <a:xfrm>
            <a:off x="457200" y="1051560"/>
            <a:ext cx="4251600" cy="29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finops-advanced/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.claude-plugin/plugin.json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.mcp.json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skills/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compliance-language/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client-meeting-prep/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email-tone/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└──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market-awareness/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commands/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portfolio-review.md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market-briefing.md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retirement-projection.md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generate-report.md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└──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setup-test-client.md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agents/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portfolio-analyst.md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market-researcher.md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│   └──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report-generator.md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└──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scripts/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    ├──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fill_report.py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    └── </a:t>
            </a: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sample_data.json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15"/>
          <p:cNvSpPr/>
          <p:nvPr/>
        </p:nvSpPr>
        <p:spPr>
          <a:xfrm>
            <a:off x="4937760" y="1234440"/>
            <a:ext cx="3977280" cy="255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16"/>
          <p:cNvSpPr/>
          <p:nvPr/>
        </p:nvSpPr>
        <p:spPr>
          <a:xfrm>
            <a:off x="5029200" y="123444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←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Plugin identity card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 17"/>
          <p:cNvSpPr/>
          <p:nvPr/>
        </p:nvSpPr>
        <p:spPr>
          <a:xfrm>
            <a:off x="4937760" y="1536120"/>
            <a:ext cx="3977280" cy="255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18"/>
          <p:cNvSpPr/>
          <p:nvPr/>
        </p:nvSpPr>
        <p:spPr>
          <a:xfrm>
            <a:off x="5029200" y="153612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←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MCP server wiring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19"/>
          <p:cNvSpPr/>
          <p:nvPr/>
        </p:nvSpPr>
        <p:spPr>
          <a:xfrm>
            <a:off x="4937760" y="1847160"/>
            <a:ext cx="3977280" cy="255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20"/>
          <p:cNvSpPr/>
          <p:nvPr/>
        </p:nvSpPr>
        <p:spPr>
          <a:xfrm>
            <a:off x="5029200" y="184716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←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Auto-fire skills (4 total)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 21"/>
          <p:cNvSpPr/>
          <p:nvPr/>
        </p:nvSpPr>
        <p:spPr>
          <a:xfrm>
            <a:off x="4937760" y="2724840"/>
            <a:ext cx="3977280" cy="2556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22"/>
          <p:cNvSpPr/>
          <p:nvPr/>
        </p:nvSpPr>
        <p:spPr>
          <a:xfrm>
            <a:off x="5029200" y="272484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← </a:t>
            </a: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NEW: auto-surfaces market data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23"/>
          <p:cNvSpPr/>
          <p:nvPr/>
        </p:nvSpPr>
        <p:spPr>
          <a:xfrm>
            <a:off x="4937760" y="3035880"/>
            <a:ext cx="3977280" cy="255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24"/>
          <p:cNvSpPr/>
          <p:nvPr/>
        </p:nvSpPr>
        <p:spPr>
          <a:xfrm>
            <a:off x="5029200" y="303588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←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10 commands total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25"/>
          <p:cNvSpPr/>
          <p:nvPr/>
        </p:nvSpPr>
        <p:spPr>
          <a:xfrm>
            <a:off x="4937760" y="3337560"/>
            <a:ext cx="3977280" cy="2556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26"/>
          <p:cNvSpPr/>
          <p:nvPr/>
        </p:nvSpPr>
        <p:spPr>
          <a:xfrm>
            <a:off x="5029200" y="333756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← </a:t>
            </a: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NEW: live portfolio analysis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 27"/>
          <p:cNvSpPr/>
          <p:nvPr/>
        </p:nvSpPr>
        <p:spPr>
          <a:xfrm>
            <a:off x="4937760" y="3657600"/>
            <a:ext cx="3977280" cy="2556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28"/>
          <p:cNvSpPr/>
          <p:nvPr/>
        </p:nvSpPr>
        <p:spPr>
          <a:xfrm>
            <a:off x="5029200" y="365760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← </a:t>
            </a: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NEW: live ASX/RBA briefing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29"/>
          <p:cNvSpPr/>
          <p:nvPr/>
        </p:nvSpPr>
        <p:spPr>
          <a:xfrm>
            <a:off x="4937760" y="3950280"/>
            <a:ext cx="3977280" cy="2556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30"/>
          <p:cNvSpPr/>
          <p:nvPr/>
        </p:nvSpPr>
        <p:spPr>
          <a:xfrm>
            <a:off x="5029200" y="395028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← </a:t>
            </a: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NEW: fills Word templates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 31"/>
          <p:cNvSpPr/>
          <p:nvPr/>
        </p:nvSpPr>
        <p:spPr>
          <a:xfrm>
            <a:off x="4937760" y="4251960"/>
            <a:ext cx="3977280" cy="255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32"/>
          <p:cNvSpPr/>
          <p:nvPr/>
        </p:nvSpPr>
        <p:spPr>
          <a:xfrm>
            <a:off x="5029200" y="425196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←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NEW: 5 agents total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33"/>
          <p:cNvSpPr/>
          <p:nvPr/>
        </p:nvSpPr>
        <p:spPr>
          <a:xfrm>
            <a:off x="4937760" y="4572000"/>
            <a:ext cx="3977280" cy="2556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34"/>
          <p:cNvSpPr/>
          <p:nvPr/>
        </p:nvSpPr>
        <p:spPr>
          <a:xfrm>
            <a:off x="5029200" y="4572000"/>
            <a:ext cx="3885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e2761"/>
                </a:solidFill>
                <a:latin typeface="Calibri"/>
              </a:rPr>
              <a:t>← </a:t>
            </a:r>
            <a:r>
              <a:rPr b="1" lang="en-US" sz="1000" spc="-1" strike="noStrike">
                <a:solidFill>
                  <a:srgbClr val="1e2761"/>
                </a:solidFill>
                <a:latin typeface="Calibri"/>
              </a:rPr>
              <a:t>Python automation scripts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MCP SERVERS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4"/>
          <p:cNvSpPr/>
          <p:nvPr/>
        </p:nvSpPr>
        <p:spPr>
          <a:xfrm>
            <a:off x="365760" y="59436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</a:rPr>
              <a:t>What the MCP Servers Do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4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6"/>
          <p:cNvSpPr/>
          <p:nvPr/>
        </p:nvSpPr>
        <p:spPr>
          <a:xfrm>
            <a:off x="320040" y="1234440"/>
            <a:ext cx="2742840" cy="356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ectangle 7"/>
          <p:cNvSpPr/>
          <p:nvPr/>
        </p:nvSpPr>
        <p:spPr>
          <a:xfrm>
            <a:off x="320040" y="1234440"/>
            <a:ext cx="2742840" cy="548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8"/>
          <p:cNvSpPr/>
          <p:nvPr/>
        </p:nvSpPr>
        <p:spPr>
          <a:xfrm>
            <a:off x="411480" y="126180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📁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Native File Tools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9"/>
          <p:cNvSpPr/>
          <p:nvPr/>
        </p:nvSpPr>
        <p:spPr>
          <a:xfrm>
            <a:off x="457200" y="192024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Built into Claude Code — no MCP needed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0"/>
          <p:cNvSpPr/>
          <p:nvPr/>
        </p:nvSpPr>
        <p:spPr>
          <a:xfrm>
            <a:off x="457200" y="239580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Read portfolio statements from disk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1"/>
          <p:cNvSpPr/>
          <p:nvPr/>
        </p:nvSpPr>
        <p:spPr>
          <a:xfrm>
            <a:off x="457200" y="2871360"/>
            <a:ext cx="2468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Read SOA drafts and fact-finds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12"/>
          <p:cNvSpPr/>
          <p:nvPr/>
        </p:nvSpPr>
        <p:spPr>
          <a:xfrm>
            <a:off x="457200" y="334656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Used by: /portfolio-review, /prep-meeting, /draft-report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13"/>
          <p:cNvSpPr/>
          <p:nvPr/>
        </p:nvSpPr>
        <p:spPr>
          <a:xfrm>
            <a:off x="3246120" y="1234440"/>
            <a:ext cx="2742840" cy="356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Rectangle 14"/>
          <p:cNvSpPr/>
          <p:nvPr/>
        </p:nvSpPr>
        <p:spPr>
          <a:xfrm>
            <a:off x="3246120" y="1234440"/>
            <a:ext cx="2742840" cy="5482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5"/>
          <p:cNvSpPr/>
          <p:nvPr/>
        </p:nvSpPr>
        <p:spPr>
          <a:xfrm>
            <a:off x="3337560" y="1261800"/>
            <a:ext cx="25599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🌐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tavily — Live Market Data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6"/>
          <p:cNvSpPr/>
          <p:nvPr/>
        </p:nvSpPr>
        <p:spPr>
          <a:xfrm>
            <a:off x="3383280" y="192024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Real-time web search for market data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17"/>
          <p:cNvSpPr/>
          <p:nvPr/>
        </p:nvSpPr>
        <p:spPr>
          <a:xfrm>
            <a:off x="3383280" y="2395800"/>
            <a:ext cx="2468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ASX 200, RBA rate, CPI, bonds, FX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18"/>
          <p:cNvSpPr/>
          <p:nvPr/>
        </p:nvSpPr>
        <p:spPr>
          <a:xfrm>
            <a:off x="3383280" y="287136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Every figure cited with source + date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19"/>
          <p:cNvSpPr/>
          <p:nvPr/>
        </p:nvSpPr>
        <p:spPr>
          <a:xfrm>
            <a:off x="3383280" y="3346560"/>
            <a:ext cx="246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Used by: market-briefing, compliance-reviewer, market-awareness skill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20"/>
          <p:cNvSpPr/>
          <p:nvPr/>
        </p:nvSpPr>
        <p:spPr>
          <a:xfrm>
            <a:off x="6172200" y="1234440"/>
            <a:ext cx="2742840" cy="356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ectangle 21"/>
          <p:cNvSpPr/>
          <p:nvPr/>
        </p:nvSpPr>
        <p:spPr>
          <a:xfrm>
            <a:off x="6172200" y="1234440"/>
            <a:ext cx="2742840" cy="548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22"/>
          <p:cNvSpPr/>
          <p:nvPr/>
        </p:nvSpPr>
        <p:spPr>
          <a:xfrm>
            <a:off x="6263640" y="1261800"/>
            <a:ext cx="25599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🧠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memory — Client Continuity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23"/>
          <p:cNvSpPr/>
          <p:nvPr/>
        </p:nvSpPr>
        <p:spPr>
          <a:xfrm>
            <a:off x="6309360" y="192024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Persistent knowledge graph across sessions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24"/>
          <p:cNvSpPr/>
          <p:nvPr/>
        </p:nvSpPr>
        <p:spPr>
          <a:xfrm>
            <a:off x="6309360" y="239580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Stores risk profiles, goals, action items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25"/>
          <p:cNvSpPr/>
          <p:nvPr/>
        </p:nvSpPr>
        <p:spPr>
          <a:xfrm>
            <a:off x="6309360" y="2871360"/>
            <a:ext cx="2468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Survives Claude Code restarts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26"/>
          <p:cNvSpPr/>
          <p:nvPr/>
        </p:nvSpPr>
        <p:spPr>
          <a:xfrm>
            <a:off x="6309360" y="334656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Used by: summarise-meeting, prep-meeting, weekly-summary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SETUP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365760" y="59436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</a:rPr>
              <a:t>Getting Set Up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5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365760" y="1005840"/>
            <a:ext cx="8412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Step 1 — Set your Tavily API key (one-time)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7"/>
          <p:cNvSpPr/>
          <p:nvPr/>
        </p:nvSpPr>
        <p:spPr>
          <a:xfrm>
            <a:off x="365760" y="1371600"/>
            <a:ext cx="8412120" cy="50256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457200" y="1417320"/>
            <a:ext cx="822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a896"/>
                </a:solidFill>
                <a:latin typeface="Calibri"/>
              </a:rPr>
              <a:t>export TAVILY_API_KEY=your_key_here   # add to ~/.bashrc for persistence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9"/>
          <p:cNvSpPr/>
          <p:nvPr/>
        </p:nvSpPr>
        <p:spPr>
          <a:xfrm>
            <a:off x="365760" y="2011680"/>
            <a:ext cx="8412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Step 2 — Launch Claude Code with the plugin (every session)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ctangle 10"/>
          <p:cNvSpPr/>
          <p:nvPr/>
        </p:nvSpPr>
        <p:spPr>
          <a:xfrm>
            <a:off x="365760" y="2377440"/>
            <a:ext cx="8412120" cy="5940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457200" y="2423160"/>
            <a:ext cx="82292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a896"/>
                </a:solidFill>
                <a:latin typeface="Calibri"/>
              </a:rPr>
              <a:t>claude --plugin-dir /path/to/level2/plugin-level2/finops-advanced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a896"/>
                </a:solidFill>
                <a:latin typeface="Calibri"/>
              </a:rPr>
              <a:t># Windows: claude --plugin-dir C:\path\to\finops-advanced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2"/>
          <p:cNvSpPr/>
          <p:nvPr/>
        </p:nvSpPr>
        <p:spPr>
          <a:xfrm>
            <a:off x="365760" y="3127320"/>
            <a:ext cx="8412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Step 3 — Verify MCP servers loaded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 13"/>
          <p:cNvSpPr/>
          <p:nvPr/>
        </p:nvSpPr>
        <p:spPr>
          <a:xfrm>
            <a:off x="365760" y="3474720"/>
            <a:ext cx="8412120" cy="3654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457200" y="3520440"/>
            <a:ext cx="822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a896"/>
                </a:solidFill>
                <a:latin typeface="Calibri"/>
              </a:rPr>
              <a:t>/mcp                    # should list: tavily, memory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15"/>
          <p:cNvSpPr/>
          <p:nvPr/>
        </p:nvSpPr>
        <p:spPr>
          <a:xfrm>
            <a:off x="365760" y="3977640"/>
            <a:ext cx="8412120" cy="548280"/>
          </a:xfrm>
          <a:prstGeom prst="rect">
            <a:avLst/>
          </a:prstGeom>
          <a:solidFill>
            <a:srgbClr val="fef9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16"/>
          <p:cNvSpPr/>
          <p:nvPr/>
        </p:nvSpPr>
        <p:spPr>
          <a:xfrm>
            <a:off x="502920" y="4005000"/>
            <a:ext cx="822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c5e10"/>
                </a:solidFill>
                <a:latin typeface="Calibri"/>
              </a:rPr>
              <a:t>💡  </a:t>
            </a:r>
            <a:r>
              <a:rPr b="0" lang="en-US" sz="1000" spc="-1" strike="noStrike">
                <a:solidFill>
                  <a:srgbClr val="7c5e10"/>
                </a:solidFill>
                <a:latin typeface="Calibri"/>
              </a:rPr>
              <a:t>--plugin-dir loads commands/agents but does NOT read .mcp.json. MCP servers must be registered globally with: claude mcp add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LEVEL 2 — COMMANDS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365760" y="59436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</a:rPr>
              <a:t>New Commands at a Glance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5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6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6"/>
          <p:cNvSpPr/>
          <p:nvPr/>
        </p:nvSpPr>
        <p:spPr>
          <a:xfrm>
            <a:off x="365760" y="1188720"/>
            <a:ext cx="8412120" cy="548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Rectangle 7"/>
          <p:cNvSpPr/>
          <p:nvPr/>
        </p:nvSpPr>
        <p:spPr>
          <a:xfrm>
            <a:off x="365760" y="1188720"/>
            <a:ext cx="2194200" cy="54828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457200" y="128016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a896"/>
                </a:solidFill>
                <a:latin typeface="Calibri"/>
              </a:rPr>
              <a:t>/setup-test-client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2651760" y="1280160"/>
            <a:ext cx="6034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Creates ~/Documents/clients/smith-jane/ with a sample portfolio.txt for testing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10"/>
          <p:cNvSpPr/>
          <p:nvPr/>
        </p:nvSpPr>
        <p:spPr>
          <a:xfrm>
            <a:off x="365760" y="1810440"/>
            <a:ext cx="8412120" cy="548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Rectangle 11"/>
          <p:cNvSpPr/>
          <p:nvPr/>
        </p:nvSpPr>
        <p:spPr>
          <a:xfrm>
            <a:off x="365760" y="1810440"/>
            <a:ext cx="2194200" cy="54828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457200" y="190188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a896"/>
                </a:solidFill>
                <a:latin typeface="Calibri"/>
              </a:rPr>
              <a:t>/portfolio-review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13"/>
          <p:cNvSpPr/>
          <p:nvPr/>
        </p:nvSpPr>
        <p:spPr>
          <a:xfrm>
            <a:off x="2651760" y="1901880"/>
            <a:ext cx="6034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Reads a client portfolio file, checks drift vs target allocation, flags concentration risks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 14"/>
          <p:cNvSpPr/>
          <p:nvPr/>
        </p:nvSpPr>
        <p:spPr>
          <a:xfrm>
            <a:off x="365760" y="2432160"/>
            <a:ext cx="8412120" cy="548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15"/>
          <p:cNvSpPr/>
          <p:nvPr/>
        </p:nvSpPr>
        <p:spPr>
          <a:xfrm>
            <a:off x="365760" y="2432160"/>
            <a:ext cx="2194200" cy="54828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16"/>
          <p:cNvSpPr/>
          <p:nvPr/>
        </p:nvSpPr>
        <p:spPr>
          <a:xfrm>
            <a:off x="457200" y="25236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a896"/>
                </a:solidFill>
                <a:latin typeface="Calibri"/>
              </a:rPr>
              <a:t>/market-briefing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2651760" y="2523600"/>
            <a:ext cx="6034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Live ASX 200, RBA rate, CPI, sector briefing via tavily — every figure cited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 18"/>
          <p:cNvSpPr/>
          <p:nvPr/>
        </p:nvSpPr>
        <p:spPr>
          <a:xfrm>
            <a:off x="365760" y="3054240"/>
            <a:ext cx="8412120" cy="548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ectangle 19"/>
          <p:cNvSpPr/>
          <p:nvPr/>
        </p:nvSpPr>
        <p:spPr>
          <a:xfrm>
            <a:off x="365760" y="3054240"/>
            <a:ext cx="2194200" cy="54828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20"/>
          <p:cNvSpPr/>
          <p:nvPr/>
        </p:nvSpPr>
        <p:spPr>
          <a:xfrm>
            <a:off x="457200" y="314568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a896"/>
                </a:solidFill>
                <a:latin typeface="Calibri"/>
              </a:rPr>
              <a:t>/retirement-projection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21"/>
          <p:cNvSpPr/>
          <p:nvPr/>
        </p:nvSpPr>
        <p:spPr>
          <a:xfrm>
            <a:off x="2651760" y="3145680"/>
            <a:ext cx="6034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3-scenario projection (conservative / balanced / growth / aggressive) in real terms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ctangle 22"/>
          <p:cNvSpPr/>
          <p:nvPr/>
        </p:nvSpPr>
        <p:spPr>
          <a:xfrm>
            <a:off x="365760" y="3675960"/>
            <a:ext cx="8412120" cy="548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Rectangle 23"/>
          <p:cNvSpPr/>
          <p:nvPr/>
        </p:nvSpPr>
        <p:spPr>
          <a:xfrm>
            <a:off x="365760" y="3675960"/>
            <a:ext cx="2194200" cy="54828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24"/>
          <p:cNvSpPr/>
          <p:nvPr/>
        </p:nvSpPr>
        <p:spPr>
          <a:xfrm>
            <a:off x="457200" y="37674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a896"/>
                </a:solidFill>
                <a:latin typeface="Calibri"/>
              </a:rPr>
              <a:t>/generate-report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25"/>
          <p:cNvSpPr/>
          <p:nvPr/>
        </p:nvSpPr>
        <p:spPr>
          <a:xfrm>
            <a:off x="2651760" y="3767400"/>
            <a:ext cx="6034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Fills a .docx Word template with live data via fill_report.py — quick or full mode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26"/>
          <p:cNvSpPr/>
          <p:nvPr/>
        </p:nvSpPr>
        <p:spPr>
          <a:xfrm>
            <a:off x="365760" y="4572000"/>
            <a:ext cx="8412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+ 5 enhanced commands from Level 1: draft-report, prep-meeting, weekly-summary, review-draft, summarise-meeting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LEVEL 2 — AGENTS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4"/>
          <p:cNvSpPr/>
          <p:nvPr/>
        </p:nvSpPr>
        <p:spPr>
          <a:xfrm>
            <a:off x="365760" y="59436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</a:rPr>
              <a:t>New Specialist Agents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7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 6"/>
          <p:cNvSpPr/>
          <p:nvPr/>
        </p:nvSpPr>
        <p:spPr>
          <a:xfrm>
            <a:off x="320040" y="1234440"/>
            <a:ext cx="2742840" cy="356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7"/>
          <p:cNvSpPr/>
          <p:nvPr/>
        </p:nvSpPr>
        <p:spPr>
          <a:xfrm>
            <a:off x="320040" y="1234440"/>
            <a:ext cx="2742840" cy="548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8"/>
          <p:cNvSpPr/>
          <p:nvPr/>
        </p:nvSpPr>
        <p:spPr>
          <a:xfrm>
            <a:off x="411480" y="126180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🔍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portfolio-analyst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9"/>
          <p:cNvSpPr/>
          <p:nvPr/>
        </p:nvSpPr>
        <p:spPr>
          <a:xfrm>
            <a:off x="457200" y="192024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Reads portfolio statement from disk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10"/>
          <p:cNvSpPr/>
          <p:nvPr/>
        </p:nvSpPr>
        <p:spPr>
          <a:xfrm>
            <a:off x="457200" y="2395800"/>
            <a:ext cx="2468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Classifies 8 asset classes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1"/>
          <p:cNvSpPr/>
          <p:nvPr/>
        </p:nvSpPr>
        <p:spPr>
          <a:xfrm>
            <a:off x="457200" y="287136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Calculates drift, flags concentration (&gt;10% single, &gt;30% sector)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2"/>
          <p:cNvSpPr/>
          <p:nvPr/>
        </p:nvSpPr>
        <p:spPr>
          <a:xfrm>
            <a:off x="457200" y="3346560"/>
            <a:ext cx="2468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Flags fee drag above 1.5% p.a.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 13"/>
          <p:cNvSpPr/>
          <p:nvPr/>
        </p:nvSpPr>
        <p:spPr>
          <a:xfrm>
            <a:off x="3246120" y="1234440"/>
            <a:ext cx="2742840" cy="356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Rectangle 14"/>
          <p:cNvSpPr/>
          <p:nvPr/>
        </p:nvSpPr>
        <p:spPr>
          <a:xfrm>
            <a:off x="3246120" y="1234440"/>
            <a:ext cx="2742840" cy="5482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3337560" y="126180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📈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market-researcher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6"/>
          <p:cNvSpPr/>
          <p:nvPr/>
        </p:nvSpPr>
        <p:spPr>
          <a:xfrm>
            <a:off x="3383280" y="192024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Retrieves live ASX 200, RBA, CPI, AUD/USD via tavily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7"/>
          <p:cNvSpPr/>
          <p:nvPr/>
        </p:nvSpPr>
        <p:spPr>
          <a:xfrm>
            <a:off x="3383280" y="239580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Cites source URL and date beside every figure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8"/>
          <p:cNvSpPr/>
          <p:nvPr/>
        </p:nvSpPr>
        <p:spPr>
          <a:xfrm>
            <a:off x="3383280" y="287136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Notes data gaps explicitly — never estimates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9"/>
          <p:cNvSpPr/>
          <p:nvPr/>
        </p:nvSpPr>
        <p:spPr>
          <a:xfrm>
            <a:off x="3383280" y="3346560"/>
            <a:ext cx="2468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Returns structured briefing pack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 20"/>
          <p:cNvSpPr/>
          <p:nvPr/>
        </p:nvSpPr>
        <p:spPr>
          <a:xfrm>
            <a:off x="6172200" y="1234440"/>
            <a:ext cx="2742840" cy="356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Rectangle 21"/>
          <p:cNvSpPr/>
          <p:nvPr/>
        </p:nvSpPr>
        <p:spPr>
          <a:xfrm>
            <a:off x="6172200" y="1234440"/>
            <a:ext cx="2742840" cy="548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22"/>
          <p:cNvSpPr/>
          <p:nvPr/>
        </p:nvSpPr>
        <p:spPr>
          <a:xfrm>
            <a:off x="6263640" y="1261800"/>
            <a:ext cx="2559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📄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report-generator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23"/>
          <p:cNvSpPr/>
          <p:nvPr/>
        </p:nvSpPr>
        <p:spPr>
          <a:xfrm>
            <a:off x="6309360" y="192024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Collects data from memory, files, and tavily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24"/>
          <p:cNvSpPr/>
          <p:nvPr/>
        </p:nvSpPr>
        <p:spPr>
          <a:xfrm>
            <a:off x="6309360" y="2395800"/>
            <a:ext cx="24685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Builds the JSON data payload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25"/>
          <p:cNvSpPr/>
          <p:nvPr/>
        </p:nvSpPr>
        <p:spPr>
          <a:xfrm>
            <a:off x="6309360" y="287136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Runs fill_report.py to produce .docx output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26"/>
          <p:cNvSpPr/>
          <p:nvPr/>
        </p:nvSpPr>
        <p:spPr>
          <a:xfrm>
            <a:off x="6309360" y="3346560"/>
            <a:ext cx="24685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→ 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Reports unfilled placeholders to user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27"/>
          <p:cNvSpPr/>
          <p:nvPr/>
        </p:nvSpPr>
        <p:spPr>
          <a:xfrm>
            <a:off x="365760" y="4709160"/>
            <a:ext cx="8412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+ 2 enhanced agents from Level 1: compliance-reviewer (live ASIC lookup), meeting-summariser (stores to memory)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GENERATE REPORT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4"/>
          <p:cNvSpPr/>
          <p:nvPr/>
        </p:nvSpPr>
        <p:spPr>
          <a:xfrm>
            <a:off x="365760" y="59436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</a:rPr>
              <a:t>Automated Word Report Generation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8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ectangle 6"/>
          <p:cNvSpPr/>
          <p:nvPr/>
        </p:nvSpPr>
        <p:spPr>
          <a:xfrm>
            <a:off x="320040" y="1234440"/>
            <a:ext cx="283428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7"/>
          <p:cNvSpPr/>
          <p:nvPr/>
        </p:nvSpPr>
        <p:spPr>
          <a:xfrm>
            <a:off x="411480" y="1261800"/>
            <a:ext cx="411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59e0b"/>
                </a:solidFill>
                <a:latin typeface="Calibri"/>
              </a:rPr>
              <a:t>1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8"/>
          <p:cNvSpPr/>
          <p:nvPr/>
        </p:nvSpPr>
        <p:spPr>
          <a:xfrm>
            <a:off x="822960" y="132588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Template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9"/>
          <p:cNvSpPr/>
          <p:nvPr/>
        </p:nvSpPr>
        <p:spPr>
          <a:xfrm>
            <a:off x="411480" y="1828800"/>
            <a:ext cx="269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.docx with {{FIELD_NAME}} placeholders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Rectangle 10"/>
          <p:cNvSpPr/>
          <p:nvPr/>
        </p:nvSpPr>
        <p:spPr>
          <a:xfrm>
            <a:off x="3291840" y="1234440"/>
            <a:ext cx="283428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11"/>
          <p:cNvSpPr/>
          <p:nvPr/>
        </p:nvSpPr>
        <p:spPr>
          <a:xfrm>
            <a:off x="3383280" y="1261800"/>
            <a:ext cx="411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59e0b"/>
                </a:solidFill>
                <a:latin typeface="Calibri"/>
              </a:rPr>
              <a:t>2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12"/>
          <p:cNvSpPr/>
          <p:nvPr/>
        </p:nvSpPr>
        <p:spPr>
          <a:xfrm>
            <a:off x="3794760" y="132588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Data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13"/>
          <p:cNvSpPr/>
          <p:nvPr/>
        </p:nvSpPr>
        <p:spPr>
          <a:xfrm>
            <a:off x="3383280" y="1828800"/>
            <a:ext cx="26971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memory MCP  +  portfolio file  +  tavily live data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Rectangle 14"/>
          <p:cNvSpPr/>
          <p:nvPr/>
        </p:nvSpPr>
        <p:spPr>
          <a:xfrm>
            <a:off x="6263640" y="1234440"/>
            <a:ext cx="2834280" cy="5025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TextBox 15"/>
          <p:cNvSpPr/>
          <p:nvPr/>
        </p:nvSpPr>
        <p:spPr>
          <a:xfrm>
            <a:off x="6355080" y="1261800"/>
            <a:ext cx="411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59e0b"/>
                </a:solidFill>
                <a:latin typeface="Calibri"/>
              </a:rPr>
              <a:t>3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16"/>
          <p:cNvSpPr/>
          <p:nvPr/>
        </p:nvSpPr>
        <p:spPr>
          <a:xfrm>
            <a:off x="6766560" y="132588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Output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17"/>
          <p:cNvSpPr/>
          <p:nvPr/>
        </p:nvSpPr>
        <p:spPr>
          <a:xfrm>
            <a:off x="6355080" y="1828800"/>
            <a:ext cx="26971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fill_report.py → filled .docx named [CLIENT_REF]_[PERIOD]_[TYPE].docx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18"/>
          <p:cNvSpPr/>
          <p:nvPr/>
        </p:nvSpPr>
        <p:spPr>
          <a:xfrm>
            <a:off x="365760" y="2423160"/>
            <a:ext cx="8412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761"/>
                </a:solidFill>
                <a:latin typeface="Calibri"/>
              </a:rPr>
              <a:t>Quick mode — use a pre-built data file: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ectangle 19"/>
          <p:cNvSpPr/>
          <p:nvPr/>
        </p:nvSpPr>
        <p:spPr>
          <a:xfrm>
            <a:off x="365760" y="2743200"/>
            <a:ext cx="8412120" cy="38376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20"/>
          <p:cNvSpPr/>
          <p:nvPr/>
        </p:nvSpPr>
        <p:spPr>
          <a:xfrm>
            <a:off x="457200" y="2788920"/>
            <a:ext cx="822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a896"/>
                </a:solidFill>
                <a:latin typeface="Calibri"/>
              </a:rPr>
              <a:t>/finops-advanced:generate-report ~/Documents/clients/templates/quarterly-review.docx --data scripts/sample_data.json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21"/>
          <p:cNvSpPr/>
          <p:nvPr/>
        </p:nvSpPr>
        <p:spPr>
          <a:xfrm>
            <a:off x="365760" y="3218760"/>
            <a:ext cx="8412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761"/>
                </a:solidFill>
                <a:latin typeface="Calibri"/>
              </a:rPr>
              <a:t>Full mode — agent gathers all data automatically: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ectangle 22"/>
          <p:cNvSpPr/>
          <p:nvPr/>
        </p:nvSpPr>
        <p:spPr>
          <a:xfrm>
            <a:off x="365760" y="3538800"/>
            <a:ext cx="8412120" cy="38376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TextBox 23"/>
          <p:cNvSpPr/>
          <p:nvPr/>
        </p:nvSpPr>
        <p:spPr>
          <a:xfrm>
            <a:off x="457200" y="3584520"/>
            <a:ext cx="822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a896"/>
                </a:solidFill>
                <a:latin typeface="Calibri"/>
              </a:rPr>
              <a:t>/finops-advanced:generate-report ~/Documents/clients/templates/quarterly-review.docx Jane Smith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ectangle 24"/>
          <p:cNvSpPr/>
          <p:nvPr/>
        </p:nvSpPr>
        <p:spPr>
          <a:xfrm>
            <a:off x="365760" y="4041720"/>
            <a:ext cx="8412120" cy="502560"/>
          </a:xfrm>
          <a:prstGeom prst="rect">
            <a:avLst/>
          </a:prstGeom>
          <a:solidFill>
            <a:srgbClr val="fef9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25"/>
          <p:cNvSpPr/>
          <p:nvPr/>
        </p:nvSpPr>
        <p:spPr>
          <a:xfrm>
            <a:off x="502920" y="4069080"/>
            <a:ext cx="822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c5e10"/>
                </a:solidFill>
                <a:latin typeface="Calibri"/>
              </a:rPr>
              <a:t>💡  </a:t>
            </a:r>
            <a:r>
              <a:rPr b="0" lang="en-US" sz="1000" spc="-1" strike="noStrike">
                <a:solidFill>
                  <a:srgbClr val="7c5e10"/>
                </a:solidFill>
                <a:latin typeface="Calibri"/>
              </a:rPr>
              <a:t>Any {{PLACEHOLDERS}} that could not be filled are listed on completion so you can supply missing data.</a:t>
            </a:r>
            <a:endParaRPr b="0" lang="en-A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EXERCISES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4"/>
          <p:cNvSpPr/>
          <p:nvPr/>
        </p:nvSpPr>
        <p:spPr>
          <a:xfrm>
            <a:off x="365760" y="59436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</a:rPr>
              <a:t>Hands-On Exercises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5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9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 6"/>
          <p:cNvSpPr/>
          <p:nvPr/>
        </p:nvSpPr>
        <p:spPr>
          <a:xfrm>
            <a:off x="365760" y="1188720"/>
            <a:ext cx="84121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Rectangle 7"/>
          <p:cNvSpPr/>
          <p:nvPr/>
        </p:nvSpPr>
        <p:spPr>
          <a:xfrm>
            <a:off x="365760" y="1188720"/>
            <a:ext cx="639720" cy="566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8"/>
          <p:cNvSpPr/>
          <p:nvPr/>
        </p:nvSpPr>
        <p:spPr>
          <a:xfrm>
            <a:off x="374760" y="1280160"/>
            <a:ext cx="621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Ex 1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9"/>
          <p:cNvSpPr/>
          <p:nvPr/>
        </p:nvSpPr>
        <p:spPr>
          <a:xfrm>
            <a:off x="1051560" y="1234440"/>
            <a:ext cx="1737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761"/>
                </a:solidFill>
                <a:latin typeface="Calibri"/>
              </a:rPr>
              <a:t>Portfolio Review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10"/>
          <p:cNvSpPr/>
          <p:nvPr/>
        </p:nvSpPr>
        <p:spPr>
          <a:xfrm>
            <a:off x="1051560" y="1463040"/>
            <a:ext cx="7497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800" spc="-1" strike="noStrike">
                <a:solidFill>
                  <a:srgbClr val="00a896"/>
                </a:solidFill>
                <a:latin typeface="Calibri"/>
              </a:rPr>
              <a:t>/finops-advanced:setup-test-client  then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00a896"/>
                </a:solidFill>
                <a:latin typeface="Calibri"/>
              </a:rPr>
              <a:t>/finops-advanced:portfolio-review ~/Documents/clients/smith-jane/portfolio.txt balanced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 11"/>
          <p:cNvSpPr/>
          <p:nvPr/>
        </p:nvSpPr>
        <p:spPr>
          <a:xfrm>
            <a:off x="365760" y="1847160"/>
            <a:ext cx="84121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ectangle 12"/>
          <p:cNvSpPr/>
          <p:nvPr/>
        </p:nvSpPr>
        <p:spPr>
          <a:xfrm>
            <a:off x="365760" y="1847160"/>
            <a:ext cx="639720" cy="566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13"/>
          <p:cNvSpPr/>
          <p:nvPr/>
        </p:nvSpPr>
        <p:spPr>
          <a:xfrm>
            <a:off x="374760" y="1938600"/>
            <a:ext cx="621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Ex 2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14"/>
          <p:cNvSpPr/>
          <p:nvPr/>
        </p:nvSpPr>
        <p:spPr>
          <a:xfrm>
            <a:off x="1051560" y="1892880"/>
            <a:ext cx="1737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761"/>
                </a:solidFill>
                <a:latin typeface="Calibri"/>
              </a:rPr>
              <a:t>Live Market Briefing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15"/>
          <p:cNvSpPr/>
          <p:nvPr/>
        </p:nvSpPr>
        <p:spPr>
          <a:xfrm>
            <a:off x="1051560" y="2121480"/>
            <a:ext cx="74977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00a896"/>
                </a:solidFill>
                <a:latin typeface="Calibri"/>
              </a:rPr>
              <a:t>/finops-advanced:market-briefing REITs and infrastructure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ectangle 16"/>
          <p:cNvSpPr/>
          <p:nvPr/>
        </p:nvSpPr>
        <p:spPr>
          <a:xfrm>
            <a:off x="365760" y="2505600"/>
            <a:ext cx="84121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Rectangle 17"/>
          <p:cNvSpPr/>
          <p:nvPr/>
        </p:nvSpPr>
        <p:spPr>
          <a:xfrm>
            <a:off x="365760" y="2505600"/>
            <a:ext cx="639720" cy="566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18"/>
          <p:cNvSpPr/>
          <p:nvPr/>
        </p:nvSpPr>
        <p:spPr>
          <a:xfrm>
            <a:off x="374760" y="2597040"/>
            <a:ext cx="621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Ex 3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19"/>
          <p:cNvSpPr/>
          <p:nvPr/>
        </p:nvSpPr>
        <p:spPr>
          <a:xfrm>
            <a:off x="1051560" y="2551320"/>
            <a:ext cx="1737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761"/>
                </a:solidFill>
                <a:latin typeface="Calibri"/>
              </a:rPr>
              <a:t>Retirement Projection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20"/>
          <p:cNvSpPr/>
          <p:nvPr/>
        </p:nvSpPr>
        <p:spPr>
          <a:xfrm>
            <a:off x="1051560" y="2779920"/>
            <a:ext cx="74977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00a896"/>
                </a:solidFill>
                <a:latin typeface="Calibri"/>
              </a:rPr>
              <a:t>/finops-advanced:retirement-projection 48 65 320000 18000 growth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ectangle 21"/>
          <p:cNvSpPr/>
          <p:nvPr/>
        </p:nvSpPr>
        <p:spPr>
          <a:xfrm>
            <a:off x="365760" y="3163680"/>
            <a:ext cx="84121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Rectangle 22"/>
          <p:cNvSpPr/>
          <p:nvPr/>
        </p:nvSpPr>
        <p:spPr>
          <a:xfrm>
            <a:off x="365760" y="3163680"/>
            <a:ext cx="639720" cy="566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23"/>
          <p:cNvSpPr/>
          <p:nvPr/>
        </p:nvSpPr>
        <p:spPr>
          <a:xfrm>
            <a:off x="374760" y="3255120"/>
            <a:ext cx="621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Ex 4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24"/>
          <p:cNvSpPr/>
          <p:nvPr/>
        </p:nvSpPr>
        <p:spPr>
          <a:xfrm>
            <a:off x="1051560" y="3209400"/>
            <a:ext cx="1737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761"/>
                </a:solidFill>
                <a:latin typeface="Calibri"/>
              </a:rPr>
              <a:t>Memory Continuity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25"/>
          <p:cNvSpPr/>
          <p:nvPr/>
        </p:nvSpPr>
        <p:spPr>
          <a:xfrm>
            <a:off x="1051560" y="3438000"/>
            <a:ext cx="74977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00a896"/>
                </a:solidFill>
                <a:latin typeface="Calibri"/>
              </a:rPr>
              <a:t>/finops-advanced:summarise-meeting [notes]  →  restart  →  /finops-advanced:prep-meeting Jane Smith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26"/>
          <p:cNvSpPr/>
          <p:nvPr/>
        </p:nvSpPr>
        <p:spPr>
          <a:xfrm>
            <a:off x="365760" y="3822120"/>
            <a:ext cx="8412120" cy="566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Rectangle 27"/>
          <p:cNvSpPr/>
          <p:nvPr/>
        </p:nvSpPr>
        <p:spPr>
          <a:xfrm>
            <a:off x="365760" y="3822120"/>
            <a:ext cx="639720" cy="566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TextBox 28"/>
          <p:cNvSpPr/>
          <p:nvPr/>
        </p:nvSpPr>
        <p:spPr>
          <a:xfrm>
            <a:off x="374760" y="3913560"/>
            <a:ext cx="621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Ex 5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29"/>
          <p:cNvSpPr/>
          <p:nvPr/>
        </p:nvSpPr>
        <p:spPr>
          <a:xfrm>
            <a:off x="1051560" y="3867840"/>
            <a:ext cx="1737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761"/>
                </a:solidFill>
                <a:latin typeface="Calibri"/>
              </a:rPr>
              <a:t>Generate Report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30"/>
          <p:cNvSpPr/>
          <p:nvPr/>
        </p:nvSpPr>
        <p:spPr>
          <a:xfrm>
            <a:off x="1051560" y="4096440"/>
            <a:ext cx="74977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00a896"/>
                </a:solidFill>
                <a:latin typeface="Calibri"/>
              </a:rPr>
              <a:t>/finops-advanced:generate-report ~/Documents/clients/templates/quarterly-review.docx --data scripts/sample_data.json</a:t>
            </a:r>
            <a:endParaRPr b="0" lang="en-A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Rectangle 2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3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WORKSHOP OUTPUT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ectangle 4"/>
          <p:cNvSpPr/>
          <p:nvPr/>
        </p:nvSpPr>
        <p:spPr>
          <a:xfrm>
            <a:off x="0" y="0"/>
            <a:ext cx="9143640" cy="8683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Rectangle 5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Rectangle 6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7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WORKSHOP OUTPUT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8"/>
          <p:cNvSpPr/>
          <p:nvPr/>
        </p:nvSpPr>
        <p:spPr>
          <a:xfrm>
            <a:off x="320040" y="519840"/>
            <a:ext cx="8411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What You Have Built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9"/>
          <p:cNvSpPr/>
          <p:nvPr/>
        </p:nvSpPr>
        <p:spPr>
          <a:xfrm>
            <a:off x="859536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10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ectangle 10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Rectangle 11"/>
          <p:cNvSpPr/>
          <p:nvPr/>
        </p:nvSpPr>
        <p:spPr>
          <a:xfrm>
            <a:off x="365760" y="228600"/>
            <a:ext cx="1644480" cy="291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2"/>
          <p:cNvSpPr/>
          <p:nvPr/>
        </p:nvSpPr>
        <p:spPr>
          <a:xfrm>
            <a:off x="365760" y="228600"/>
            <a:ext cx="1644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WORKSHOP OUTPUT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ectangle 13"/>
          <p:cNvSpPr/>
          <p:nvPr/>
        </p:nvSpPr>
        <p:spPr>
          <a:xfrm>
            <a:off x="320040" y="1005840"/>
            <a:ext cx="8503560" cy="352008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Rectangle 14"/>
          <p:cNvSpPr/>
          <p:nvPr/>
        </p:nvSpPr>
        <p:spPr>
          <a:xfrm>
            <a:off x="320040" y="1005840"/>
            <a:ext cx="8503560" cy="4111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15"/>
          <p:cNvSpPr/>
          <p:nvPr/>
        </p:nvSpPr>
        <p:spPr>
          <a:xfrm>
            <a:off x="457200" y="1033200"/>
            <a:ext cx="8229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finops-advanced  (Level 2 Plugin)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16"/>
          <p:cNvSpPr/>
          <p:nvPr/>
        </p:nvSpPr>
        <p:spPr>
          <a:xfrm>
            <a:off x="548640" y="1536120"/>
            <a:ext cx="319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17"/>
          <p:cNvSpPr/>
          <p:nvPr/>
        </p:nvSpPr>
        <p:spPr>
          <a:xfrm>
            <a:off x="960120" y="1554480"/>
            <a:ext cx="777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</a:rPr>
              <a:t>Native file tools — read portfolio statements and SOA drafts from disk (no MCP)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18"/>
          <p:cNvSpPr/>
          <p:nvPr/>
        </p:nvSpPr>
        <p:spPr>
          <a:xfrm>
            <a:off x="548640" y="1938600"/>
            <a:ext cx="319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19"/>
          <p:cNvSpPr/>
          <p:nvPr/>
        </p:nvSpPr>
        <p:spPr>
          <a:xfrm>
            <a:off x="960120" y="1956960"/>
            <a:ext cx="777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a896"/>
                </a:solidFill>
                <a:latin typeface="Calibri"/>
              </a:rPr>
              <a:t>tavily MCP — live ASX, RBA, CPI, sector data with citations in every command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21"/>
          <p:cNvSpPr/>
          <p:nvPr/>
        </p:nvSpPr>
        <p:spPr>
          <a:xfrm>
            <a:off x="960120" y="2359080"/>
            <a:ext cx="777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a896"/>
                </a:solidFill>
                <a:latin typeface="Calibri"/>
              </a:rPr>
              <a:t>memory MCP — persistent client profiles and action items across sessions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22"/>
          <p:cNvSpPr/>
          <p:nvPr/>
        </p:nvSpPr>
        <p:spPr>
          <a:xfrm>
            <a:off x="548640" y="2743200"/>
            <a:ext cx="319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⌨️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23"/>
          <p:cNvSpPr/>
          <p:nvPr/>
        </p:nvSpPr>
        <p:spPr>
          <a:xfrm>
            <a:off x="960120" y="2761560"/>
            <a:ext cx="777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/portfolio-review  /market-briefing  /retirement-projection commands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24"/>
          <p:cNvSpPr/>
          <p:nvPr/>
        </p:nvSpPr>
        <p:spPr>
          <a:xfrm>
            <a:off x="548640" y="3145680"/>
            <a:ext cx="319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25"/>
          <p:cNvSpPr/>
          <p:nvPr/>
        </p:nvSpPr>
        <p:spPr>
          <a:xfrm>
            <a:off x="960120" y="3163680"/>
            <a:ext cx="777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/generate-report — fills Word templates via fill_report.py Python script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27"/>
          <p:cNvSpPr/>
          <p:nvPr/>
        </p:nvSpPr>
        <p:spPr>
          <a:xfrm>
            <a:off x="960120" y="3566160"/>
            <a:ext cx="777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portfolio-analyst  market-researcher  report-generator agents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28"/>
          <p:cNvSpPr/>
          <p:nvPr/>
        </p:nvSpPr>
        <p:spPr>
          <a:xfrm>
            <a:off x="548640" y="3950280"/>
            <a:ext cx="319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</a:rPr>
              <a:t>✏️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29"/>
          <p:cNvSpPr/>
          <p:nvPr/>
        </p:nvSpPr>
        <p:spPr>
          <a:xfrm>
            <a:off x="960120" y="3968640"/>
            <a:ext cx="777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</a:rPr>
              <a:t>Your own custom extension built on top of the finops-advanced base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"/>
          <p:cNvSpPr/>
          <p:nvPr/>
        </p:nvSpPr>
        <p:spPr>
          <a:xfrm>
            <a:off x="0" y="0"/>
            <a:ext cx="163440" cy="51422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Rectangle 2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TextBox 3"/>
          <p:cNvSpPr/>
          <p:nvPr/>
        </p:nvSpPr>
        <p:spPr>
          <a:xfrm>
            <a:off x="365760" y="137160"/>
            <a:ext cx="84121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You're Done with Level 2!</a:t>
            </a: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Rectangle 4"/>
          <p:cNvSpPr/>
          <p:nvPr/>
        </p:nvSpPr>
        <p:spPr>
          <a:xfrm>
            <a:off x="320040" y="1051560"/>
            <a:ext cx="2011320" cy="36572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TextBox 5"/>
          <p:cNvSpPr/>
          <p:nvPr/>
        </p:nvSpPr>
        <p:spPr>
          <a:xfrm>
            <a:off x="411480" y="1097280"/>
            <a:ext cx="456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59e0b"/>
                </a:solidFill>
                <a:latin typeface="Calibri"/>
              </a:rPr>
              <a:t>→</a:t>
            </a:r>
            <a:endParaRPr b="0" lang="en-A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6"/>
          <p:cNvSpPr/>
          <p:nvPr/>
        </p:nvSpPr>
        <p:spPr>
          <a:xfrm>
            <a:off x="411480" y="1645920"/>
            <a:ext cx="1828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Continue to Level 3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7"/>
          <p:cNvSpPr/>
          <p:nvPr/>
        </p:nvSpPr>
        <p:spPr>
          <a:xfrm>
            <a:off x="411480" y="2148840"/>
            <a:ext cx="18284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Add bash automation, parallel sub-agent orchestration, and CRM integrations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ectangle 8"/>
          <p:cNvSpPr/>
          <p:nvPr/>
        </p:nvSpPr>
        <p:spPr>
          <a:xfrm>
            <a:off x="2423160" y="1051560"/>
            <a:ext cx="2011320" cy="36572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TextBox 9"/>
          <p:cNvSpPr/>
          <p:nvPr/>
        </p:nvSpPr>
        <p:spPr>
          <a:xfrm>
            <a:off x="2514600" y="1097280"/>
            <a:ext cx="456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10"/>
          <p:cNvSpPr/>
          <p:nvPr/>
        </p:nvSpPr>
        <p:spPr>
          <a:xfrm>
            <a:off x="2514600" y="1645920"/>
            <a:ext cx="1828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Share Your Plugin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11"/>
          <p:cNvSpPr/>
          <p:nvPr/>
        </p:nvSpPr>
        <p:spPr>
          <a:xfrm>
            <a:off x="2514600" y="2148840"/>
            <a:ext cx="18284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ZIP and distribute — macOS/Windows via Cowork, Linux via --plugin-dir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Rectangle 12"/>
          <p:cNvSpPr/>
          <p:nvPr/>
        </p:nvSpPr>
        <p:spPr>
          <a:xfrm>
            <a:off x="4572000" y="1051560"/>
            <a:ext cx="2011320" cy="36572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TextBox 13"/>
          <p:cNvSpPr/>
          <p:nvPr/>
        </p:nvSpPr>
        <p:spPr>
          <a:xfrm>
            <a:off x="4663440" y="1097280"/>
            <a:ext cx="456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14"/>
          <p:cNvSpPr/>
          <p:nvPr/>
        </p:nvSpPr>
        <p:spPr>
          <a:xfrm>
            <a:off x="4663440" y="1645920"/>
            <a:ext cx="1828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Key Insight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15"/>
          <p:cNvSpPr/>
          <p:nvPr/>
        </p:nvSpPr>
        <p:spPr>
          <a:xfrm>
            <a:off x="4663440" y="2148840"/>
            <a:ext cx="18284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Only add MCP when Claude lacks the capability. File access and bash are built in.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Rectangle 16"/>
          <p:cNvSpPr/>
          <p:nvPr/>
        </p:nvSpPr>
        <p:spPr>
          <a:xfrm>
            <a:off x="6720840" y="1051560"/>
            <a:ext cx="2011320" cy="36572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17"/>
          <p:cNvSpPr/>
          <p:nvPr/>
        </p:nvSpPr>
        <p:spPr>
          <a:xfrm>
            <a:off x="6812280" y="1097280"/>
            <a:ext cx="456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18"/>
          <p:cNvSpPr/>
          <p:nvPr/>
        </p:nvSpPr>
        <p:spPr>
          <a:xfrm>
            <a:off x="6812280" y="1645920"/>
            <a:ext cx="1828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Reach Out to E2A</a:t>
            </a:r>
            <a:endParaRPr b="0" lang="en-A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19"/>
          <p:cNvSpPr/>
          <p:nvPr/>
        </p:nvSpPr>
        <p:spPr>
          <a:xfrm>
            <a:off x="6812280" y="2148840"/>
            <a:ext cx="182844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</a:rPr>
              <a:t>daghan@agentic-automations.ai — we build complex plugins that integrate with your CRM and systems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20"/>
          <p:cNvSpPr/>
          <p:nvPr/>
        </p:nvSpPr>
        <p:spPr>
          <a:xfrm>
            <a:off x="8229600" y="466344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cadcfc"/>
                </a:solidFill>
                <a:latin typeface="Calibri"/>
              </a:rPr>
              <a:t>11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en-AU</dc:language>
  <cp:lastModifiedBy/>
  <dcterms:modified xsi:type="dcterms:W3CDTF">2026-03-05T21:14:51Z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